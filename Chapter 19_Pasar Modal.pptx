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309" r:id="rId16"/>
    <p:sldId id="313" r:id="rId17"/>
    <p:sldId id="314" r:id="rId18"/>
    <p:sldId id="268" r:id="rId19"/>
    <p:sldId id="269" r:id="rId20"/>
    <p:sldId id="270" r:id="rId21"/>
    <p:sldId id="304" r:id="rId22"/>
    <p:sldId id="305" r:id="rId23"/>
    <p:sldId id="306" r:id="rId24"/>
    <p:sldId id="273" r:id="rId25"/>
    <p:sldId id="274" r:id="rId26"/>
    <p:sldId id="275" r:id="rId27"/>
    <p:sldId id="276" r:id="rId28"/>
    <p:sldId id="297" r:id="rId29"/>
    <p:sldId id="277" r:id="rId30"/>
    <p:sldId id="278" r:id="rId31"/>
    <p:sldId id="279" r:id="rId32"/>
    <p:sldId id="280" r:id="rId33"/>
    <p:sldId id="281" r:id="rId34"/>
    <p:sldId id="283" r:id="rId35"/>
    <p:sldId id="284" r:id="rId36"/>
    <p:sldId id="285" r:id="rId37"/>
    <p:sldId id="286" r:id="rId38"/>
    <p:sldId id="287" r:id="rId39"/>
    <p:sldId id="288" r:id="rId40"/>
    <p:sldId id="298" r:id="rId41"/>
    <p:sldId id="299" r:id="rId42"/>
    <p:sldId id="300" r:id="rId43"/>
    <p:sldId id="301" r:id="rId44"/>
    <p:sldId id="302" r:id="rId45"/>
    <p:sldId id="303" r:id="rId46"/>
    <p:sldId id="289" r:id="rId47"/>
    <p:sldId id="290" r:id="rId48"/>
    <p:sldId id="282" r:id="rId49"/>
    <p:sldId id="316" r:id="rId50"/>
    <p:sldId id="292" r:id="rId51"/>
    <p:sldId id="315" r:id="rId52"/>
    <p:sldId id="307" r:id="rId53"/>
    <p:sldId id="308" r:id="rId54"/>
    <p:sldId id="310" r:id="rId55"/>
    <p:sldId id="311" r:id="rId56"/>
    <p:sldId id="317" r:id="rId57"/>
    <p:sldId id="318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39754A-9B51-4ADB-B0B0-EE59743331D4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2DE877D-A3D0-444F-9786-9AF91418704E}">
      <dgm:prSet/>
      <dgm:spPr/>
      <dgm:t>
        <a:bodyPr/>
        <a:lstStyle/>
        <a:p>
          <a:r>
            <a:rPr lang="en-US" b="1"/>
            <a:t>Pasar modal</a:t>
          </a:r>
          <a:r>
            <a:rPr lang="en-US"/>
            <a:t>: tempat diperdagangkannya sekuritas jangka panjang (&gt; 1 tahun), seperti saham, obligasi, dan instrumen derivatif.</a:t>
          </a:r>
        </a:p>
      </dgm:t>
    </dgm:pt>
    <dgm:pt modelId="{83F7096F-B269-4431-8A2A-3B93B5B475C9}" type="parTrans" cxnId="{AB7AEBA7-4542-4B88-9E23-9B08E4EDB393}">
      <dgm:prSet/>
      <dgm:spPr/>
      <dgm:t>
        <a:bodyPr/>
        <a:lstStyle/>
        <a:p>
          <a:endParaRPr lang="en-US"/>
        </a:p>
      </dgm:t>
    </dgm:pt>
    <dgm:pt modelId="{36C6FADF-32BC-422F-A302-3DAD3207634C}" type="sibTrans" cxnId="{AB7AEBA7-4542-4B88-9E23-9B08E4EDB393}">
      <dgm:prSet/>
      <dgm:spPr/>
      <dgm:t>
        <a:bodyPr/>
        <a:lstStyle/>
        <a:p>
          <a:endParaRPr lang="en-US"/>
        </a:p>
      </dgm:t>
    </dgm:pt>
    <dgm:pt modelId="{1E299A23-5A9C-43D5-A9DB-801D11474610}">
      <dgm:prSet/>
      <dgm:spPr/>
      <dgm:t>
        <a:bodyPr/>
        <a:lstStyle/>
        <a:p>
          <a:r>
            <a:rPr lang="en-US"/>
            <a:t>Berfungsi menyediakan </a:t>
          </a:r>
          <a:r>
            <a:rPr lang="en-US" b="1"/>
            <a:t>pendanaan jangka panjang</a:t>
          </a:r>
          <a:r>
            <a:rPr lang="en-US"/>
            <a:t> bagi perusahaan untuk investasi dan ekspansi.</a:t>
          </a:r>
        </a:p>
      </dgm:t>
    </dgm:pt>
    <dgm:pt modelId="{B2FDB1EB-FF0F-45C7-B668-EED2C9A7B36E}" type="parTrans" cxnId="{8A7951BF-DBDF-414A-9A74-728D946F782B}">
      <dgm:prSet/>
      <dgm:spPr/>
      <dgm:t>
        <a:bodyPr/>
        <a:lstStyle/>
        <a:p>
          <a:endParaRPr lang="en-US"/>
        </a:p>
      </dgm:t>
    </dgm:pt>
    <dgm:pt modelId="{F2A8DC14-D852-46CB-BB77-CBCC205C81AD}" type="sibTrans" cxnId="{8A7951BF-DBDF-414A-9A74-728D946F782B}">
      <dgm:prSet/>
      <dgm:spPr/>
      <dgm:t>
        <a:bodyPr/>
        <a:lstStyle/>
        <a:p>
          <a:endParaRPr lang="en-US"/>
        </a:p>
      </dgm:t>
    </dgm:pt>
    <dgm:pt modelId="{1FB7E5B7-97F4-45F4-A8B1-CED1189C2865}">
      <dgm:prSet/>
      <dgm:spPr/>
      <dgm:t>
        <a:bodyPr/>
        <a:lstStyle/>
        <a:p>
          <a:r>
            <a:rPr lang="en-US"/>
            <a:t>Memberikan </a:t>
          </a:r>
          <a:r>
            <a:rPr lang="en-US" b="1"/>
            <a:t>kesempatan investasi</a:t>
          </a:r>
          <a:r>
            <a:rPr lang="en-US"/>
            <a:t> bagi investor dengan potensi return lebih tinggi dibandingkan money market.</a:t>
          </a:r>
        </a:p>
      </dgm:t>
    </dgm:pt>
    <dgm:pt modelId="{ABC7B965-FB2D-4088-B1E5-3498825B1B88}" type="parTrans" cxnId="{A3D2B356-EE52-438A-8066-8AC06AEA07CD}">
      <dgm:prSet/>
      <dgm:spPr/>
      <dgm:t>
        <a:bodyPr/>
        <a:lstStyle/>
        <a:p>
          <a:endParaRPr lang="en-US"/>
        </a:p>
      </dgm:t>
    </dgm:pt>
    <dgm:pt modelId="{BD3D1EEF-7C95-4A21-A8FA-460F261AF492}" type="sibTrans" cxnId="{A3D2B356-EE52-438A-8066-8AC06AEA07CD}">
      <dgm:prSet/>
      <dgm:spPr/>
      <dgm:t>
        <a:bodyPr/>
        <a:lstStyle/>
        <a:p>
          <a:endParaRPr lang="en-US"/>
        </a:p>
      </dgm:t>
    </dgm:pt>
    <dgm:pt modelId="{BBB405BD-803E-4936-8BB5-3BDD10288DD5}">
      <dgm:prSet/>
      <dgm:spPr/>
      <dgm:t>
        <a:bodyPr/>
        <a:lstStyle/>
        <a:p>
          <a:r>
            <a:rPr lang="en-US"/>
            <a:t>Menjadi bagian penting dari sistem keuangan modern.</a:t>
          </a:r>
          <a:br>
            <a:rPr lang="en-US"/>
          </a:br>
          <a:endParaRPr lang="en-US"/>
        </a:p>
      </dgm:t>
    </dgm:pt>
    <dgm:pt modelId="{42890AB5-D6BA-4B02-B0E3-9EF8F216F3F6}" type="parTrans" cxnId="{A9B43843-997C-43F8-883F-A97E6BD6B09C}">
      <dgm:prSet/>
      <dgm:spPr/>
      <dgm:t>
        <a:bodyPr/>
        <a:lstStyle/>
        <a:p>
          <a:endParaRPr lang="en-US"/>
        </a:p>
      </dgm:t>
    </dgm:pt>
    <dgm:pt modelId="{3628785B-B039-4FAF-A6FB-1DCAE84F4703}" type="sibTrans" cxnId="{A9B43843-997C-43F8-883F-A97E6BD6B09C}">
      <dgm:prSet/>
      <dgm:spPr/>
      <dgm:t>
        <a:bodyPr/>
        <a:lstStyle/>
        <a:p>
          <a:endParaRPr lang="en-US"/>
        </a:p>
      </dgm:t>
    </dgm:pt>
    <dgm:pt modelId="{570C0A16-57EA-45F1-9A1B-89AA201AE780}" type="pres">
      <dgm:prSet presAssocID="{0239754A-9B51-4ADB-B0B0-EE59743331D4}" presName="matrix" presStyleCnt="0">
        <dgm:presLayoutVars>
          <dgm:chMax val="1"/>
          <dgm:dir/>
          <dgm:resizeHandles val="exact"/>
        </dgm:presLayoutVars>
      </dgm:prSet>
      <dgm:spPr/>
    </dgm:pt>
    <dgm:pt modelId="{D5A558E5-2D79-4433-8391-5C2637FEF3D5}" type="pres">
      <dgm:prSet presAssocID="{0239754A-9B51-4ADB-B0B0-EE59743331D4}" presName="diamond" presStyleLbl="bgShp" presStyleIdx="0" presStyleCnt="1"/>
      <dgm:spPr/>
    </dgm:pt>
    <dgm:pt modelId="{AF782D17-179F-4662-858E-140AFB969A5E}" type="pres">
      <dgm:prSet presAssocID="{0239754A-9B51-4ADB-B0B0-EE59743331D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6DB7C3D-06C0-488A-B270-97BA5D024C49}" type="pres">
      <dgm:prSet presAssocID="{0239754A-9B51-4ADB-B0B0-EE59743331D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C050A3-5311-47FB-AF1E-3F7E760B8ADB}" type="pres">
      <dgm:prSet presAssocID="{0239754A-9B51-4ADB-B0B0-EE59743331D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4C5F289-1BE2-4364-87B8-736C17C80E16}" type="pres">
      <dgm:prSet presAssocID="{0239754A-9B51-4ADB-B0B0-EE59743331D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94D2C33-18E8-43CF-83DA-422A52278E1B}" type="presOf" srcId="{BBB405BD-803E-4936-8BB5-3BDD10288DD5}" destId="{B4C5F289-1BE2-4364-87B8-736C17C80E16}" srcOrd="0" destOrd="0" presId="urn:microsoft.com/office/officeart/2005/8/layout/matrix3"/>
    <dgm:cxn modelId="{92235634-034D-4707-9C45-BBFC18C4439E}" type="presOf" srcId="{1FB7E5B7-97F4-45F4-A8B1-CED1189C2865}" destId="{C0C050A3-5311-47FB-AF1E-3F7E760B8ADB}" srcOrd="0" destOrd="0" presId="urn:microsoft.com/office/officeart/2005/8/layout/matrix3"/>
    <dgm:cxn modelId="{A9B43843-997C-43F8-883F-A97E6BD6B09C}" srcId="{0239754A-9B51-4ADB-B0B0-EE59743331D4}" destId="{BBB405BD-803E-4936-8BB5-3BDD10288DD5}" srcOrd="3" destOrd="0" parTransId="{42890AB5-D6BA-4B02-B0E3-9EF8F216F3F6}" sibTransId="{3628785B-B039-4FAF-A6FB-1DCAE84F4703}"/>
    <dgm:cxn modelId="{A3D2B356-EE52-438A-8066-8AC06AEA07CD}" srcId="{0239754A-9B51-4ADB-B0B0-EE59743331D4}" destId="{1FB7E5B7-97F4-45F4-A8B1-CED1189C2865}" srcOrd="2" destOrd="0" parTransId="{ABC7B965-FB2D-4088-B1E5-3498825B1B88}" sibTransId="{BD3D1EEF-7C95-4A21-A8FA-460F261AF492}"/>
    <dgm:cxn modelId="{FC555B80-A9BB-4B57-B489-2680E9C778C1}" type="presOf" srcId="{52DE877D-A3D0-444F-9786-9AF91418704E}" destId="{AF782D17-179F-4662-858E-140AFB969A5E}" srcOrd="0" destOrd="0" presId="urn:microsoft.com/office/officeart/2005/8/layout/matrix3"/>
    <dgm:cxn modelId="{AB7AEBA7-4542-4B88-9E23-9B08E4EDB393}" srcId="{0239754A-9B51-4ADB-B0B0-EE59743331D4}" destId="{52DE877D-A3D0-444F-9786-9AF91418704E}" srcOrd="0" destOrd="0" parTransId="{83F7096F-B269-4431-8A2A-3B93B5B475C9}" sibTransId="{36C6FADF-32BC-422F-A302-3DAD3207634C}"/>
    <dgm:cxn modelId="{8A7951BF-DBDF-414A-9A74-728D946F782B}" srcId="{0239754A-9B51-4ADB-B0B0-EE59743331D4}" destId="{1E299A23-5A9C-43D5-A9DB-801D11474610}" srcOrd="1" destOrd="0" parTransId="{B2FDB1EB-FF0F-45C7-B668-EED2C9A7B36E}" sibTransId="{F2A8DC14-D852-46CB-BB77-CBCC205C81AD}"/>
    <dgm:cxn modelId="{0D1E50C4-A309-4A5A-A1A0-09A3C0C522EC}" type="presOf" srcId="{0239754A-9B51-4ADB-B0B0-EE59743331D4}" destId="{570C0A16-57EA-45F1-9A1B-89AA201AE780}" srcOrd="0" destOrd="0" presId="urn:microsoft.com/office/officeart/2005/8/layout/matrix3"/>
    <dgm:cxn modelId="{8385F3F7-87CA-4373-B70E-C5D99B33F7B4}" type="presOf" srcId="{1E299A23-5A9C-43D5-A9DB-801D11474610}" destId="{16DB7C3D-06C0-488A-B270-97BA5D024C49}" srcOrd="0" destOrd="0" presId="urn:microsoft.com/office/officeart/2005/8/layout/matrix3"/>
    <dgm:cxn modelId="{8542C9CF-B65A-4D26-9C7F-D92E470283F0}" type="presParOf" srcId="{570C0A16-57EA-45F1-9A1B-89AA201AE780}" destId="{D5A558E5-2D79-4433-8391-5C2637FEF3D5}" srcOrd="0" destOrd="0" presId="urn:microsoft.com/office/officeart/2005/8/layout/matrix3"/>
    <dgm:cxn modelId="{E7B958F8-3574-43AD-B730-24BF8407A010}" type="presParOf" srcId="{570C0A16-57EA-45F1-9A1B-89AA201AE780}" destId="{AF782D17-179F-4662-858E-140AFB969A5E}" srcOrd="1" destOrd="0" presId="urn:microsoft.com/office/officeart/2005/8/layout/matrix3"/>
    <dgm:cxn modelId="{31D36A55-14B2-4AA4-B4F8-A607240CE5F5}" type="presParOf" srcId="{570C0A16-57EA-45F1-9A1B-89AA201AE780}" destId="{16DB7C3D-06C0-488A-B270-97BA5D024C49}" srcOrd="2" destOrd="0" presId="urn:microsoft.com/office/officeart/2005/8/layout/matrix3"/>
    <dgm:cxn modelId="{0771A7C0-96AB-4C35-AE11-BDE9F4AA2D55}" type="presParOf" srcId="{570C0A16-57EA-45F1-9A1B-89AA201AE780}" destId="{C0C050A3-5311-47FB-AF1E-3F7E760B8ADB}" srcOrd="3" destOrd="0" presId="urn:microsoft.com/office/officeart/2005/8/layout/matrix3"/>
    <dgm:cxn modelId="{18E85D9E-A162-4B5D-BD72-59C554404623}" type="presParOf" srcId="{570C0A16-57EA-45F1-9A1B-89AA201AE780}" destId="{B4C5F289-1BE2-4364-87B8-736C17C80E1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EB7F88-076D-4F1B-A3BE-C5FE6390C5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8CA3168-F7CB-4408-8481-7B2F41B31BAA}">
      <dgm:prSet/>
      <dgm:spPr/>
      <dgm:t>
        <a:bodyPr/>
        <a:lstStyle/>
        <a:p>
          <a:r>
            <a:rPr lang="en-US" b="1"/>
            <a:t>Menyalurkan dana</a:t>
          </a:r>
          <a:r>
            <a:rPr lang="en-US"/>
            <a:t> dari pihak surplus (investor, institusi keuangan) ke pihak yang membutuhkan modal (perusahaan, pemerintah).</a:t>
          </a:r>
        </a:p>
      </dgm:t>
    </dgm:pt>
    <dgm:pt modelId="{AFC9E846-6F2E-4677-8FCE-3DD79E47FEC7}" type="parTrans" cxnId="{DA1915D7-AB25-4C64-9023-4E405DEA0F68}">
      <dgm:prSet/>
      <dgm:spPr/>
      <dgm:t>
        <a:bodyPr/>
        <a:lstStyle/>
        <a:p>
          <a:endParaRPr lang="en-US"/>
        </a:p>
      </dgm:t>
    </dgm:pt>
    <dgm:pt modelId="{AEABD9CA-911F-4F78-B901-0DC07AD8912E}" type="sibTrans" cxnId="{DA1915D7-AB25-4C64-9023-4E405DEA0F68}">
      <dgm:prSet/>
      <dgm:spPr/>
      <dgm:t>
        <a:bodyPr/>
        <a:lstStyle/>
        <a:p>
          <a:endParaRPr lang="en-US"/>
        </a:p>
      </dgm:t>
    </dgm:pt>
    <dgm:pt modelId="{CB4FF20E-C1E6-4E7A-A35E-2B8B793DDDF5}">
      <dgm:prSet/>
      <dgm:spPr/>
      <dgm:t>
        <a:bodyPr/>
        <a:lstStyle/>
        <a:p>
          <a:r>
            <a:rPr lang="en-US" b="1"/>
            <a:t>Price Discovery</a:t>
          </a:r>
          <a:r>
            <a:rPr lang="en-US"/>
            <a:t>: pasar menentukan harga wajar sekuritas berdasarkan informasi dan ekspektasi investor.</a:t>
          </a:r>
        </a:p>
      </dgm:t>
    </dgm:pt>
    <dgm:pt modelId="{FE1D20EF-6EAD-4C25-9AD7-45532F99AA17}" type="parTrans" cxnId="{2A9C2083-6FAA-40F7-B6B0-5CEB2D6C7A81}">
      <dgm:prSet/>
      <dgm:spPr/>
      <dgm:t>
        <a:bodyPr/>
        <a:lstStyle/>
        <a:p>
          <a:endParaRPr lang="en-US"/>
        </a:p>
      </dgm:t>
    </dgm:pt>
    <dgm:pt modelId="{49C367A4-BF77-4124-AB2F-3985820E4B9E}" type="sibTrans" cxnId="{2A9C2083-6FAA-40F7-B6B0-5CEB2D6C7A81}">
      <dgm:prSet/>
      <dgm:spPr/>
      <dgm:t>
        <a:bodyPr/>
        <a:lstStyle/>
        <a:p>
          <a:endParaRPr lang="en-US"/>
        </a:p>
      </dgm:t>
    </dgm:pt>
    <dgm:pt modelId="{9AEABF23-7E9A-49A7-9C37-D5362E362E89}">
      <dgm:prSet/>
      <dgm:spPr/>
      <dgm:t>
        <a:bodyPr/>
        <a:lstStyle/>
        <a:p>
          <a:r>
            <a:rPr lang="en-US"/>
            <a:t>Menyediakan </a:t>
          </a:r>
          <a:r>
            <a:rPr lang="en-US" b="1"/>
            <a:t>akses pendanaan jangka panjang</a:t>
          </a:r>
          <a:r>
            <a:rPr lang="en-US"/>
            <a:t> melalui saham &amp; obligasi.</a:t>
          </a:r>
        </a:p>
      </dgm:t>
    </dgm:pt>
    <dgm:pt modelId="{500EB274-66FA-4845-BDCF-6CF987BBEDD3}" type="parTrans" cxnId="{CA27D9F6-4A89-4CC1-AA5C-A73870962731}">
      <dgm:prSet/>
      <dgm:spPr/>
      <dgm:t>
        <a:bodyPr/>
        <a:lstStyle/>
        <a:p>
          <a:endParaRPr lang="en-US"/>
        </a:p>
      </dgm:t>
    </dgm:pt>
    <dgm:pt modelId="{E63FD69E-5A92-41F4-AB23-9526CF5FE270}" type="sibTrans" cxnId="{CA27D9F6-4A89-4CC1-AA5C-A73870962731}">
      <dgm:prSet/>
      <dgm:spPr/>
      <dgm:t>
        <a:bodyPr/>
        <a:lstStyle/>
        <a:p>
          <a:endParaRPr lang="en-US"/>
        </a:p>
      </dgm:t>
    </dgm:pt>
    <dgm:pt modelId="{3646AD33-AC49-46D3-B2F4-8050C875B26A}">
      <dgm:prSet/>
      <dgm:spPr/>
      <dgm:t>
        <a:bodyPr/>
        <a:lstStyle/>
        <a:p>
          <a:r>
            <a:rPr lang="en-US"/>
            <a:t>Meningkatkan </a:t>
          </a:r>
          <a:r>
            <a:rPr lang="en-US" b="1"/>
            <a:t>likuiditas</a:t>
          </a:r>
          <a:r>
            <a:rPr lang="en-US"/>
            <a:t>, memudahkan investor menjual aset kapan saja.</a:t>
          </a:r>
          <a:br>
            <a:rPr lang="en-US"/>
          </a:br>
          <a:endParaRPr lang="en-US"/>
        </a:p>
      </dgm:t>
    </dgm:pt>
    <dgm:pt modelId="{C56BF5AF-533E-4249-A6CD-71B2D66114F9}" type="parTrans" cxnId="{2F9A7A22-3530-4EE1-B2C1-91349BAEAABA}">
      <dgm:prSet/>
      <dgm:spPr/>
      <dgm:t>
        <a:bodyPr/>
        <a:lstStyle/>
        <a:p>
          <a:endParaRPr lang="en-US"/>
        </a:p>
      </dgm:t>
    </dgm:pt>
    <dgm:pt modelId="{F22B3E0D-51ED-49D6-9E85-C5FD9ABEC8D1}" type="sibTrans" cxnId="{2F9A7A22-3530-4EE1-B2C1-91349BAEAABA}">
      <dgm:prSet/>
      <dgm:spPr/>
      <dgm:t>
        <a:bodyPr/>
        <a:lstStyle/>
        <a:p>
          <a:endParaRPr lang="en-US"/>
        </a:p>
      </dgm:t>
    </dgm:pt>
    <dgm:pt modelId="{5E74211F-3348-4279-8E83-97B93D0EA308}" type="pres">
      <dgm:prSet presAssocID="{C7EB7F88-076D-4F1B-A3BE-C5FE6390C52A}" presName="root" presStyleCnt="0">
        <dgm:presLayoutVars>
          <dgm:dir/>
          <dgm:resizeHandles val="exact"/>
        </dgm:presLayoutVars>
      </dgm:prSet>
      <dgm:spPr/>
    </dgm:pt>
    <dgm:pt modelId="{E03B05E2-2F37-4890-B544-27A8FB8DF3BD}" type="pres">
      <dgm:prSet presAssocID="{78CA3168-F7CB-4408-8481-7B2F41B31BAA}" presName="compNode" presStyleCnt="0"/>
      <dgm:spPr/>
    </dgm:pt>
    <dgm:pt modelId="{CEC1E23A-7D88-418C-8502-A40CD55A52DE}" type="pres">
      <dgm:prSet presAssocID="{78CA3168-F7CB-4408-8481-7B2F41B31BAA}" presName="bgRect" presStyleLbl="bgShp" presStyleIdx="0" presStyleCnt="4"/>
      <dgm:spPr/>
    </dgm:pt>
    <dgm:pt modelId="{9CCFD0B3-C714-4CA9-A7F1-122F4535BC8D}" type="pres">
      <dgm:prSet presAssocID="{78CA3168-F7CB-4408-8481-7B2F41B31B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C6057D38-44A6-4F46-AF6E-13993F576995}" type="pres">
      <dgm:prSet presAssocID="{78CA3168-F7CB-4408-8481-7B2F41B31BAA}" presName="spaceRect" presStyleCnt="0"/>
      <dgm:spPr/>
    </dgm:pt>
    <dgm:pt modelId="{47843101-D882-4D39-961B-C2F4503C7B26}" type="pres">
      <dgm:prSet presAssocID="{78CA3168-F7CB-4408-8481-7B2F41B31BAA}" presName="parTx" presStyleLbl="revTx" presStyleIdx="0" presStyleCnt="4">
        <dgm:presLayoutVars>
          <dgm:chMax val="0"/>
          <dgm:chPref val="0"/>
        </dgm:presLayoutVars>
      </dgm:prSet>
      <dgm:spPr/>
    </dgm:pt>
    <dgm:pt modelId="{F1636E7F-0704-4F28-9529-2D91CBAC3C6E}" type="pres">
      <dgm:prSet presAssocID="{AEABD9CA-911F-4F78-B901-0DC07AD8912E}" presName="sibTrans" presStyleCnt="0"/>
      <dgm:spPr/>
    </dgm:pt>
    <dgm:pt modelId="{7C27C232-49AC-40BC-8CA7-97FFFBA1DA98}" type="pres">
      <dgm:prSet presAssocID="{CB4FF20E-C1E6-4E7A-A35E-2B8B793DDDF5}" presName="compNode" presStyleCnt="0"/>
      <dgm:spPr/>
    </dgm:pt>
    <dgm:pt modelId="{713E3F00-8FE1-4290-8CE8-A79C82383625}" type="pres">
      <dgm:prSet presAssocID="{CB4FF20E-C1E6-4E7A-A35E-2B8B793DDDF5}" presName="bgRect" presStyleLbl="bgShp" presStyleIdx="1" presStyleCnt="4"/>
      <dgm:spPr/>
    </dgm:pt>
    <dgm:pt modelId="{CAB11F1A-1A8E-4F19-8F00-801A67C7ECFF}" type="pres">
      <dgm:prSet presAssocID="{CB4FF20E-C1E6-4E7A-A35E-2B8B793DDD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9FC29FD5-DFA1-4DEA-B04C-6E4092572A8B}" type="pres">
      <dgm:prSet presAssocID="{CB4FF20E-C1E6-4E7A-A35E-2B8B793DDDF5}" presName="spaceRect" presStyleCnt="0"/>
      <dgm:spPr/>
    </dgm:pt>
    <dgm:pt modelId="{AFADF2B0-B634-4717-9B15-EE292753559C}" type="pres">
      <dgm:prSet presAssocID="{CB4FF20E-C1E6-4E7A-A35E-2B8B793DDDF5}" presName="parTx" presStyleLbl="revTx" presStyleIdx="1" presStyleCnt="4">
        <dgm:presLayoutVars>
          <dgm:chMax val="0"/>
          <dgm:chPref val="0"/>
        </dgm:presLayoutVars>
      </dgm:prSet>
      <dgm:spPr/>
    </dgm:pt>
    <dgm:pt modelId="{2CEBF7F4-C997-4B40-ADB4-93040CCF157D}" type="pres">
      <dgm:prSet presAssocID="{49C367A4-BF77-4124-AB2F-3985820E4B9E}" presName="sibTrans" presStyleCnt="0"/>
      <dgm:spPr/>
    </dgm:pt>
    <dgm:pt modelId="{BAA0C8F0-1D69-4361-A860-35B1DD5B7F44}" type="pres">
      <dgm:prSet presAssocID="{9AEABF23-7E9A-49A7-9C37-D5362E362E89}" presName="compNode" presStyleCnt="0"/>
      <dgm:spPr/>
    </dgm:pt>
    <dgm:pt modelId="{26D829C5-D129-4ADF-BC73-B56C29AC1698}" type="pres">
      <dgm:prSet presAssocID="{9AEABF23-7E9A-49A7-9C37-D5362E362E89}" presName="bgRect" presStyleLbl="bgShp" presStyleIdx="2" presStyleCnt="4"/>
      <dgm:spPr/>
    </dgm:pt>
    <dgm:pt modelId="{DD107B79-EF5D-464F-808A-55FD606C42E1}" type="pres">
      <dgm:prSet presAssocID="{9AEABF23-7E9A-49A7-9C37-D5362E362E8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DF60F1E-FF8F-4199-B51F-611F90A4D8D8}" type="pres">
      <dgm:prSet presAssocID="{9AEABF23-7E9A-49A7-9C37-D5362E362E89}" presName="spaceRect" presStyleCnt="0"/>
      <dgm:spPr/>
    </dgm:pt>
    <dgm:pt modelId="{9672A72E-77CD-4F70-8DD8-C50E6E0E0A6B}" type="pres">
      <dgm:prSet presAssocID="{9AEABF23-7E9A-49A7-9C37-D5362E362E89}" presName="parTx" presStyleLbl="revTx" presStyleIdx="2" presStyleCnt="4">
        <dgm:presLayoutVars>
          <dgm:chMax val="0"/>
          <dgm:chPref val="0"/>
        </dgm:presLayoutVars>
      </dgm:prSet>
      <dgm:spPr/>
    </dgm:pt>
    <dgm:pt modelId="{40A1B7D9-45F3-4CDA-A2DC-4C0B32C5C63A}" type="pres">
      <dgm:prSet presAssocID="{E63FD69E-5A92-41F4-AB23-9526CF5FE270}" presName="sibTrans" presStyleCnt="0"/>
      <dgm:spPr/>
    </dgm:pt>
    <dgm:pt modelId="{B26D3845-194A-47E1-B54C-C40E78CEB5CB}" type="pres">
      <dgm:prSet presAssocID="{3646AD33-AC49-46D3-B2F4-8050C875B26A}" presName="compNode" presStyleCnt="0"/>
      <dgm:spPr/>
    </dgm:pt>
    <dgm:pt modelId="{20D9C571-8294-4193-897E-3F8AECF95826}" type="pres">
      <dgm:prSet presAssocID="{3646AD33-AC49-46D3-B2F4-8050C875B26A}" presName="bgRect" presStyleLbl="bgShp" presStyleIdx="3" presStyleCnt="4"/>
      <dgm:spPr/>
    </dgm:pt>
    <dgm:pt modelId="{10FCCA3D-EFB7-4097-8760-E637983F0D79}" type="pres">
      <dgm:prSet presAssocID="{3646AD33-AC49-46D3-B2F4-8050C875B2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210C165F-63D8-4BE5-ABBB-56E8976D9A06}" type="pres">
      <dgm:prSet presAssocID="{3646AD33-AC49-46D3-B2F4-8050C875B26A}" presName="spaceRect" presStyleCnt="0"/>
      <dgm:spPr/>
    </dgm:pt>
    <dgm:pt modelId="{68EFF70D-E218-4942-B120-9B36D35857B8}" type="pres">
      <dgm:prSet presAssocID="{3646AD33-AC49-46D3-B2F4-8050C875B26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2DFEF0E-FCC1-4681-BE89-57DD26BB704B}" type="presOf" srcId="{78CA3168-F7CB-4408-8481-7B2F41B31BAA}" destId="{47843101-D882-4D39-961B-C2F4503C7B26}" srcOrd="0" destOrd="0" presId="urn:microsoft.com/office/officeart/2018/2/layout/IconVerticalSolidList"/>
    <dgm:cxn modelId="{2F9A7A22-3530-4EE1-B2C1-91349BAEAABA}" srcId="{C7EB7F88-076D-4F1B-A3BE-C5FE6390C52A}" destId="{3646AD33-AC49-46D3-B2F4-8050C875B26A}" srcOrd="3" destOrd="0" parTransId="{C56BF5AF-533E-4249-A6CD-71B2D66114F9}" sibTransId="{F22B3E0D-51ED-49D6-9E85-C5FD9ABEC8D1}"/>
    <dgm:cxn modelId="{9F12E85D-B197-497D-82AC-8FBC3FBBAF5E}" type="presOf" srcId="{9AEABF23-7E9A-49A7-9C37-D5362E362E89}" destId="{9672A72E-77CD-4F70-8DD8-C50E6E0E0A6B}" srcOrd="0" destOrd="0" presId="urn:microsoft.com/office/officeart/2018/2/layout/IconVerticalSolidList"/>
    <dgm:cxn modelId="{A6E9A051-8B93-475B-84FB-CEE5183EA532}" type="presOf" srcId="{CB4FF20E-C1E6-4E7A-A35E-2B8B793DDDF5}" destId="{AFADF2B0-B634-4717-9B15-EE292753559C}" srcOrd="0" destOrd="0" presId="urn:microsoft.com/office/officeart/2018/2/layout/IconVerticalSolidList"/>
    <dgm:cxn modelId="{2A9C2083-6FAA-40F7-B6B0-5CEB2D6C7A81}" srcId="{C7EB7F88-076D-4F1B-A3BE-C5FE6390C52A}" destId="{CB4FF20E-C1E6-4E7A-A35E-2B8B793DDDF5}" srcOrd="1" destOrd="0" parTransId="{FE1D20EF-6EAD-4C25-9AD7-45532F99AA17}" sibTransId="{49C367A4-BF77-4124-AB2F-3985820E4B9E}"/>
    <dgm:cxn modelId="{DA1915D7-AB25-4C64-9023-4E405DEA0F68}" srcId="{C7EB7F88-076D-4F1B-A3BE-C5FE6390C52A}" destId="{78CA3168-F7CB-4408-8481-7B2F41B31BAA}" srcOrd="0" destOrd="0" parTransId="{AFC9E846-6F2E-4677-8FCE-3DD79E47FEC7}" sibTransId="{AEABD9CA-911F-4F78-B901-0DC07AD8912E}"/>
    <dgm:cxn modelId="{05AA84F4-4A94-4E43-874A-779F76E98B09}" type="presOf" srcId="{C7EB7F88-076D-4F1B-A3BE-C5FE6390C52A}" destId="{5E74211F-3348-4279-8E83-97B93D0EA308}" srcOrd="0" destOrd="0" presId="urn:microsoft.com/office/officeart/2018/2/layout/IconVerticalSolidList"/>
    <dgm:cxn modelId="{CA27D9F6-4A89-4CC1-AA5C-A73870962731}" srcId="{C7EB7F88-076D-4F1B-A3BE-C5FE6390C52A}" destId="{9AEABF23-7E9A-49A7-9C37-D5362E362E89}" srcOrd="2" destOrd="0" parTransId="{500EB274-66FA-4845-BDCF-6CF987BBEDD3}" sibTransId="{E63FD69E-5A92-41F4-AB23-9526CF5FE270}"/>
    <dgm:cxn modelId="{27BC5DFF-04FB-4D4A-9D5D-9657A7DE7D81}" type="presOf" srcId="{3646AD33-AC49-46D3-B2F4-8050C875B26A}" destId="{68EFF70D-E218-4942-B120-9B36D35857B8}" srcOrd="0" destOrd="0" presId="urn:microsoft.com/office/officeart/2018/2/layout/IconVerticalSolidList"/>
    <dgm:cxn modelId="{FA9CC7E8-2B25-4EC0-8CEE-E1DC142B3243}" type="presParOf" srcId="{5E74211F-3348-4279-8E83-97B93D0EA308}" destId="{E03B05E2-2F37-4890-B544-27A8FB8DF3BD}" srcOrd="0" destOrd="0" presId="urn:microsoft.com/office/officeart/2018/2/layout/IconVerticalSolidList"/>
    <dgm:cxn modelId="{DD102A69-9477-4EA2-A837-8F774FE5043D}" type="presParOf" srcId="{E03B05E2-2F37-4890-B544-27A8FB8DF3BD}" destId="{CEC1E23A-7D88-418C-8502-A40CD55A52DE}" srcOrd="0" destOrd="0" presId="urn:microsoft.com/office/officeart/2018/2/layout/IconVerticalSolidList"/>
    <dgm:cxn modelId="{E2A10DDE-C2FC-4020-90DF-031DDEEBCEB4}" type="presParOf" srcId="{E03B05E2-2F37-4890-B544-27A8FB8DF3BD}" destId="{9CCFD0B3-C714-4CA9-A7F1-122F4535BC8D}" srcOrd="1" destOrd="0" presId="urn:microsoft.com/office/officeart/2018/2/layout/IconVerticalSolidList"/>
    <dgm:cxn modelId="{3A5450DA-2CF1-4596-AB95-D9F6B4A89410}" type="presParOf" srcId="{E03B05E2-2F37-4890-B544-27A8FB8DF3BD}" destId="{C6057D38-44A6-4F46-AF6E-13993F576995}" srcOrd="2" destOrd="0" presId="urn:microsoft.com/office/officeart/2018/2/layout/IconVerticalSolidList"/>
    <dgm:cxn modelId="{236CCE13-7230-48E6-9ED5-4B2930FC9C80}" type="presParOf" srcId="{E03B05E2-2F37-4890-B544-27A8FB8DF3BD}" destId="{47843101-D882-4D39-961B-C2F4503C7B26}" srcOrd="3" destOrd="0" presId="urn:microsoft.com/office/officeart/2018/2/layout/IconVerticalSolidList"/>
    <dgm:cxn modelId="{957C5DEE-1255-4A9E-BD10-918C28603B7E}" type="presParOf" srcId="{5E74211F-3348-4279-8E83-97B93D0EA308}" destId="{F1636E7F-0704-4F28-9529-2D91CBAC3C6E}" srcOrd="1" destOrd="0" presId="urn:microsoft.com/office/officeart/2018/2/layout/IconVerticalSolidList"/>
    <dgm:cxn modelId="{053CE105-9AD5-4D82-B648-5C587BE5F5FD}" type="presParOf" srcId="{5E74211F-3348-4279-8E83-97B93D0EA308}" destId="{7C27C232-49AC-40BC-8CA7-97FFFBA1DA98}" srcOrd="2" destOrd="0" presId="urn:microsoft.com/office/officeart/2018/2/layout/IconVerticalSolidList"/>
    <dgm:cxn modelId="{50AFD351-F3BD-4AF9-A6D4-0F476B9FB4CD}" type="presParOf" srcId="{7C27C232-49AC-40BC-8CA7-97FFFBA1DA98}" destId="{713E3F00-8FE1-4290-8CE8-A79C82383625}" srcOrd="0" destOrd="0" presId="urn:microsoft.com/office/officeart/2018/2/layout/IconVerticalSolidList"/>
    <dgm:cxn modelId="{432A99CB-B840-4F5A-BB09-C1C2D601B594}" type="presParOf" srcId="{7C27C232-49AC-40BC-8CA7-97FFFBA1DA98}" destId="{CAB11F1A-1A8E-4F19-8F00-801A67C7ECFF}" srcOrd="1" destOrd="0" presId="urn:microsoft.com/office/officeart/2018/2/layout/IconVerticalSolidList"/>
    <dgm:cxn modelId="{DA2EFF78-8709-4A1F-81AA-BBDEC63C33FC}" type="presParOf" srcId="{7C27C232-49AC-40BC-8CA7-97FFFBA1DA98}" destId="{9FC29FD5-DFA1-4DEA-B04C-6E4092572A8B}" srcOrd="2" destOrd="0" presId="urn:microsoft.com/office/officeart/2018/2/layout/IconVerticalSolidList"/>
    <dgm:cxn modelId="{E5977FB5-DC4C-4254-8D1A-1B16380FE780}" type="presParOf" srcId="{7C27C232-49AC-40BC-8CA7-97FFFBA1DA98}" destId="{AFADF2B0-B634-4717-9B15-EE292753559C}" srcOrd="3" destOrd="0" presId="urn:microsoft.com/office/officeart/2018/2/layout/IconVerticalSolidList"/>
    <dgm:cxn modelId="{C619C23E-433F-4A66-AD45-DFD23D328E8E}" type="presParOf" srcId="{5E74211F-3348-4279-8E83-97B93D0EA308}" destId="{2CEBF7F4-C997-4B40-ADB4-93040CCF157D}" srcOrd="3" destOrd="0" presId="urn:microsoft.com/office/officeart/2018/2/layout/IconVerticalSolidList"/>
    <dgm:cxn modelId="{F8029ADF-B53E-4036-9FEE-0B2DD6CA1421}" type="presParOf" srcId="{5E74211F-3348-4279-8E83-97B93D0EA308}" destId="{BAA0C8F0-1D69-4361-A860-35B1DD5B7F44}" srcOrd="4" destOrd="0" presId="urn:microsoft.com/office/officeart/2018/2/layout/IconVerticalSolidList"/>
    <dgm:cxn modelId="{03309D29-A4F0-449B-AE5D-5D42CEFAAFC9}" type="presParOf" srcId="{BAA0C8F0-1D69-4361-A860-35B1DD5B7F44}" destId="{26D829C5-D129-4ADF-BC73-B56C29AC1698}" srcOrd="0" destOrd="0" presId="urn:microsoft.com/office/officeart/2018/2/layout/IconVerticalSolidList"/>
    <dgm:cxn modelId="{7B9E6C52-F963-4D61-A6C0-8BFD2E7275A3}" type="presParOf" srcId="{BAA0C8F0-1D69-4361-A860-35B1DD5B7F44}" destId="{DD107B79-EF5D-464F-808A-55FD606C42E1}" srcOrd="1" destOrd="0" presId="urn:microsoft.com/office/officeart/2018/2/layout/IconVerticalSolidList"/>
    <dgm:cxn modelId="{0E9ED0B2-90BC-4AD2-B072-E652B1A15B74}" type="presParOf" srcId="{BAA0C8F0-1D69-4361-A860-35B1DD5B7F44}" destId="{2DF60F1E-FF8F-4199-B51F-611F90A4D8D8}" srcOrd="2" destOrd="0" presId="urn:microsoft.com/office/officeart/2018/2/layout/IconVerticalSolidList"/>
    <dgm:cxn modelId="{2100873C-D31C-4FD8-A09E-A97B61F1AACF}" type="presParOf" srcId="{BAA0C8F0-1D69-4361-A860-35B1DD5B7F44}" destId="{9672A72E-77CD-4F70-8DD8-C50E6E0E0A6B}" srcOrd="3" destOrd="0" presId="urn:microsoft.com/office/officeart/2018/2/layout/IconVerticalSolidList"/>
    <dgm:cxn modelId="{52C8F660-5D43-46FE-80B2-F6720736CDC1}" type="presParOf" srcId="{5E74211F-3348-4279-8E83-97B93D0EA308}" destId="{40A1B7D9-45F3-4CDA-A2DC-4C0B32C5C63A}" srcOrd="5" destOrd="0" presId="urn:microsoft.com/office/officeart/2018/2/layout/IconVerticalSolidList"/>
    <dgm:cxn modelId="{188239A1-A67D-4607-9986-DE2764725777}" type="presParOf" srcId="{5E74211F-3348-4279-8E83-97B93D0EA308}" destId="{B26D3845-194A-47E1-B54C-C40E78CEB5CB}" srcOrd="6" destOrd="0" presId="urn:microsoft.com/office/officeart/2018/2/layout/IconVerticalSolidList"/>
    <dgm:cxn modelId="{20FFFD61-9A7C-4969-A239-1869B49FAF4A}" type="presParOf" srcId="{B26D3845-194A-47E1-B54C-C40E78CEB5CB}" destId="{20D9C571-8294-4193-897E-3F8AECF95826}" srcOrd="0" destOrd="0" presId="urn:microsoft.com/office/officeart/2018/2/layout/IconVerticalSolidList"/>
    <dgm:cxn modelId="{D2514534-63FA-4548-891A-A5D578422403}" type="presParOf" srcId="{B26D3845-194A-47E1-B54C-C40E78CEB5CB}" destId="{10FCCA3D-EFB7-4097-8760-E637983F0D79}" srcOrd="1" destOrd="0" presId="urn:microsoft.com/office/officeart/2018/2/layout/IconVerticalSolidList"/>
    <dgm:cxn modelId="{A7C500D7-9F71-47CD-8618-D4A414ED6855}" type="presParOf" srcId="{B26D3845-194A-47E1-B54C-C40E78CEB5CB}" destId="{210C165F-63D8-4BE5-ABBB-56E8976D9A06}" srcOrd="2" destOrd="0" presId="urn:microsoft.com/office/officeart/2018/2/layout/IconVerticalSolidList"/>
    <dgm:cxn modelId="{455C2D0E-B3D5-4CBA-B42B-D6E1534C1F9F}" type="presParOf" srcId="{B26D3845-194A-47E1-B54C-C40E78CEB5CB}" destId="{68EFF70D-E218-4942-B120-9B36D35857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D26A47-B589-4BD1-B5BE-45648F5E797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3A14DFC-ACC3-48E3-A4A0-9582B6627789}">
      <dgm:prSet/>
      <dgm:spPr/>
      <dgm:t>
        <a:bodyPr/>
        <a:lstStyle/>
        <a:p>
          <a:r>
            <a:rPr lang="en-US"/>
            <a:t>Sekuritas diterbitkan pertama kali kepada publik.</a:t>
          </a:r>
        </a:p>
      </dgm:t>
    </dgm:pt>
    <dgm:pt modelId="{45AFA3DD-F6FB-4A8C-8CD2-234C08AD2D82}" type="parTrans" cxnId="{08541ACE-3019-4B29-A79E-7511D4EF0FE0}">
      <dgm:prSet/>
      <dgm:spPr/>
      <dgm:t>
        <a:bodyPr/>
        <a:lstStyle/>
        <a:p>
          <a:endParaRPr lang="en-US"/>
        </a:p>
      </dgm:t>
    </dgm:pt>
    <dgm:pt modelId="{3351CA98-B7EB-48B5-87E0-1267353F5B7C}" type="sibTrans" cxnId="{08541ACE-3019-4B29-A79E-7511D4EF0FE0}">
      <dgm:prSet/>
      <dgm:spPr/>
      <dgm:t>
        <a:bodyPr/>
        <a:lstStyle/>
        <a:p>
          <a:endParaRPr lang="en-US"/>
        </a:p>
      </dgm:t>
    </dgm:pt>
    <dgm:pt modelId="{36281E88-4B2B-4388-B6AA-61EAA5AB45B0}">
      <dgm:prSet/>
      <dgm:spPr/>
      <dgm:t>
        <a:bodyPr/>
        <a:lstStyle/>
        <a:p>
          <a:r>
            <a:rPr lang="en-US"/>
            <a:t>Dana dari penjualan masuk ke </a:t>
          </a:r>
          <a:r>
            <a:rPr lang="en-US" b="1"/>
            <a:t>emiten</a:t>
          </a:r>
          <a:r>
            <a:rPr lang="en-US"/>
            <a:t>.</a:t>
          </a:r>
        </a:p>
      </dgm:t>
    </dgm:pt>
    <dgm:pt modelId="{69DCB9DF-FBB7-464B-81A5-8B103F68536B}" type="parTrans" cxnId="{FA0E2544-6811-4468-846E-D04FEA2A6B6D}">
      <dgm:prSet/>
      <dgm:spPr/>
      <dgm:t>
        <a:bodyPr/>
        <a:lstStyle/>
        <a:p>
          <a:endParaRPr lang="en-US"/>
        </a:p>
      </dgm:t>
    </dgm:pt>
    <dgm:pt modelId="{A3BAF665-B309-42B7-B87A-CE6D548EAA77}" type="sibTrans" cxnId="{FA0E2544-6811-4468-846E-D04FEA2A6B6D}">
      <dgm:prSet/>
      <dgm:spPr/>
      <dgm:t>
        <a:bodyPr/>
        <a:lstStyle/>
        <a:p>
          <a:endParaRPr lang="en-US"/>
        </a:p>
      </dgm:t>
    </dgm:pt>
    <dgm:pt modelId="{B97EEFB6-2470-460D-8859-66D730A4D1B2}">
      <dgm:prSet/>
      <dgm:spPr/>
      <dgm:t>
        <a:bodyPr/>
        <a:lstStyle/>
        <a:p>
          <a:r>
            <a:rPr lang="en-US" b="1"/>
            <a:t>IPO</a:t>
          </a:r>
          <a:r>
            <a:rPr lang="en-US"/>
            <a:t>: proses perusahaan menjual saham untuk pertama kali.</a:t>
          </a:r>
        </a:p>
      </dgm:t>
    </dgm:pt>
    <dgm:pt modelId="{41373BE0-B825-4EC9-84BD-D732EFD1D294}" type="parTrans" cxnId="{28F26997-134D-484D-A7A6-C7A723F244A3}">
      <dgm:prSet/>
      <dgm:spPr/>
      <dgm:t>
        <a:bodyPr/>
        <a:lstStyle/>
        <a:p>
          <a:endParaRPr lang="en-US"/>
        </a:p>
      </dgm:t>
    </dgm:pt>
    <dgm:pt modelId="{22E097A3-356A-46A9-8820-0BBE7DF2552A}" type="sibTrans" cxnId="{28F26997-134D-484D-A7A6-C7A723F244A3}">
      <dgm:prSet/>
      <dgm:spPr/>
      <dgm:t>
        <a:bodyPr/>
        <a:lstStyle/>
        <a:p>
          <a:endParaRPr lang="en-US"/>
        </a:p>
      </dgm:t>
    </dgm:pt>
    <dgm:pt modelId="{BA2A7C4E-49E7-4178-B2E1-49CB054E1370}">
      <dgm:prSet/>
      <dgm:spPr/>
      <dgm:t>
        <a:bodyPr/>
        <a:lstStyle/>
        <a:p>
          <a:r>
            <a:rPr lang="en-US" b="1"/>
            <a:t>Private Placement</a:t>
          </a:r>
          <a:r>
            <a:rPr lang="en-US"/>
            <a:t>: penjualan sekuritas kepada investor terbatas.</a:t>
          </a:r>
          <a:br>
            <a:rPr lang="en-US"/>
          </a:br>
          <a:endParaRPr lang="en-US"/>
        </a:p>
      </dgm:t>
    </dgm:pt>
    <dgm:pt modelId="{32118DB0-44DB-4CEB-85DC-606F475C3E34}" type="parTrans" cxnId="{F056A024-51A5-4D24-88C8-970C7295C41F}">
      <dgm:prSet/>
      <dgm:spPr/>
      <dgm:t>
        <a:bodyPr/>
        <a:lstStyle/>
        <a:p>
          <a:endParaRPr lang="en-US"/>
        </a:p>
      </dgm:t>
    </dgm:pt>
    <dgm:pt modelId="{B79DB2A7-1C28-4709-B178-C2195B625CA5}" type="sibTrans" cxnId="{F056A024-51A5-4D24-88C8-970C7295C41F}">
      <dgm:prSet/>
      <dgm:spPr/>
      <dgm:t>
        <a:bodyPr/>
        <a:lstStyle/>
        <a:p>
          <a:endParaRPr lang="en-US"/>
        </a:p>
      </dgm:t>
    </dgm:pt>
    <dgm:pt modelId="{52CEB2B8-71FE-47A9-B14E-741C1FE8F665}" type="pres">
      <dgm:prSet presAssocID="{7BD26A47-B589-4BD1-B5BE-45648F5E7970}" presName="matrix" presStyleCnt="0">
        <dgm:presLayoutVars>
          <dgm:chMax val="1"/>
          <dgm:dir/>
          <dgm:resizeHandles val="exact"/>
        </dgm:presLayoutVars>
      </dgm:prSet>
      <dgm:spPr/>
    </dgm:pt>
    <dgm:pt modelId="{DF036665-5DC0-4264-A37B-F81927C096B8}" type="pres">
      <dgm:prSet presAssocID="{7BD26A47-B589-4BD1-B5BE-45648F5E7970}" presName="diamond" presStyleLbl="bgShp" presStyleIdx="0" presStyleCnt="1"/>
      <dgm:spPr/>
    </dgm:pt>
    <dgm:pt modelId="{F14FDFEB-12FC-437A-A5D8-BEA0B8346FD7}" type="pres">
      <dgm:prSet presAssocID="{7BD26A47-B589-4BD1-B5BE-45648F5E797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22019DE-0F55-4670-A777-C398DEEB88E9}" type="pres">
      <dgm:prSet presAssocID="{7BD26A47-B589-4BD1-B5BE-45648F5E797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D2CC59C-7539-48FB-A5B8-ADC4899D5D7B}" type="pres">
      <dgm:prSet presAssocID="{7BD26A47-B589-4BD1-B5BE-45648F5E797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74598B1-36F0-4F0C-92EE-65165A804C34}" type="pres">
      <dgm:prSet presAssocID="{7BD26A47-B589-4BD1-B5BE-45648F5E797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867AE0C-A026-4AD2-8698-7036BC3CBF56}" type="presOf" srcId="{B97EEFB6-2470-460D-8859-66D730A4D1B2}" destId="{CD2CC59C-7539-48FB-A5B8-ADC4899D5D7B}" srcOrd="0" destOrd="0" presId="urn:microsoft.com/office/officeart/2005/8/layout/matrix3"/>
    <dgm:cxn modelId="{EFD5B122-5EF1-48FC-AB71-DB71663DE0BA}" type="presOf" srcId="{36281E88-4B2B-4388-B6AA-61EAA5AB45B0}" destId="{822019DE-0F55-4670-A777-C398DEEB88E9}" srcOrd="0" destOrd="0" presId="urn:microsoft.com/office/officeart/2005/8/layout/matrix3"/>
    <dgm:cxn modelId="{F056A024-51A5-4D24-88C8-970C7295C41F}" srcId="{7BD26A47-B589-4BD1-B5BE-45648F5E7970}" destId="{BA2A7C4E-49E7-4178-B2E1-49CB054E1370}" srcOrd="3" destOrd="0" parTransId="{32118DB0-44DB-4CEB-85DC-606F475C3E34}" sibTransId="{B79DB2A7-1C28-4709-B178-C2195B625CA5}"/>
    <dgm:cxn modelId="{FA0E2544-6811-4468-846E-D04FEA2A6B6D}" srcId="{7BD26A47-B589-4BD1-B5BE-45648F5E7970}" destId="{36281E88-4B2B-4388-B6AA-61EAA5AB45B0}" srcOrd="1" destOrd="0" parTransId="{69DCB9DF-FBB7-464B-81A5-8B103F68536B}" sibTransId="{A3BAF665-B309-42B7-B87A-CE6D548EAA77}"/>
    <dgm:cxn modelId="{28F26997-134D-484D-A7A6-C7A723F244A3}" srcId="{7BD26A47-B589-4BD1-B5BE-45648F5E7970}" destId="{B97EEFB6-2470-460D-8859-66D730A4D1B2}" srcOrd="2" destOrd="0" parTransId="{41373BE0-B825-4EC9-84BD-D732EFD1D294}" sibTransId="{22E097A3-356A-46A9-8820-0BBE7DF2552A}"/>
    <dgm:cxn modelId="{D609C6A2-3F3D-4D09-928A-7F6900F41191}" type="presOf" srcId="{BA2A7C4E-49E7-4178-B2E1-49CB054E1370}" destId="{474598B1-36F0-4F0C-92EE-65165A804C34}" srcOrd="0" destOrd="0" presId="urn:microsoft.com/office/officeart/2005/8/layout/matrix3"/>
    <dgm:cxn modelId="{65C6BFB2-4C21-4CD8-B57F-7BA7375BDC8D}" type="presOf" srcId="{7BD26A47-B589-4BD1-B5BE-45648F5E7970}" destId="{52CEB2B8-71FE-47A9-B14E-741C1FE8F665}" srcOrd="0" destOrd="0" presId="urn:microsoft.com/office/officeart/2005/8/layout/matrix3"/>
    <dgm:cxn modelId="{08541ACE-3019-4B29-A79E-7511D4EF0FE0}" srcId="{7BD26A47-B589-4BD1-B5BE-45648F5E7970}" destId="{F3A14DFC-ACC3-48E3-A4A0-9582B6627789}" srcOrd="0" destOrd="0" parTransId="{45AFA3DD-F6FB-4A8C-8CD2-234C08AD2D82}" sibTransId="{3351CA98-B7EB-48B5-87E0-1267353F5B7C}"/>
    <dgm:cxn modelId="{45A4EEE5-67D0-4B5E-B081-C46F483F7B0E}" type="presOf" srcId="{F3A14DFC-ACC3-48E3-A4A0-9582B6627789}" destId="{F14FDFEB-12FC-437A-A5D8-BEA0B8346FD7}" srcOrd="0" destOrd="0" presId="urn:microsoft.com/office/officeart/2005/8/layout/matrix3"/>
    <dgm:cxn modelId="{4DE9D7B7-243C-4E47-9505-9CBE88774874}" type="presParOf" srcId="{52CEB2B8-71FE-47A9-B14E-741C1FE8F665}" destId="{DF036665-5DC0-4264-A37B-F81927C096B8}" srcOrd="0" destOrd="0" presId="urn:microsoft.com/office/officeart/2005/8/layout/matrix3"/>
    <dgm:cxn modelId="{B8EB88ED-0E03-4562-AF4E-1E1FB58D4FAA}" type="presParOf" srcId="{52CEB2B8-71FE-47A9-B14E-741C1FE8F665}" destId="{F14FDFEB-12FC-437A-A5D8-BEA0B8346FD7}" srcOrd="1" destOrd="0" presId="urn:microsoft.com/office/officeart/2005/8/layout/matrix3"/>
    <dgm:cxn modelId="{5780C998-7835-4D20-8320-713DE50B68CB}" type="presParOf" srcId="{52CEB2B8-71FE-47A9-B14E-741C1FE8F665}" destId="{822019DE-0F55-4670-A777-C398DEEB88E9}" srcOrd="2" destOrd="0" presId="urn:microsoft.com/office/officeart/2005/8/layout/matrix3"/>
    <dgm:cxn modelId="{C4B3C09C-7D14-4962-B40F-2EBE5CAB9752}" type="presParOf" srcId="{52CEB2B8-71FE-47A9-B14E-741C1FE8F665}" destId="{CD2CC59C-7539-48FB-A5B8-ADC4899D5D7B}" srcOrd="3" destOrd="0" presId="urn:microsoft.com/office/officeart/2005/8/layout/matrix3"/>
    <dgm:cxn modelId="{C092AAB8-5B8E-4E3F-B0FA-3F5A25DE606A}" type="presParOf" srcId="{52CEB2B8-71FE-47A9-B14E-741C1FE8F665}" destId="{474598B1-36F0-4F0C-92EE-65165A804C3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1F9E15-9BCB-47EC-810D-935E57EB36A2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00F5AAC-DB39-49C4-836C-E582A855DD03}">
      <dgm:prSet/>
      <dgm:spPr/>
      <dgm:t>
        <a:bodyPr/>
        <a:lstStyle/>
        <a:p>
          <a:r>
            <a:rPr lang="en-US"/>
            <a:t>Perdagangan sekuritas setelah IPO.</a:t>
          </a:r>
        </a:p>
      </dgm:t>
    </dgm:pt>
    <dgm:pt modelId="{B39BF686-A52F-40FD-B067-FA9372E9B102}" type="parTrans" cxnId="{B43A5DCE-7D48-4D4F-BB90-2A98285FDE40}">
      <dgm:prSet/>
      <dgm:spPr/>
      <dgm:t>
        <a:bodyPr/>
        <a:lstStyle/>
        <a:p>
          <a:endParaRPr lang="en-US"/>
        </a:p>
      </dgm:t>
    </dgm:pt>
    <dgm:pt modelId="{7877B97C-32BC-4C32-BCAC-8134336D0065}" type="sibTrans" cxnId="{B43A5DCE-7D48-4D4F-BB90-2A98285FDE40}">
      <dgm:prSet/>
      <dgm:spPr/>
      <dgm:t>
        <a:bodyPr/>
        <a:lstStyle/>
        <a:p>
          <a:endParaRPr lang="en-US"/>
        </a:p>
      </dgm:t>
    </dgm:pt>
    <dgm:pt modelId="{DBFEC609-AFBE-4AD1-B1E3-4BEEFB8CC021}">
      <dgm:prSet/>
      <dgm:spPr/>
      <dgm:t>
        <a:bodyPr/>
        <a:lstStyle/>
        <a:p>
          <a:r>
            <a:rPr lang="en-US"/>
            <a:t>Tidak menambah dana bagi emiten.</a:t>
          </a:r>
        </a:p>
      </dgm:t>
    </dgm:pt>
    <dgm:pt modelId="{6C09ABFC-2A31-451E-901F-B30E18BBF378}" type="parTrans" cxnId="{6A7A1D21-BF5D-43EB-9CC7-948D0CF467D1}">
      <dgm:prSet/>
      <dgm:spPr/>
      <dgm:t>
        <a:bodyPr/>
        <a:lstStyle/>
        <a:p>
          <a:endParaRPr lang="en-US"/>
        </a:p>
      </dgm:t>
    </dgm:pt>
    <dgm:pt modelId="{723AB77F-1D2F-4200-B03B-AC797CD347EA}" type="sibTrans" cxnId="{6A7A1D21-BF5D-43EB-9CC7-948D0CF467D1}">
      <dgm:prSet/>
      <dgm:spPr/>
      <dgm:t>
        <a:bodyPr/>
        <a:lstStyle/>
        <a:p>
          <a:endParaRPr lang="en-US"/>
        </a:p>
      </dgm:t>
    </dgm:pt>
    <dgm:pt modelId="{7276B2DE-A7A4-4534-8688-A2D23633F935}">
      <dgm:prSet/>
      <dgm:spPr/>
      <dgm:t>
        <a:bodyPr/>
        <a:lstStyle/>
        <a:p>
          <a:r>
            <a:rPr lang="en-US"/>
            <a:t>Harga pada pasar sekunder mencerminkan penilaian pasar terhadap nilai perusahaan.</a:t>
          </a:r>
        </a:p>
      </dgm:t>
    </dgm:pt>
    <dgm:pt modelId="{82B56D88-9C31-44D2-A8AD-ACA173A336CA}" type="parTrans" cxnId="{10C6F0D6-5188-46AD-A9F9-6BEE27AB7501}">
      <dgm:prSet/>
      <dgm:spPr/>
      <dgm:t>
        <a:bodyPr/>
        <a:lstStyle/>
        <a:p>
          <a:endParaRPr lang="en-US"/>
        </a:p>
      </dgm:t>
    </dgm:pt>
    <dgm:pt modelId="{6A20C0B8-021D-4A62-825D-9F1D2D07B6C0}" type="sibTrans" cxnId="{10C6F0D6-5188-46AD-A9F9-6BEE27AB7501}">
      <dgm:prSet/>
      <dgm:spPr/>
      <dgm:t>
        <a:bodyPr/>
        <a:lstStyle/>
        <a:p>
          <a:endParaRPr lang="en-US"/>
        </a:p>
      </dgm:t>
    </dgm:pt>
    <dgm:pt modelId="{A69B3C13-FDAB-45BB-8ED2-1043075C969C}">
      <dgm:prSet/>
      <dgm:spPr/>
      <dgm:t>
        <a:bodyPr/>
        <a:lstStyle/>
        <a:p>
          <a:r>
            <a:rPr lang="en-US"/>
            <a:t>Likuiditas memungkinkan investor masuk/keluar kapan saja.</a:t>
          </a:r>
          <a:br>
            <a:rPr lang="en-US"/>
          </a:br>
          <a:endParaRPr lang="en-US"/>
        </a:p>
      </dgm:t>
    </dgm:pt>
    <dgm:pt modelId="{3705CDFF-7924-43A0-BBAD-5CFA43D16BC1}" type="parTrans" cxnId="{8A314847-29CE-4A89-9832-7732537267F6}">
      <dgm:prSet/>
      <dgm:spPr/>
      <dgm:t>
        <a:bodyPr/>
        <a:lstStyle/>
        <a:p>
          <a:endParaRPr lang="en-US"/>
        </a:p>
      </dgm:t>
    </dgm:pt>
    <dgm:pt modelId="{F81B3EEE-5C23-4AD1-842D-FEB7C634765A}" type="sibTrans" cxnId="{8A314847-29CE-4A89-9832-7732537267F6}">
      <dgm:prSet/>
      <dgm:spPr/>
      <dgm:t>
        <a:bodyPr/>
        <a:lstStyle/>
        <a:p>
          <a:endParaRPr lang="en-US"/>
        </a:p>
      </dgm:t>
    </dgm:pt>
    <dgm:pt modelId="{D2E59466-D119-4E91-8EC2-D4EB468E6EDC}" type="pres">
      <dgm:prSet presAssocID="{0E1F9E15-9BCB-47EC-810D-935E57EB36A2}" presName="matrix" presStyleCnt="0">
        <dgm:presLayoutVars>
          <dgm:chMax val="1"/>
          <dgm:dir/>
          <dgm:resizeHandles val="exact"/>
        </dgm:presLayoutVars>
      </dgm:prSet>
      <dgm:spPr/>
    </dgm:pt>
    <dgm:pt modelId="{47BFD3F5-90F6-4618-A9F2-BD69863E0BA7}" type="pres">
      <dgm:prSet presAssocID="{0E1F9E15-9BCB-47EC-810D-935E57EB36A2}" presName="diamond" presStyleLbl="bgShp" presStyleIdx="0" presStyleCnt="1"/>
      <dgm:spPr/>
    </dgm:pt>
    <dgm:pt modelId="{283E8E83-B76D-44A9-AF47-80864AE9EB5B}" type="pres">
      <dgm:prSet presAssocID="{0E1F9E15-9BCB-47EC-810D-935E57EB36A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4601F2B-0729-4651-BE77-EE50F6B340B1}" type="pres">
      <dgm:prSet presAssocID="{0E1F9E15-9BCB-47EC-810D-935E57EB36A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EEB80A1-F3FB-4510-97E5-F1F0D825BC54}" type="pres">
      <dgm:prSet presAssocID="{0E1F9E15-9BCB-47EC-810D-935E57EB36A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0ADD56-7986-428F-B39B-53ADD3AE542C}" type="pres">
      <dgm:prSet presAssocID="{0E1F9E15-9BCB-47EC-810D-935E57EB36A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7ED7007-0342-45E1-AC9B-A120B1795AA0}" type="presOf" srcId="{7276B2DE-A7A4-4534-8688-A2D23633F935}" destId="{FEEB80A1-F3FB-4510-97E5-F1F0D825BC54}" srcOrd="0" destOrd="0" presId="urn:microsoft.com/office/officeart/2005/8/layout/matrix3"/>
    <dgm:cxn modelId="{6A7A1D21-BF5D-43EB-9CC7-948D0CF467D1}" srcId="{0E1F9E15-9BCB-47EC-810D-935E57EB36A2}" destId="{DBFEC609-AFBE-4AD1-B1E3-4BEEFB8CC021}" srcOrd="1" destOrd="0" parTransId="{6C09ABFC-2A31-451E-901F-B30E18BBF378}" sibTransId="{723AB77F-1D2F-4200-B03B-AC797CD347EA}"/>
    <dgm:cxn modelId="{1764EC22-EC18-4B22-BB61-59747261D8BC}" type="presOf" srcId="{A69B3C13-FDAB-45BB-8ED2-1043075C969C}" destId="{160ADD56-7986-428F-B39B-53ADD3AE542C}" srcOrd="0" destOrd="0" presId="urn:microsoft.com/office/officeart/2005/8/layout/matrix3"/>
    <dgm:cxn modelId="{8A314847-29CE-4A89-9832-7732537267F6}" srcId="{0E1F9E15-9BCB-47EC-810D-935E57EB36A2}" destId="{A69B3C13-FDAB-45BB-8ED2-1043075C969C}" srcOrd="3" destOrd="0" parTransId="{3705CDFF-7924-43A0-BBAD-5CFA43D16BC1}" sibTransId="{F81B3EEE-5C23-4AD1-842D-FEB7C634765A}"/>
    <dgm:cxn modelId="{A258707E-E24A-4A34-92C1-A770006C5B24}" type="presOf" srcId="{F00F5AAC-DB39-49C4-836C-E582A855DD03}" destId="{283E8E83-B76D-44A9-AF47-80864AE9EB5B}" srcOrd="0" destOrd="0" presId="urn:microsoft.com/office/officeart/2005/8/layout/matrix3"/>
    <dgm:cxn modelId="{B32969A3-1071-4EC9-8845-123F4249817D}" type="presOf" srcId="{DBFEC609-AFBE-4AD1-B1E3-4BEEFB8CC021}" destId="{F4601F2B-0729-4651-BE77-EE50F6B340B1}" srcOrd="0" destOrd="0" presId="urn:microsoft.com/office/officeart/2005/8/layout/matrix3"/>
    <dgm:cxn modelId="{B43A5DCE-7D48-4D4F-BB90-2A98285FDE40}" srcId="{0E1F9E15-9BCB-47EC-810D-935E57EB36A2}" destId="{F00F5AAC-DB39-49C4-836C-E582A855DD03}" srcOrd="0" destOrd="0" parTransId="{B39BF686-A52F-40FD-B067-FA9372E9B102}" sibTransId="{7877B97C-32BC-4C32-BCAC-8134336D0065}"/>
    <dgm:cxn modelId="{E8A499D2-4D4B-4CDA-AB03-B91272E12955}" type="presOf" srcId="{0E1F9E15-9BCB-47EC-810D-935E57EB36A2}" destId="{D2E59466-D119-4E91-8EC2-D4EB468E6EDC}" srcOrd="0" destOrd="0" presId="urn:microsoft.com/office/officeart/2005/8/layout/matrix3"/>
    <dgm:cxn modelId="{10C6F0D6-5188-46AD-A9F9-6BEE27AB7501}" srcId="{0E1F9E15-9BCB-47EC-810D-935E57EB36A2}" destId="{7276B2DE-A7A4-4534-8688-A2D23633F935}" srcOrd="2" destOrd="0" parTransId="{82B56D88-9C31-44D2-A8AD-ACA173A336CA}" sibTransId="{6A20C0B8-021D-4A62-825D-9F1D2D07B6C0}"/>
    <dgm:cxn modelId="{A6C4D3DD-30CF-4648-8426-ECE10A580F92}" type="presParOf" srcId="{D2E59466-D119-4E91-8EC2-D4EB468E6EDC}" destId="{47BFD3F5-90F6-4618-A9F2-BD69863E0BA7}" srcOrd="0" destOrd="0" presId="urn:microsoft.com/office/officeart/2005/8/layout/matrix3"/>
    <dgm:cxn modelId="{3AFF4D7F-EADE-4D1A-AE3C-555C4312E6A4}" type="presParOf" srcId="{D2E59466-D119-4E91-8EC2-D4EB468E6EDC}" destId="{283E8E83-B76D-44A9-AF47-80864AE9EB5B}" srcOrd="1" destOrd="0" presId="urn:microsoft.com/office/officeart/2005/8/layout/matrix3"/>
    <dgm:cxn modelId="{1EC666B5-881A-4A82-ADD7-FF0E36FFB175}" type="presParOf" srcId="{D2E59466-D119-4E91-8EC2-D4EB468E6EDC}" destId="{F4601F2B-0729-4651-BE77-EE50F6B340B1}" srcOrd="2" destOrd="0" presId="urn:microsoft.com/office/officeart/2005/8/layout/matrix3"/>
    <dgm:cxn modelId="{D4DD6002-F443-430E-9882-20508467F32E}" type="presParOf" srcId="{D2E59466-D119-4E91-8EC2-D4EB468E6EDC}" destId="{FEEB80A1-F3FB-4510-97E5-F1F0D825BC54}" srcOrd="3" destOrd="0" presId="urn:microsoft.com/office/officeart/2005/8/layout/matrix3"/>
    <dgm:cxn modelId="{D87149AE-3438-45D3-8AF1-7B101E3A8C12}" type="presParOf" srcId="{D2E59466-D119-4E91-8EC2-D4EB468E6EDC}" destId="{160ADD56-7986-428F-B39B-53ADD3AE542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B7A1F5-D554-4D3A-BB86-B78519D9406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8220E2-F3EF-46AF-9DD4-E6E332CCC9B7}">
      <dgm:prSet/>
      <dgm:spPr/>
      <dgm:t>
        <a:bodyPr/>
        <a:lstStyle/>
        <a:p>
          <a:r>
            <a:rPr lang="en-US" b="1"/>
            <a:t>Indeks harga saham</a:t>
          </a:r>
          <a:r>
            <a:rPr lang="en-US"/>
            <a:t>: ukuran kinerja pasar secara keseluruhan.</a:t>
          </a:r>
        </a:p>
      </dgm:t>
    </dgm:pt>
    <dgm:pt modelId="{FB03D683-1905-4BC3-A5B1-72BB0B6A0CC6}" type="parTrans" cxnId="{F6567E1C-1375-4ABD-BF73-23F198F8BFAF}">
      <dgm:prSet/>
      <dgm:spPr/>
      <dgm:t>
        <a:bodyPr/>
        <a:lstStyle/>
        <a:p>
          <a:endParaRPr lang="en-US"/>
        </a:p>
      </dgm:t>
    </dgm:pt>
    <dgm:pt modelId="{746309A3-70FB-4FDA-9F2B-C96E31A9A9C7}" type="sibTrans" cxnId="{F6567E1C-1375-4ABD-BF73-23F198F8BFA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357BF7C7-FCA8-452E-886E-FB032752513D}">
      <dgm:prSet/>
      <dgm:spPr/>
      <dgm:t>
        <a:bodyPr/>
        <a:lstStyle/>
        <a:p>
          <a:r>
            <a:rPr lang="en-US"/>
            <a:t>Digunakan untuk:</a:t>
          </a:r>
        </a:p>
      </dgm:t>
    </dgm:pt>
    <dgm:pt modelId="{D2AAB6C8-AAFE-4FF9-A3D0-E613C2AD8BBB}" type="parTrans" cxnId="{49F285B4-1865-451E-B1FA-DC2E7BC909F0}">
      <dgm:prSet/>
      <dgm:spPr/>
      <dgm:t>
        <a:bodyPr/>
        <a:lstStyle/>
        <a:p>
          <a:endParaRPr lang="en-US"/>
        </a:p>
      </dgm:t>
    </dgm:pt>
    <dgm:pt modelId="{0CF84B3B-DC29-4F67-8E3B-DC2936352A0D}" type="sibTrans" cxnId="{49F285B4-1865-451E-B1FA-DC2E7BC909F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3754FF3-C77D-45FC-A856-D6B060749071}">
      <dgm:prSet/>
      <dgm:spPr/>
      <dgm:t>
        <a:bodyPr/>
        <a:lstStyle/>
        <a:p>
          <a:r>
            <a:rPr lang="en-US"/>
            <a:t>Benchmark investasi</a:t>
          </a:r>
        </a:p>
      </dgm:t>
    </dgm:pt>
    <dgm:pt modelId="{765A91A5-C67D-4595-A472-F9A5F3F2C1C0}" type="parTrans" cxnId="{7075A300-3C3A-4C23-9E2D-F82C4E8E0DA4}">
      <dgm:prSet/>
      <dgm:spPr/>
      <dgm:t>
        <a:bodyPr/>
        <a:lstStyle/>
        <a:p>
          <a:endParaRPr lang="en-US"/>
        </a:p>
      </dgm:t>
    </dgm:pt>
    <dgm:pt modelId="{49FFC9C2-4BF8-466A-9C00-A885D96DF57A}" type="sibTrans" cxnId="{7075A300-3C3A-4C23-9E2D-F82C4E8E0DA4}">
      <dgm:prSet/>
      <dgm:spPr/>
      <dgm:t>
        <a:bodyPr/>
        <a:lstStyle/>
        <a:p>
          <a:endParaRPr lang="en-US"/>
        </a:p>
      </dgm:t>
    </dgm:pt>
    <dgm:pt modelId="{5C8F4AC6-1D06-44AD-873B-B4ADD3F5E6CE}">
      <dgm:prSet/>
      <dgm:spPr/>
      <dgm:t>
        <a:bodyPr/>
        <a:lstStyle/>
        <a:p>
          <a:r>
            <a:rPr lang="en-US"/>
            <a:t>Analisis tren pasar</a:t>
          </a:r>
        </a:p>
      </dgm:t>
    </dgm:pt>
    <dgm:pt modelId="{870AAF17-A235-4975-8FE7-777D2D5215D2}" type="parTrans" cxnId="{CA95638C-6FE4-4D0A-88BC-6F8BE990198D}">
      <dgm:prSet/>
      <dgm:spPr/>
      <dgm:t>
        <a:bodyPr/>
        <a:lstStyle/>
        <a:p>
          <a:endParaRPr lang="en-US"/>
        </a:p>
      </dgm:t>
    </dgm:pt>
    <dgm:pt modelId="{5705FE4E-8396-4D77-96BF-0D2BEBE7F5C5}" type="sibTrans" cxnId="{CA95638C-6FE4-4D0A-88BC-6F8BE990198D}">
      <dgm:prSet/>
      <dgm:spPr/>
      <dgm:t>
        <a:bodyPr/>
        <a:lstStyle/>
        <a:p>
          <a:endParaRPr lang="en-US"/>
        </a:p>
      </dgm:t>
    </dgm:pt>
    <dgm:pt modelId="{26140950-2F91-47D0-B20B-0B7A4EB2745C}">
      <dgm:prSet/>
      <dgm:spPr/>
      <dgm:t>
        <a:bodyPr/>
        <a:lstStyle/>
        <a:p>
          <a:r>
            <a:rPr lang="en-US"/>
            <a:t>Penilaian kinerja portofolio</a:t>
          </a:r>
        </a:p>
      </dgm:t>
    </dgm:pt>
    <dgm:pt modelId="{4C79DF05-F937-4693-815D-C851F850010A}" type="parTrans" cxnId="{02BDAD8C-EB1F-4FA8-846A-9E984B736C03}">
      <dgm:prSet/>
      <dgm:spPr/>
      <dgm:t>
        <a:bodyPr/>
        <a:lstStyle/>
        <a:p>
          <a:endParaRPr lang="en-US"/>
        </a:p>
      </dgm:t>
    </dgm:pt>
    <dgm:pt modelId="{CE5F00D9-F945-40E4-873D-8DE52A7A2955}" type="sibTrans" cxnId="{02BDAD8C-EB1F-4FA8-846A-9E984B736C03}">
      <dgm:prSet/>
      <dgm:spPr/>
      <dgm:t>
        <a:bodyPr/>
        <a:lstStyle/>
        <a:p>
          <a:endParaRPr lang="en-US"/>
        </a:p>
      </dgm:t>
    </dgm:pt>
    <dgm:pt modelId="{1DC9EB4F-C119-4566-B4E1-F9950C8B7585}">
      <dgm:prSet/>
      <dgm:spPr/>
      <dgm:t>
        <a:bodyPr/>
        <a:lstStyle/>
        <a:p>
          <a:r>
            <a:rPr lang="en-US" b="1" dirty="0"/>
            <a:t>Jenis </a:t>
          </a:r>
          <a:r>
            <a:rPr lang="en-US" b="1" dirty="0" err="1"/>
            <a:t>indeks</a:t>
          </a:r>
          <a:r>
            <a:rPr lang="en-US" b="1" dirty="0"/>
            <a:t>:</a:t>
          </a:r>
          <a:endParaRPr lang="en-US" dirty="0"/>
        </a:p>
      </dgm:t>
    </dgm:pt>
    <dgm:pt modelId="{6325C286-82F8-4CEC-909B-E4119237A2D4}" type="parTrans" cxnId="{7137EBD9-BFF0-46B6-A678-8488329F4E65}">
      <dgm:prSet/>
      <dgm:spPr/>
      <dgm:t>
        <a:bodyPr/>
        <a:lstStyle/>
        <a:p>
          <a:endParaRPr lang="en-US"/>
        </a:p>
      </dgm:t>
    </dgm:pt>
    <dgm:pt modelId="{247A086E-D734-4DFE-8D34-AFF9ABFA3415}" type="sibTrans" cxnId="{7137EBD9-BFF0-46B6-A678-8488329F4E6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F8C9426-9BF5-4F03-B5D7-7E5B10D37650}">
      <dgm:prSet/>
      <dgm:spPr/>
      <dgm:t>
        <a:bodyPr/>
        <a:lstStyle/>
        <a:p>
          <a:r>
            <a:rPr lang="en-US" b="1"/>
            <a:t>Price-weighted</a:t>
          </a:r>
          <a:r>
            <a:rPr lang="en-US"/>
            <a:t>: Dow Jones</a:t>
          </a:r>
        </a:p>
      </dgm:t>
    </dgm:pt>
    <dgm:pt modelId="{4850E089-7273-4B2A-A14F-E90B8D0B657B}" type="parTrans" cxnId="{DDBA087C-7B5C-46F0-81F4-C38F9A01DC26}">
      <dgm:prSet/>
      <dgm:spPr/>
      <dgm:t>
        <a:bodyPr/>
        <a:lstStyle/>
        <a:p>
          <a:endParaRPr lang="en-US"/>
        </a:p>
      </dgm:t>
    </dgm:pt>
    <dgm:pt modelId="{D6091DEE-0C00-46BE-A827-D6C8D522C691}" type="sibTrans" cxnId="{DDBA087C-7B5C-46F0-81F4-C38F9A01DC26}">
      <dgm:prSet/>
      <dgm:spPr/>
      <dgm:t>
        <a:bodyPr/>
        <a:lstStyle/>
        <a:p>
          <a:endParaRPr lang="en-US"/>
        </a:p>
      </dgm:t>
    </dgm:pt>
    <dgm:pt modelId="{55D76B50-E537-430C-A09C-050AAE377EED}">
      <dgm:prSet/>
      <dgm:spPr/>
      <dgm:t>
        <a:bodyPr/>
        <a:lstStyle/>
        <a:p>
          <a:r>
            <a:rPr lang="en-US" b="1" dirty="0"/>
            <a:t>Value-weighted</a:t>
          </a:r>
          <a:r>
            <a:rPr lang="en-US" dirty="0"/>
            <a:t>: S&amp;P 500, IDX Composite</a:t>
          </a:r>
          <a:br>
            <a:rPr lang="en-US" dirty="0"/>
          </a:br>
          <a:endParaRPr lang="en-US" dirty="0"/>
        </a:p>
      </dgm:t>
    </dgm:pt>
    <dgm:pt modelId="{B8105718-BF54-49FD-B7EA-F67AB23AECB9}" type="parTrans" cxnId="{E8843437-C440-46F4-9BF0-76A5A300EA6F}">
      <dgm:prSet/>
      <dgm:spPr/>
      <dgm:t>
        <a:bodyPr/>
        <a:lstStyle/>
        <a:p>
          <a:endParaRPr lang="en-US"/>
        </a:p>
      </dgm:t>
    </dgm:pt>
    <dgm:pt modelId="{1C3CF7DF-C338-4287-A822-05F7F6F07FA9}" type="sibTrans" cxnId="{E8843437-C440-46F4-9BF0-76A5A300EA6F}">
      <dgm:prSet/>
      <dgm:spPr/>
      <dgm:t>
        <a:bodyPr/>
        <a:lstStyle/>
        <a:p>
          <a:endParaRPr lang="en-US"/>
        </a:p>
      </dgm:t>
    </dgm:pt>
    <dgm:pt modelId="{A144AA2A-E592-40EB-A461-D0725077F2E6}" type="pres">
      <dgm:prSet presAssocID="{C5B7A1F5-D554-4D3A-BB86-B78519D94066}" presName="Name0" presStyleCnt="0">
        <dgm:presLayoutVars>
          <dgm:animLvl val="lvl"/>
          <dgm:resizeHandles val="exact"/>
        </dgm:presLayoutVars>
      </dgm:prSet>
      <dgm:spPr/>
    </dgm:pt>
    <dgm:pt modelId="{1E3F25B0-71EA-4161-AB9F-962DB236C914}" type="pres">
      <dgm:prSet presAssocID="{BE8220E2-F3EF-46AF-9DD4-E6E332CCC9B7}" presName="compositeNode" presStyleCnt="0">
        <dgm:presLayoutVars>
          <dgm:bulletEnabled val="1"/>
        </dgm:presLayoutVars>
      </dgm:prSet>
      <dgm:spPr/>
    </dgm:pt>
    <dgm:pt modelId="{B750A0BE-BFE1-4B68-989D-A6CB1835EAAB}" type="pres">
      <dgm:prSet presAssocID="{BE8220E2-F3EF-46AF-9DD4-E6E332CCC9B7}" presName="bgRect" presStyleLbl="alignNode1" presStyleIdx="0" presStyleCnt="3"/>
      <dgm:spPr/>
    </dgm:pt>
    <dgm:pt modelId="{AE8E1E38-244C-4CFF-8FB5-F465B9D760E0}" type="pres">
      <dgm:prSet presAssocID="{746309A3-70FB-4FDA-9F2B-C96E31A9A9C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6C6FA639-1628-4BFC-AF73-5A014B66AA1F}" type="pres">
      <dgm:prSet presAssocID="{BE8220E2-F3EF-46AF-9DD4-E6E332CCC9B7}" presName="nodeRect" presStyleLbl="alignNode1" presStyleIdx="0" presStyleCnt="3">
        <dgm:presLayoutVars>
          <dgm:bulletEnabled val="1"/>
        </dgm:presLayoutVars>
      </dgm:prSet>
      <dgm:spPr/>
    </dgm:pt>
    <dgm:pt modelId="{3F87FD6B-8E47-4C2B-9C11-9061C0F0402A}" type="pres">
      <dgm:prSet presAssocID="{746309A3-70FB-4FDA-9F2B-C96E31A9A9C7}" presName="sibTrans" presStyleCnt="0"/>
      <dgm:spPr/>
    </dgm:pt>
    <dgm:pt modelId="{35495380-2A1B-49FB-9946-F9F26FBEC08F}" type="pres">
      <dgm:prSet presAssocID="{357BF7C7-FCA8-452E-886E-FB032752513D}" presName="compositeNode" presStyleCnt="0">
        <dgm:presLayoutVars>
          <dgm:bulletEnabled val="1"/>
        </dgm:presLayoutVars>
      </dgm:prSet>
      <dgm:spPr/>
    </dgm:pt>
    <dgm:pt modelId="{70F585E4-D4DF-4B41-9D3B-AEFCFEBEF40A}" type="pres">
      <dgm:prSet presAssocID="{357BF7C7-FCA8-452E-886E-FB032752513D}" presName="bgRect" presStyleLbl="alignNode1" presStyleIdx="1" presStyleCnt="3"/>
      <dgm:spPr/>
    </dgm:pt>
    <dgm:pt modelId="{B02E5A3A-2D86-4B9C-A7E3-CB95D9CD9797}" type="pres">
      <dgm:prSet presAssocID="{0CF84B3B-DC29-4F67-8E3B-DC2936352A0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EBF41AA7-104D-4F57-9A28-471144D467A2}" type="pres">
      <dgm:prSet presAssocID="{357BF7C7-FCA8-452E-886E-FB032752513D}" presName="nodeRect" presStyleLbl="alignNode1" presStyleIdx="1" presStyleCnt="3">
        <dgm:presLayoutVars>
          <dgm:bulletEnabled val="1"/>
        </dgm:presLayoutVars>
      </dgm:prSet>
      <dgm:spPr/>
    </dgm:pt>
    <dgm:pt modelId="{ADFB2C87-2C0E-4579-8BC6-7C397230218D}" type="pres">
      <dgm:prSet presAssocID="{0CF84B3B-DC29-4F67-8E3B-DC2936352A0D}" presName="sibTrans" presStyleCnt="0"/>
      <dgm:spPr/>
    </dgm:pt>
    <dgm:pt modelId="{036E4B0E-1688-41C8-AD24-072478E14C8A}" type="pres">
      <dgm:prSet presAssocID="{1DC9EB4F-C119-4566-B4E1-F9950C8B7585}" presName="compositeNode" presStyleCnt="0">
        <dgm:presLayoutVars>
          <dgm:bulletEnabled val="1"/>
        </dgm:presLayoutVars>
      </dgm:prSet>
      <dgm:spPr/>
    </dgm:pt>
    <dgm:pt modelId="{E4626C82-75B0-42AF-A919-5FD896CF7FF6}" type="pres">
      <dgm:prSet presAssocID="{1DC9EB4F-C119-4566-B4E1-F9950C8B7585}" presName="bgRect" presStyleLbl="alignNode1" presStyleIdx="2" presStyleCnt="3"/>
      <dgm:spPr/>
    </dgm:pt>
    <dgm:pt modelId="{C5692B89-BAEB-4FE2-93F7-711AA6537F42}" type="pres">
      <dgm:prSet presAssocID="{247A086E-D734-4DFE-8D34-AFF9ABFA3415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368B671E-C47A-4B34-8BFF-2007F5AFFC54}" type="pres">
      <dgm:prSet presAssocID="{1DC9EB4F-C119-4566-B4E1-F9950C8B7585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075A300-3C3A-4C23-9E2D-F82C4E8E0DA4}" srcId="{357BF7C7-FCA8-452E-886E-FB032752513D}" destId="{83754FF3-C77D-45FC-A856-D6B060749071}" srcOrd="0" destOrd="0" parTransId="{765A91A5-C67D-4595-A472-F9A5F3F2C1C0}" sibTransId="{49FFC9C2-4BF8-466A-9C00-A885D96DF57A}"/>
    <dgm:cxn modelId="{45F4AE02-7F7E-4D9B-85CE-A89D883FF4A4}" type="presOf" srcId="{BE8220E2-F3EF-46AF-9DD4-E6E332CCC9B7}" destId="{6C6FA639-1628-4BFC-AF73-5A014B66AA1F}" srcOrd="1" destOrd="0" presId="urn:microsoft.com/office/officeart/2016/7/layout/LinearBlockProcessNumbered"/>
    <dgm:cxn modelId="{F6567E1C-1375-4ABD-BF73-23F198F8BFAF}" srcId="{C5B7A1F5-D554-4D3A-BB86-B78519D94066}" destId="{BE8220E2-F3EF-46AF-9DD4-E6E332CCC9B7}" srcOrd="0" destOrd="0" parTransId="{FB03D683-1905-4BC3-A5B1-72BB0B6A0CC6}" sibTransId="{746309A3-70FB-4FDA-9F2B-C96E31A9A9C7}"/>
    <dgm:cxn modelId="{8A577D22-BA71-4BE8-95C3-B815B9EE156F}" type="presOf" srcId="{746309A3-70FB-4FDA-9F2B-C96E31A9A9C7}" destId="{AE8E1E38-244C-4CFF-8FB5-F465B9D760E0}" srcOrd="0" destOrd="0" presId="urn:microsoft.com/office/officeart/2016/7/layout/LinearBlockProcessNumbered"/>
    <dgm:cxn modelId="{E8843437-C440-46F4-9BF0-76A5A300EA6F}" srcId="{1DC9EB4F-C119-4566-B4E1-F9950C8B7585}" destId="{55D76B50-E537-430C-A09C-050AAE377EED}" srcOrd="1" destOrd="0" parTransId="{B8105718-BF54-49FD-B7EA-F67AB23AECB9}" sibTransId="{1C3CF7DF-C338-4287-A822-05F7F6F07FA9}"/>
    <dgm:cxn modelId="{3848D264-1D32-4BEB-891F-6DD1E43148F3}" type="presOf" srcId="{5C8F4AC6-1D06-44AD-873B-B4ADD3F5E6CE}" destId="{EBF41AA7-104D-4F57-9A28-471144D467A2}" srcOrd="0" destOrd="2" presId="urn:microsoft.com/office/officeart/2016/7/layout/LinearBlockProcessNumbered"/>
    <dgm:cxn modelId="{8845444F-5BEA-4ED9-99B4-D537CB80A1CD}" type="presOf" srcId="{EF8C9426-9BF5-4F03-B5D7-7E5B10D37650}" destId="{368B671E-C47A-4B34-8BFF-2007F5AFFC54}" srcOrd="0" destOrd="1" presId="urn:microsoft.com/office/officeart/2016/7/layout/LinearBlockProcessNumbered"/>
    <dgm:cxn modelId="{C601D878-E907-4EF2-B35C-614E051CBC0C}" type="presOf" srcId="{83754FF3-C77D-45FC-A856-D6B060749071}" destId="{EBF41AA7-104D-4F57-9A28-471144D467A2}" srcOrd="0" destOrd="1" presId="urn:microsoft.com/office/officeart/2016/7/layout/LinearBlockProcessNumbered"/>
    <dgm:cxn modelId="{DDBA087C-7B5C-46F0-81F4-C38F9A01DC26}" srcId="{1DC9EB4F-C119-4566-B4E1-F9950C8B7585}" destId="{EF8C9426-9BF5-4F03-B5D7-7E5B10D37650}" srcOrd="0" destOrd="0" parTransId="{4850E089-7273-4B2A-A14F-E90B8D0B657B}" sibTransId="{D6091DEE-0C00-46BE-A827-D6C8D522C691}"/>
    <dgm:cxn modelId="{CA95638C-6FE4-4D0A-88BC-6F8BE990198D}" srcId="{357BF7C7-FCA8-452E-886E-FB032752513D}" destId="{5C8F4AC6-1D06-44AD-873B-B4ADD3F5E6CE}" srcOrd="1" destOrd="0" parTransId="{870AAF17-A235-4975-8FE7-777D2D5215D2}" sibTransId="{5705FE4E-8396-4D77-96BF-0D2BEBE7F5C5}"/>
    <dgm:cxn modelId="{02BDAD8C-EB1F-4FA8-846A-9E984B736C03}" srcId="{357BF7C7-FCA8-452E-886E-FB032752513D}" destId="{26140950-2F91-47D0-B20B-0B7A4EB2745C}" srcOrd="2" destOrd="0" parTransId="{4C79DF05-F937-4693-815D-C851F850010A}" sibTransId="{CE5F00D9-F945-40E4-873D-8DE52A7A2955}"/>
    <dgm:cxn modelId="{3A801398-963B-4A53-8FBB-2948856589F7}" type="presOf" srcId="{55D76B50-E537-430C-A09C-050AAE377EED}" destId="{368B671E-C47A-4B34-8BFF-2007F5AFFC54}" srcOrd="0" destOrd="2" presId="urn:microsoft.com/office/officeart/2016/7/layout/LinearBlockProcessNumbered"/>
    <dgm:cxn modelId="{6F9D839E-B653-4824-B188-82DD81A5E904}" type="presOf" srcId="{247A086E-D734-4DFE-8D34-AFF9ABFA3415}" destId="{C5692B89-BAEB-4FE2-93F7-711AA6537F42}" srcOrd="0" destOrd="0" presId="urn:microsoft.com/office/officeart/2016/7/layout/LinearBlockProcessNumbered"/>
    <dgm:cxn modelId="{FF5764B1-6637-4753-839D-D0BB40495D50}" type="presOf" srcId="{357BF7C7-FCA8-452E-886E-FB032752513D}" destId="{70F585E4-D4DF-4B41-9D3B-AEFCFEBEF40A}" srcOrd="0" destOrd="0" presId="urn:microsoft.com/office/officeart/2016/7/layout/LinearBlockProcessNumbered"/>
    <dgm:cxn modelId="{49F285B4-1865-451E-B1FA-DC2E7BC909F0}" srcId="{C5B7A1F5-D554-4D3A-BB86-B78519D94066}" destId="{357BF7C7-FCA8-452E-886E-FB032752513D}" srcOrd="1" destOrd="0" parTransId="{D2AAB6C8-AAFE-4FF9-A3D0-E613C2AD8BBB}" sibTransId="{0CF84B3B-DC29-4F67-8E3B-DC2936352A0D}"/>
    <dgm:cxn modelId="{AE9B8BB7-256E-4864-B0D6-B6C9A87A35DD}" type="presOf" srcId="{26140950-2F91-47D0-B20B-0B7A4EB2745C}" destId="{EBF41AA7-104D-4F57-9A28-471144D467A2}" srcOrd="0" destOrd="3" presId="urn:microsoft.com/office/officeart/2016/7/layout/LinearBlockProcessNumbered"/>
    <dgm:cxn modelId="{8C8D3CB8-C2F6-4DB4-83FE-CC79B16335DD}" type="presOf" srcId="{BE8220E2-F3EF-46AF-9DD4-E6E332CCC9B7}" destId="{B750A0BE-BFE1-4B68-989D-A6CB1835EAAB}" srcOrd="0" destOrd="0" presId="urn:microsoft.com/office/officeart/2016/7/layout/LinearBlockProcessNumbered"/>
    <dgm:cxn modelId="{29A892D7-266F-4643-B54B-4FCB3474ADED}" type="presOf" srcId="{0CF84B3B-DC29-4F67-8E3B-DC2936352A0D}" destId="{B02E5A3A-2D86-4B9C-A7E3-CB95D9CD9797}" srcOrd="0" destOrd="0" presId="urn:microsoft.com/office/officeart/2016/7/layout/LinearBlockProcessNumbered"/>
    <dgm:cxn modelId="{7137EBD9-BFF0-46B6-A678-8488329F4E65}" srcId="{C5B7A1F5-D554-4D3A-BB86-B78519D94066}" destId="{1DC9EB4F-C119-4566-B4E1-F9950C8B7585}" srcOrd="2" destOrd="0" parTransId="{6325C286-82F8-4CEC-909B-E4119237A2D4}" sibTransId="{247A086E-D734-4DFE-8D34-AFF9ABFA3415}"/>
    <dgm:cxn modelId="{ABC4B9DA-9CC9-4D8C-8D71-ABF07ABCA478}" type="presOf" srcId="{357BF7C7-FCA8-452E-886E-FB032752513D}" destId="{EBF41AA7-104D-4F57-9A28-471144D467A2}" srcOrd="1" destOrd="0" presId="urn:microsoft.com/office/officeart/2016/7/layout/LinearBlockProcessNumbered"/>
    <dgm:cxn modelId="{5C7746DF-78EC-4178-AA74-7A5BB6745726}" type="presOf" srcId="{1DC9EB4F-C119-4566-B4E1-F9950C8B7585}" destId="{368B671E-C47A-4B34-8BFF-2007F5AFFC54}" srcOrd="1" destOrd="0" presId="urn:microsoft.com/office/officeart/2016/7/layout/LinearBlockProcessNumbered"/>
    <dgm:cxn modelId="{AD8809E5-DB17-4AA9-8BC8-3906EFF81FCC}" type="presOf" srcId="{C5B7A1F5-D554-4D3A-BB86-B78519D94066}" destId="{A144AA2A-E592-40EB-A461-D0725077F2E6}" srcOrd="0" destOrd="0" presId="urn:microsoft.com/office/officeart/2016/7/layout/LinearBlockProcessNumbered"/>
    <dgm:cxn modelId="{533A16F1-20C9-448E-BA8A-878C1C95D60A}" type="presOf" srcId="{1DC9EB4F-C119-4566-B4E1-F9950C8B7585}" destId="{E4626C82-75B0-42AF-A919-5FD896CF7FF6}" srcOrd="0" destOrd="0" presId="urn:microsoft.com/office/officeart/2016/7/layout/LinearBlockProcessNumbered"/>
    <dgm:cxn modelId="{7B3E7D0E-CBE0-4AA2-8503-93CD4E7E7FE3}" type="presParOf" srcId="{A144AA2A-E592-40EB-A461-D0725077F2E6}" destId="{1E3F25B0-71EA-4161-AB9F-962DB236C914}" srcOrd="0" destOrd="0" presId="urn:microsoft.com/office/officeart/2016/7/layout/LinearBlockProcessNumbered"/>
    <dgm:cxn modelId="{BD887D4E-B7A3-4039-B56A-669A7ED5B1D7}" type="presParOf" srcId="{1E3F25B0-71EA-4161-AB9F-962DB236C914}" destId="{B750A0BE-BFE1-4B68-989D-A6CB1835EAAB}" srcOrd="0" destOrd="0" presId="urn:microsoft.com/office/officeart/2016/7/layout/LinearBlockProcessNumbered"/>
    <dgm:cxn modelId="{149B4A11-6EE4-4FCE-84A4-2039CD6F9719}" type="presParOf" srcId="{1E3F25B0-71EA-4161-AB9F-962DB236C914}" destId="{AE8E1E38-244C-4CFF-8FB5-F465B9D760E0}" srcOrd="1" destOrd="0" presId="urn:microsoft.com/office/officeart/2016/7/layout/LinearBlockProcessNumbered"/>
    <dgm:cxn modelId="{A14251D1-E319-413A-9995-FA00D5CED2FD}" type="presParOf" srcId="{1E3F25B0-71EA-4161-AB9F-962DB236C914}" destId="{6C6FA639-1628-4BFC-AF73-5A014B66AA1F}" srcOrd="2" destOrd="0" presId="urn:microsoft.com/office/officeart/2016/7/layout/LinearBlockProcessNumbered"/>
    <dgm:cxn modelId="{5C851CCB-2959-4FE9-A339-0C5FF3F06559}" type="presParOf" srcId="{A144AA2A-E592-40EB-A461-D0725077F2E6}" destId="{3F87FD6B-8E47-4C2B-9C11-9061C0F0402A}" srcOrd="1" destOrd="0" presId="urn:microsoft.com/office/officeart/2016/7/layout/LinearBlockProcessNumbered"/>
    <dgm:cxn modelId="{1E028B4E-25E1-4A33-87B2-C4878EEB92E6}" type="presParOf" srcId="{A144AA2A-E592-40EB-A461-D0725077F2E6}" destId="{35495380-2A1B-49FB-9946-F9F26FBEC08F}" srcOrd="2" destOrd="0" presId="urn:microsoft.com/office/officeart/2016/7/layout/LinearBlockProcessNumbered"/>
    <dgm:cxn modelId="{D4F15E67-6E45-42BE-8417-6447D3C76F80}" type="presParOf" srcId="{35495380-2A1B-49FB-9946-F9F26FBEC08F}" destId="{70F585E4-D4DF-4B41-9D3B-AEFCFEBEF40A}" srcOrd="0" destOrd="0" presId="urn:microsoft.com/office/officeart/2016/7/layout/LinearBlockProcessNumbered"/>
    <dgm:cxn modelId="{A191E477-CB47-4AB1-AEF9-80EEEA78FB03}" type="presParOf" srcId="{35495380-2A1B-49FB-9946-F9F26FBEC08F}" destId="{B02E5A3A-2D86-4B9C-A7E3-CB95D9CD9797}" srcOrd="1" destOrd="0" presId="urn:microsoft.com/office/officeart/2016/7/layout/LinearBlockProcessNumbered"/>
    <dgm:cxn modelId="{094C248A-726C-4375-AEE4-E7E8423F4D5D}" type="presParOf" srcId="{35495380-2A1B-49FB-9946-F9F26FBEC08F}" destId="{EBF41AA7-104D-4F57-9A28-471144D467A2}" srcOrd="2" destOrd="0" presId="urn:microsoft.com/office/officeart/2016/7/layout/LinearBlockProcessNumbered"/>
    <dgm:cxn modelId="{0A63F42D-D0EC-4031-A8AD-901038F6B826}" type="presParOf" srcId="{A144AA2A-E592-40EB-A461-D0725077F2E6}" destId="{ADFB2C87-2C0E-4579-8BC6-7C397230218D}" srcOrd="3" destOrd="0" presId="urn:microsoft.com/office/officeart/2016/7/layout/LinearBlockProcessNumbered"/>
    <dgm:cxn modelId="{221661B2-0DA9-4F35-B298-3EA9A542A9EE}" type="presParOf" srcId="{A144AA2A-E592-40EB-A461-D0725077F2E6}" destId="{036E4B0E-1688-41C8-AD24-072478E14C8A}" srcOrd="4" destOrd="0" presId="urn:microsoft.com/office/officeart/2016/7/layout/LinearBlockProcessNumbered"/>
    <dgm:cxn modelId="{0C8FBB96-D2BC-4FDC-8F95-626073DE5460}" type="presParOf" srcId="{036E4B0E-1688-41C8-AD24-072478E14C8A}" destId="{E4626C82-75B0-42AF-A919-5FD896CF7FF6}" srcOrd="0" destOrd="0" presId="urn:microsoft.com/office/officeart/2016/7/layout/LinearBlockProcessNumbered"/>
    <dgm:cxn modelId="{CE77D56B-11BE-4008-9247-040DA074AF06}" type="presParOf" srcId="{036E4B0E-1688-41C8-AD24-072478E14C8A}" destId="{C5692B89-BAEB-4FE2-93F7-711AA6537F42}" srcOrd="1" destOrd="0" presId="urn:microsoft.com/office/officeart/2016/7/layout/LinearBlockProcessNumbered"/>
    <dgm:cxn modelId="{132DB624-9701-4E59-B9FE-04360D68B275}" type="presParOf" srcId="{036E4B0E-1688-41C8-AD24-072478E14C8A}" destId="{368B671E-C47A-4B34-8BFF-2007F5AFFC5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248CFBE-66A4-489F-8949-D0BFE1D4D3C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5E87539-9513-4C25-89A2-68FD339DBD74}">
      <dgm:prSet/>
      <dgm:spPr/>
      <dgm:t>
        <a:bodyPr/>
        <a:lstStyle/>
        <a:p>
          <a:r>
            <a:rPr lang="en-US"/>
            <a:t>Tujuan regulasi:</a:t>
          </a:r>
        </a:p>
      </dgm:t>
    </dgm:pt>
    <dgm:pt modelId="{3D7B39A5-69F1-4911-8856-40912FE908C4}" type="parTrans" cxnId="{4AE335AA-1A22-48C6-8D73-E2B740CD588B}">
      <dgm:prSet/>
      <dgm:spPr/>
      <dgm:t>
        <a:bodyPr/>
        <a:lstStyle/>
        <a:p>
          <a:endParaRPr lang="en-US"/>
        </a:p>
      </dgm:t>
    </dgm:pt>
    <dgm:pt modelId="{651AC743-0790-4E1A-860A-F93720F97A45}" type="sibTrans" cxnId="{4AE335AA-1A22-48C6-8D73-E2B740CD588B}">
      <dgm:prSet/>
      <dgm:spPr/>
      <dgm:t>
        <a:bodyPr/>
        <a:lstStyle/>
        <a:p>
          <a:endParaRPr lang="en-US"/>
        </a:p>
      </dgm:t>
    </dgm:pt>
    <dgm:pt modelId="{1B6B1274-12DC-4276-8879-CEC29A797D0B}">
      <dgm:prSet/>
      <dgm:spPr/>
      <dgm:t>
        <a:bodyPr/>
        <a:lstStyle/>
        <a:p>
          <a:r>
            <a:rPr lang="en-US"/>
            <a:t>Menciptakan pasar yang </a:t>
          </a:r>
          <a:r>
            <a:rPr lang="en-US" b="1"/>
            <a:t>fair, transparan, dan efisien</a:t>
          </a:r>
          <a:r>
            <a:rPr lang="en-US"/>
            <a:t>.</a:t>
          </a:r>
        </a:p>
      </dgm:t>
    </dgm:pt>
    <dgm:pt modelId="{D4537FE4-C8EB-455E-935C-EA4C06F6D996}" type="parTrans" cxnId="{BBA348EC-FC1C-4F4D-9B89-D7FBB98A2DCE}">
      <dgm:prSet/>
      <dgm:spPr/>
      <dgm:t>
        <a:bodyPr/>
        <a:lstStyle/>
        <a:p>
          <a:endParaRPr lang="en-US"/>
        </a:p>
      </dgm:t>
    </dgm:pt>
    <dgm:pt modelId="{CE4CE073-E0A4-4542-9499-020583B25164}" type="sibTrans" cxnId="{BBA348EC-FC1C-4F4D-9B89-D7FBB98A2DCE}">
      <dgm:prSet/>
      <dgm:spPr/>
      <dgm:t>
        <a:bodyPr/>
        <a:lstStyle/>
        <a:p>
          <a:endParaRPr lang="en-US"/>
        </a:p>
      </dgm:t>
    </dgm:pt>
    <dgm:pt modelId="{E9C97748-4066-49E9-9AF6-6F7E4B786B77}">
      <dgm:prSet/>
      <dgm:spPr/>
      <dgm:t>
        <a:bodyPr/>
        <a:lstStyle/>
        <a:p>
          <a:r>
            <a:rPr lang="en-US"/>
            <a:t>Melindungi investor dari praktik manipulasi (market manipulation).</a:t>
          </a:r>
        </a:p>
      </dgm:t>
    </dgm:pt>
    <dgm:pt modelId="{AE1F0CA8-00ED-48D2-AE88-5B9D5F78A022}" type="parTrans" cxnId="{F0A2F426-4A90-4FAA-A679-1608541AA5BB}">
      <dgm:prSet/>
      <dgm:spPr/>
      <dgm:t>
        <a:bodyPr/>
        <a:lstStyle/>
        <a:p>
          <a:endParaRPr lang="en-US"/>
        </a:p>
      </dgm:t>
    </dgm:pt>
    <dgm:pt modelId="{DEBCBD0C-F4DB-4B3F-A1BF-D995EC2E8B43}" type="sibTrans" cxnId="{F0A2F426-4A90-4FAA-A679-1608541AA5BB}">
      <dgm:prSet/>
      <dgm:spPr/>
      <dgm:t>
        <a:bodyPr/>
        <a:lstStyle/>
        <a:p>
          <a:endParaRPr lang="en-US"/>
        </a:p>
      </dgm:t>
    </dgm:pt>
    <dgm:pt modelId="{574602E0-8C5C-42B6-840E-F8B508E356EC}">
      <dgm:prSet/>
      <dgm:spPr/>
      <dgm:t>
        <a:bodyPr/>
        <a:lstStyle/>
        <a:p>
          <a:r>
            <a:rPr lang="en-US"/>
            <a:t>Mengatur peran bursa, perusahaan sekuritas, lembaga kliring.</a:t>
          </a:r>
        </a:p>
      </dgm:t>
    </dgm:pt>
    <dgm:pt modelId="{663D5729-084B-4208-9F31-FF8B29759B9A}" type="parTrans" cxnId="{3C317CA6-03FE-44D1-9316-A00EFCAFDB5B}">
      <dgm:prSet/>
      <dgm:spPr/>
      <dgm:t>
        <a:bodyPr/>
        <a:lstStyle/>
        <a:p>
          <a:endParaRPr lang="en-US"/>
        </a:p>
      </dgm:t>
    </dgm:pt>
    <dgm:pt modelId="{BBAD4A26-5BB1-49BB-9850-C59961590C82}" type="sibTrans" cxnId="{3C317CA6-03FE-44D1-9316-A00EFCAFDB5B}">
      <dgm:prSet/>
      <dgm:spPr/>
      <dgm:t>
        <a:bodyPr/>
        <a:lstStyle/>
        <a:p>
          <a:endParaRPr lang="en-US"/>
        </a:p>
      </dgm:t>
    </dgm:pt>
    <dgm:pt modelId="{7D547EFB-C34C-4D23-9F5A-AA436D9278EE}">
      <dgm:prSet/>
      <dgm:spPr/>
      <dgm:t>
        <a:bodyPr/>
        <a:lstStyle/>
        <a:p>
          <a:r>
            <a:rPr lang="en-US" b="1"/>
            <a:t>Istilah penting:</a:t>
          </a:r>
          <a:endParaRPr lang="en-US"/>
        </a:p>
      </dgm:t>
    </dgm:pt>
    <dgm:pt modelId="{A73D0710-E94C-4AD5-A308-D26826E8523A}" type="parTrans" cxnId="{35AF8AA8-914B-4A14-ADF4-09AADD2B7C8C}">
      <dgm:prSet/>
      <dgm:spPr/>
      <dgm:t>
        <a:bodyPr/>
        <a:lstStyle/>
        <a:p>
          <a:endParaRPr lang="en-US"/>
        </a:p>
      </dgm:t>
    </dgm:pt>
    <dgm:pt modelId="{BFCE9D4E-D006-4621-A5F9-27DA94A1BD1A}" type="sibTrans" cxnId="{35AF8AA8-914B-4A14-ADF4-09AADD2B7C8C}">
      <dgm:prSet/>
      <dgm:spPr/>
      <dgm:t>
        <a:bodyPr/>
        <a:lstStyle/>
        <a:p>
          <a:endParaRPr lang="en-US"/>
        </a:p>
      </dgm:t>
    </dgm:pt>
    <dgm:pt modelId="{DD67C24D-5D43-4FB9-BBD5-BECB8CD0B8FE}">
      <dgm:prSet/>
      <dgm:spPr/>
      <dgm:t>
        <a:bodyPr/>
        <a:lstStyle/>
        <a:p>
          <a:r>
            <a:rPr lang="en-US" b="1"/>
            <a:t>Disclosure</a:t>
          </a:r>
          <a:r>
            <a:rPr lang="en-US"/>
            <a:t> → kewajiban pelaporan terbuka.</a:t>
          </a:r>
        </a:p>
      </dgm:t>
    </dgm:pt>
    <dgm:pt modelId="{D07F5CD6-E73A-4811-84F8-74E1024B9DA7}" type="parTrans" cxnId="{2851F0E4-401A-49BA-9C76-B5742B7C5293}">
      <dgm:prSet/>
      <dgm:spPr/>
      <dgm:t>
        <a:bodyPr/>
        <a:lstStyle/>
        <a:p>
          <a:endParaRPr lang="en-US"/>
        </a:p>
      </dgm:t>
    </dgm:pt>
    <dgm:pt modelId="{93759ED8-EEBB-42F0-B106-CF56D1EC7293}" type="sibTrans" cxnId="{2851F0E4-401A-49BA-9C76-B5742B7C5293}">
      <dgm:prSet/>
      <dgm:spPr/>
      <dgm:t>
        <a:bodyPr/>
        <a:lstStyle/>
        <a:p>
          <a:endParaRPr lang="en-US"/>
        </a:p>
      </dgm:t>
    </dgm:pt>
    <dgm:pt modelId="{BF756455-B52F-4A76-8C6B-ED5E59E5FAFD}">
      <dgm:prSet/>
      <dgm:spPr/>
      <dgm:t>
        <a:bodyPr/>
        <a:lstStyle/>
        <a:p>
          <a:r>
            <a:rPr lang="en-US" b="1"/>
            <a:t>Material information</a:t>
          </a:r>
          <a:r>
            <a:rPr lang="en-US"/>
            <a:t> → informasi yang memengaruhi keputusan investor.</a:t>
          </a:r>
        </a:p>
      </dgm:t>
    </dgm:pt>
    <dgm:pt modelId="{245AA413-697D-4260-B4A4-734E436041A2}" type="parTrans" cxnId="{AF0DFB58-F8DB-4ED6-9551-697F12703B41}">
      <dgm:prSet/>
      <dgm:spPr/>
      <dgm:t>
        <a:bodyPr/>
        <a:lstStyle/>
        <a:p>
          <a:endParaRPr lang="en-US"/>
        </a:p>
      </dgm:t>
    </dgm:pt>
    <dgm:pt modelId="{CEA4EB61-D3F5-4743-8497-E4CFBBBA0FE4}" type="sibTrans" cxnId="{AF0DFB58-F8DB-4ED6-9551-697F12703B41}">
      <dgm:prSet/>
      <dgm:spPr/>
      <dgm:t>
        <a:bodyPr/>
        <a:lstStyle/>
        <a:p>
          <a:endParaRPr lang="en-US"/>
        </a:p>
      </dgm:t>
    </dgm:pt>
    <dgm:pt modelId="{3C052315-D956-404A-967D-4F31A4395EE9}" type="pres">
      <dgm:prSet presAssocID="{3248CFBE-66A4-489F-8949-D0BFE1D4D3CD}" presName="linear" presStyleCnt="0">
        <dgm:presLayoutVars>
          <dgm:animLvl val="lvl"/>
          <dgm:resizeHandles val="exact"/>
        </dgm:presLayoutVars>
      </dgm:prSet>
      <dgm:spPr/>
    </dgm:pt>
    <dgm:pt modelId="{7E78DF64-113B-4C7F-83D0-6B7BDACAC574}" type="pres">
      <dgm:prSet presAssocID="{15E87539-9513-4C25-89A2-68FD339DBD7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14AF1C1-1ED3-4321-A1A1-094CBCB675BB}" type="pres">
      <dgm:prSet presAssocID="{15E87539-9513-4C25-89A2-68FD339DBD74}" presName="childText" presStyleLbl="revTx" presStyleIdx="0" presStyleCnt="2">
        <dgm:presLayoutVars>
          <dgm:bulletEnabled val="1"/>
        </dgm:presLayoutVars>
      </dgm:prSet>
      <dgm:spPr/>
    </dgm:pt>
    <dgm:pt modelId="{703DAD64-CB1E-4AAF-9A84-6389A9A229AC}" type="pres">
      <dgm:prSet presAssocID="{7D547EFB-C34C-4D23-9F5A-AA436D9278E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7B1B8A4-34B7-436C-BAFF-E3DD79575C1A}" type="pres">
      <dgm:prSet presAssocID="{7D547EFB-C34C-4D23-9F5A-AA436D9278E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3C89803-9D8C-4820-8984-984BE50BF308}" type="presOf" srcId="{15E87539-9513-4C25-89A2-68FD339DBD74}" destId="{7E78DF64-113B-4C7F-83D0-6B7BDACAC574}" srcOrd="0" destOrd="0" presId="urn:microsoft.com/office/officeart/2005/8/layout/vList2"/>
    <dgm:cxn modelId="{7DCEA30A-AD35-4EFE-886D-25EE8A8432A5}" type="presOf" srcId="{DD67C24D-5D43-4FB9-BBD5-BECB8CD0B8FE}" destId="{D7B1B8A4-34B7-436C-BAFF-E3DD79575C1A}" srcOrd="0" destOrd="0" presId="urn:microsoft.com/office/officeart/2005/8/layout/vList2"/>
    <dgm:cxn modelId="{A9B9C60C-961B-4FB1-BFB1-8028BC90F57D}" type="presOf" srcId="{7D547EFB-C34C-4D23-9F5A-AA436D9278EE}" destId="{703DAD64-CB1E-4AAF-9A84-6389A9A229AC}" srcOrd="0" destOrd="0" presId="urn:microsoft.com/office/officeart/2005/8/layout/vList2"/>
    <dgm:cxn modelId="{F0A2F426-4A90-4FAA-A679-1608541AA5BB}" srcId="{15E87539-9513-4C25-89A2-68FD339DBD74}" destId="{E9C97748-4066-49E9-9AF6-6F7E4B786B77}" srcOrd="1" destOrd="0" parTransId="{AE1F0CA8-00ED-48D2-AE88-5B9D5F78A022}" sibTransId="{DEBCBD0C-F4DB-4B3F-A1BF-D995EC2E8B43}"/>
    <dgm:cxn modelId="{DA4E692B-F07A-4BC7-9958-9D6AD8405108}" type="presOf" srcId="{3248CFBE-66A4-489F-8949-D0BFE1D4D3CD}" destId="{3C052315-D956-404A-967D-4F31A4395EE9}" srcOrd="0" destOrd="0" presId="urn:microsoft.com/office/officeart/2005/8/layout/vList2"/>
    <dgm:cxn modelId="{69302F42-7F7C-45C0-93A8-BE67129A60AF}" type="presOf" srcId="{BF756455-B52F-4A76-8C6B-ED5E59E5FAFD}" destId="{D7B1B8A4-34B7-436C-BAFF-E3DD79575C1A}" srcOrd="0" destOrd="1" presId="urn:microsoft.com/office/officeart/2005/8/layout/vList2"/>
    <dgm:cxn modelId="{437E6578-35BA-4555-B0A8-02F122B7EFA4}" type="presOf" srcId="{574602E0-8C5C-42B6-840E-F8B508E356EC}" destId="{814AF1C1-1ED3-4321-A1A1-094CBCB675BB}" srcOrd="0" destOrd="2" presId="urn:microsoft.com/office/officeart/2005/8/layout/vList2"/>
    <dgm:cxn modelId="{AF0DFB58-F8DB-4ED6-9551-697F12703B41}" srcId="{7D547EFB-C34C-4D23-9F5A-AA436D9278EE}" destId="{BF756455-B52F-4A76-8C6B-ED5E59E5FAFD}" srcOrd="1" destOrd="0" parTransId="{245AA413-697D-4260-B4A4-734E436041A2}" sibTransId="{CEA4EB61-D3F5-4743-8497-E4CFBBBA0FE4}"/>
    <dgm:cxn modelId="{3C317CA6-03FE-44D1-9316-A00EFCAFDB5B}" srcId="{15E87539-9513-4C25-89A2-68FD339DBD74}" destId="{574602E0-8C5C-42B6-840E-F8B508E356EC}" srcOrd="2" destOrd="0" parTransId="{663D5729-084B-4208-9F31-FF8B29759B9A}" sibTransId="{BBAD4A26-5BB1-49BB-9850-C59961590C82}"/>
    <dgm:cxn modelId="{35AF8AA8-914B-4A14-ADF4-09AADD2B7C8C}" srcId="{3248CFBE-66A4-489F-8949-D0BFE1D4D3CD}" destId="{7D547EFB-C34C-4D23-9F5A-AA436D9278EE}" srcOrd="1" destOrd="0" parTransId="{A73D0710-E94C-4AD5-A308-D26826E8523A}" sibTransId="{BFCE9D4E-D006-4621-A5F9-27DA94A1BD1A}"/>
    <dgm:cxn modelId="{4AE335AA-1A22-48C6-8D73-E2B740CD588B}" srcId="{3248CFBE-66A4-489F-8949-D0BFE1D4D3CD}" destId="{15E87539-9513-4C25-89A2-68FD339DBD74}" srcOrd="0" destOrd="0" parTransId="{3D7B39A5-69F1-4911-8856-40912FE908C4}" sibTransId="{651AC743-0790-4E1A-860A-F93720F97A45}"/>
    <dgm:cxn modelId="{2851F0E4-401A-49BA-9C76-B5742B7C5293}" srcId="{7D547EFB-C34C-4D23-9F5A-AA436D9278EE}" destId="{DD67C24D-5D43-4FB9-BBD5-BECB8CD0B8FE}" srcOrd="0" destOrd="0" parTransId="{D07F5CD6-E73A-4811-84F8-74E1024B9DA7}" sibTransId="{93759ED8-EEBB-42F0-B106-CF56D1EC7293}"/>
    <dgm:cxn modelId="{336EFAE8-7051-46A5-9833-D051EBE3ECB7}" type="presOf" srcId="{1B6B1274-12DC-4276-8879-CEC29A797D0B}" destId="{814AF1C1-1ED3-4321-A1A1-094CBCB675BB}" srcOrd="0" destOrd="0" presId="urn:microsoft.com/office/officeart/2005/8/layout/vList2"/>
    <dgm:cxn modelId="{BBA348EC-FC1C-4F4D-9B89-D7FBB98A2DCE}" srcId="{15E87539-9513-4C25-89A2-68FD339DBD74}" destId="{1B6B1274-12DC-4276-8879-CEC29A797D0B}" srcOrd="0" destOrd="0" parTransId="{D4537FE4-C8EB-455E-935C-EA4C06F6D996}" sibTransId="{CE4CE073-E0A4-4542-9499-020583B25164}"/>
    <dgm:cxn modelId="{0C7968ED-1B49-41FD-A25A-74E85E51346A}" type="presOf" srcId="{E9C97748-4066-49E9-9AF6-6F7E4B786B77}" destId="{814AF1C1-1ED3-4321-A1A1-094CBCB675BB}" srcOrd="0" destOrd="1" presId="urn:microsoft.com/office/officeart/2005/8/layout/vList2"/>
    <dgm:cxn modelId="{F9CCBAF1-5259-46C4-B47C-5887FE2515E0}" type="presParOf" srcId="{3C052315-D956-404A-967D-4F31A4395EE9}" destId="{7E78DF64-113B-4C7F-83D0-6B7BDACAC574}" srcOrd="0" destOrd="0" presId="urn:microsoft.com/office/officeart/2005/8/layout/vList2"/>
    <dgm:cxn modelId="{A712229B-3B80-4930-9DA3-1A8D0AA40F45}" type="presParOf" srcId="{3C052315-D956-404A-967D-4F31A4395EE9}" destId="{814AF1C1-1ED3-4321-A1A1-094CBCB675BB}" srcOrd="1" destOrd="0" presId="urn:microsoft.com/office/officeart/2005/8/layout/vList2"/>
    <dgm:cxn modelId="{10491D79-12A0-4DA4-AEA1-2E5695FCEEE4}" type="presParOf" srcId="{3C052315-D956-404A-967D-4F31A4395EE9}" destId="{703DAD64-CB1E-4AAF-9A84-6389A9A229AC}" srcOrd="2" destOrd="0" presId="urn:microsoft.com/office/officeart/2005/8/layout/vList2"/>
    <dgm:cxn modelId="{3C142EA8-7799-4307-A3C8-3443955A96C3}" type="presParOf" srcId="{3C052315-D956-404A-967D-4F31A4395EE9}" destId="{D7B1B8A4-34B7-436C-BAFF-E3DD79575C1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3816FE-2FA4-40AE-8565-F50CAE95243B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8BEA63-D301-43A3-8E90-ECC4F7C80876}">
      <dgm:prSet/>
      <dgm:spPr/>
      <dgm:t>
        <a:bodyPr/>
        <a:lstStyle/>
        <a:p>
          <a:r>
            <a:rPr lang="en-US" b="1"/>
            <a:t>Insider Trading</a:t>
          </a:r>
          <a:r>
            <a:rPr lang="en-US"/>
            <a:t>: transaksi berdasarkan informasi material non-publik.</a:t>
          </a:r>
        </a:p>
      </dgm:t>
    </dgm:pt>
    <dgm:pt modelId="{C1ABC52A-4348-4908-9C52-3D8E3BDCAE16}" type="parTrans" cxnId="{E42FEFDE-2386-4239-8662-E0A6A9903D0B}">
      <dgm:prSet/>
      <dgm:spPr/>
      <dgm:t>
        <a:bodyPr/>
        <a:lstStyle/>
        <a:p>
          <a:endParaRPr lang="en-US"/>
        </a:p>
      </dgm:t>
    </dgm:pt>
    <dgm:pt modelId="{8FAB6555-E2E0-4CB6-8704-E2AC73B1FEFE}" type="sibTrans" cxnId="{E42FEFDE-2386-4239-8662-E0A6A9903D0B}">
      <dgm:prSet/>
      <dgm:spPr/>
      <dgm:t>
        <a:bodyPr/>
        <a:lstStyle/>
        <a:p>
          <a:endParaRPr lang="en-US"/>
        </a:p>
      </dgm:t>
    </dgm:pt>
    <dgm:pt modelId="{23ED6D60-B989-4316-97F6-7536541818C8}">
      <dgm:prSet/>
      <dgm:spPr/>
      <dgm:t>
        <a:bodyPr/>
        <a:lstStyle/>
        <a:p>
          <a:r>
            <a:rPr lang="en-US"/>
            <a:t>Dilarang karena merugikan investor lain.</a:t>
          </a:r>
        </a:p>
      </dgm:t>
    </dgm:pt>
    <dgm:pt modelId="{E9AB29AA-57F2-46CC-A772-073BD407FC0D}" type="parTrans" cxnId="{F3EBE096-9CC6-40B9-B875-E3CFC84876BD}">
      <dgm:prSet/>
      <dgm:spPr/>
      <dgm:t>
        <a:bodyPr/>
        <a:lstStyle/>
        <a:p>
          <a:endParaRPr lang="en-US"/>
        </a:p>
      </dgm:t>
    </dgm:pt>
    <dgm:pt modelId="{15E4B587-C83E-4E5E-A07A-F2F3D0B0023B}" type="sibTrans" cxnId="{F3EBE096-9CC6-40B9-B875-E3CFC84876BD}">
      <dgm:prSet/>
      <dgm:spPr/>
      <dgm:t>
        <a:bodyPr/>
        <a:lstStyle/>
        <a:p>
          <a:endParaRPr lang="en-US"/>
        </a:p>
      </dgm:t>
    </dgm:pt>
    <dgm:pt modelId="{B87ADE39-4B3A-4F83-9D2C-FF3CA8C1F495}">
      <dgm:prSet/>
      <dgm:spPr/>
      <dgm:t>
        <a:bodyPr/>
        <a:lstStyle/>
        <a:p>
          <a:r>
            <a:rPr lang="en-US"/>
            <a:t>Contoh: manajer menjual saham sebelum laporan buruk dirilis.</a:t>
          </a:r>
          <a:br>
            <a:rPr lang="en-US"/>
          </a:br>
          <a:endParaRPr lang="en-US"/>
        </a:p>
      </dgm:t>
    </dgm:pt>
    <dgm:pt modelId="{5EE371A2-7693-4A07-B7E4-6D7D3F75380D}" type="parTrans" cxnId="{E4DB898F-0368-4794-B0A6-C04413643524}">
      <dgm:prSet/>
      <dgm:spPr/>
      <dgm:t>
        <a:bodyPr/>
        <a:lstStyle/>
        <a:p>
          <a:endParaRPr lang="en-US"/>
        </a:p>
      </dgm:t>
    </dgm:pt>
    <dgm:pt modelId="{D203FA0A-8C41-41A7-9DD8-B07A6D3F74C6}" type="sibTrans" cxnId="{E4DB898F-0368-4794-B0A6-C04413643524}">
      <dgm:prSet/>
      <dgm:spPr/>
      <dgm:t>
        <a:bodyPr/>
        <a:lstStyle/>
        <a:p>
          <a:endParaRPr lang="en-US"/>
        </a:p>
      </dgm:t>
    </dgm:pt>
    <dgm:pt modelId="{E51F7C0A-6266-4DB2-9BAF-A0ECF158C6C6}" type="pres">
      <dgm:prSet presAssocID="{9A3816FE-2FA4-40AE-8565-F50CAE95243B}" presName="vert0" presStyleCnt="0">
        <dgm:presLayoutVars>
          <dgm:dir/>
          <dgm:animOne val="branch"/>
          <dgm:animLvl val="lvl"/>
        </dgm:presLayoutVars>
      </dgm:prSet>
      <dgm:spPr/>
    </dgm:pt>
    <dgm:pt modelId="{EA0BAD07-21F6-4257-8863-398235DE5068}" type="pres">
      <dgm:prSet presAssocID="{9F8BEA63-D301-43A3-8E90-ECC4F7C80876}" presName="thickLine" presStyleLbl="alignNode1" presStyleIdx="0" presStyleCnt="3"/>
      <dgm:spPr/>
    </dgm:pt>
    <dgm:pt modelId="{338E5C70-E5F5-426F-B537-F1EBB5342A4B}" type="pres">
      <dgm:prSet presAssocID="{9F8BEA63-D301-43A3-8E90-ECC4F7C80876}" presName="horz1" presStyleCnt="0"/>
      <dgm:spPr/>
    </dgm:pt>
    <dgm:pt modelId="{E992BA1C-FA36-4126-BE65-26367D1B1856}" type="pres">
      <dgm:prSet presAssocID="{9F8BEA63-D301-43A3-8E90-ECC4F7C80876}" presName="tx1" presStyleLbl="revTx" presStyleIdx="0" presStyleCnt="3"/>
      <dgm:spPr/>
    </dgm:pt>
    <dgm:pt modelId="{A880E228-263F-4E27-92D4-2EC7E48FE31B}" type="pres">
      <dgm:prSet presAssocID="{9F8BEA63-D301-43A3-8E90-ECC4F7C80876}" presName="vert1" presStyleCnt="0"/>
      <dgm:spPr/>
    </dgm:pt>
    <dgm:pt modelId="{800F3C36-EC7F-4D96-9C0D-4833C471A2E0}" type="pres">
      <dgm:prSet presAssocID="{23ED6D60-B989-4316-97F6-7536541818C8}" presName="thickLine" presStyleLbl="alignNode1" presStyleIdx="1" presStyleCnt="3"/>
      <dgm:spPr/>
    </dgm:pt>
    <dgm:pt modelId="{B61E71F6-3CBF-4238-87F3-0FFFA371A24B}" type="pres">
      <dgm:prSet presAssocID="{23ED6D60-B989-4316-97F6-7536541818C8}" presName="horz1" presStyleCnt="0"/>
      <dgm:spPr/>
    </dgm:pt>
    <dgm:pt modelId="{34B3C387-5C1A-46CA-8DF0-692647D6297A}" type="pres">
      <dgm:prSet presAssocID="{23ED6D60-B989-4316-97F6-7536541818C8}" presName="tx1" presStyleLbl="revTx" presStyleIdx="1" presStyleCnt="3"/>
      <dgm:spPr/>
    </dgm:pt>
    <dgm:pt modelId="{DFB3E168-45EE-459D-842F-D0A44F3F402C}" type="pres">
      <dgm:prSet presAssocID="{23ED6D60-B989-4316-97F6-7536541818C8}" presName="vert1" presStyleCnt="0"/>
      <dgm:spPr/>
    </dgm:pt>
    <dgm:pt modelId="{5539062D-AD5C-4276-8340-8614F9B38752}" type="pres">
      <dgm:prSet presAssocID="{B87ADE39-4B3A-4F83-9D2C-FF3CA8C1F495}" presName="thickLine" presStyleLbl="alignNode1" presStyleIdx="2" presStyleCnt="3"/>
      <dgm:spPr/>
    </dgm:pt>
    <dgm:pt modelId="{111C4D18-05DB-4E2B-978F-BA7F30458F87}" type="pres">
      <dgm:prSet presAssocID="{B87ADE39-4B3A-4F83-9D2C-FF3CA8C1F495}" presName="horz1" presStyleCnt="0"/>
      <dgm:spPr/>
    </dgm:pt>
    <dgm:pt modelId="{CD3BE410-1CAB-4E88-A782-DEBF5683A963}" type="pres">
      <dgm:prSet presAssocID="{B87ADE39-4B3A-4F83-9D2C-FF3CA8C1F495}" presName="tx1" presStyleLbl="revTx" presStyleIdx="2" presStyleCnt="3"/>
      <dgm:spPr/>
    </dgm:pt>
    <dgm:pt modelId="{0D4A13A5-4F75-4A91-A63C-E5CA7A1ABE25}" type="pres">
      <dgm:prSet presAssocID="{B87ADE39-4B3A-4F83-9D2C-FF3CA8C1F495}" presName="vert1" presStyleCnt="0"/>
      <dgm:spPr/>
    </dgm:pt>
  </dgm:ptLst>
  <dgm:cxnLst>
    <dgm:cxn modelId="{CBD71224-3BCA-4A56-83EA-38091E939AD4}" type="presOf" srcId="{9A3816FE-2FA4-40AE-8565-F50CAE95243B}" destId="{E51F7C0A-6266-4DB2-9BAF-A0ECF158C6C6}" srcOrd="0" destOrd="0" presId="urn:microsoft.com/office/officeart/2008/layout/LinedList"/>
    <dgm:cxn modelId="{F6326471-957C-4915-A134-00C3C27D4AA1}" type="presOf" srcId="{B87ADE39-4B3A-4F83-9D2C-FF3CA8C1F495}" destId="{CD3BE410-1CAB-4E88-A782-DEBF5683A963}" srcOrd="0" destOrd="0" presId="urn:microsoft.com/office/officeart/2008/layout/LinedList"/>
    <dgm:cxn modelId="{E4DB898F-0368-4794-B0A6-C04413643524}" srcId="{9A3816FE-2FA4-40AE-8565-F50CAE95243B}" destId="{B87ADE39-4B3A-4F83-9D2C-FF3CA8C1F495}" srcOrd="2" destOrd="0" parTransId="{5EE371A2-7693-4A07-B7E4-6D7D3F75380D}" sibTransId="{D203FA0A-8C41-41A7-9DD8-B07A6D3F74C6}"/>
    <dgm:cxn modelId="{F3EBE096-9CC6-40B9-B875-E3CFC84876BD}" srcId="{9A3816FE-2FA4-40AE-8565-F50CAE95243B}" destId="{23ED6D60-B989-4316-97F6-7536541818C8}" srcOrd="1" destOrd="0" parTransId="{E9AB29AA-57F2-46CC-A772-073BD407FC0D}" sibTransId="{15E4B587-C83E-4E5E-A07A-F2F3D0B0023B}"/>
    <dgm:cxn modelId="{E54ADECA-4644-4A7D-B90C-BC2E6AD76302}" type="presOf" srcId="{23ED6D60-B989-4316-97F6-7536541818C8}" destId="{34B3C387-5C1A-46CA-8DF0-692647D6297A}" srcOrd="0" destOrd="0" presId="urn:microsoft.com/office/officeart/2008/layout/LinedList"/>
    <dgm:cxn modelId="{E42FEFDE-2386-4239-8662-E0A6A9903D0B}" srcId="{9A3816FE-2FA4-40AE-8565-F50CAE95243B}" destId="{9F8BEA63-D301-43A3-8E90-ECC4F7C80876}" srcOrd="0" destOrd="0" parTransId="{C1ABC52A-4348-4908-9C52-3D8E3BDCAE16}" sibTransId="{8FAB6555-E2E0-4CB6-8704-E2AC73B1FEFE}"/>
    <dgm:cxn modelId="{F67286DF-8064-458C-961D-A671AD100DA2}" type="presOf" srcId="{9F8BEA63-D301-43A3-8E90-ECC4F7C80876}" destId="{E992BA1C-FA36-4126-BE65-26367D1B1856}" srcOrd="0" destOrd="0" presId="urn:microsoft.com/office/officeart/2008/layout/LinedList"/>
    <dgm:cxn modelId="{2BB384FE-8769-4BE4-A6FF-64FECA5C544B}" type="presParOf" srcId="{E51F7C0A-6266-4DB2-9BAF-A0ECF158C6C6}" destId="{EA0BAD07-21F6-4257-8863-398235DE5068}" srcOrd="0" destOrd="0" presId="urn:microsoft.com/office/officeart/2008/layout/LinedList"/>
    <dgm:cxn modelId="{4B07B491-40EC-438C-BBA1-87055309AA88}" type="presParOf" srcId="{E51F7C0A-6266-4DB2-9BAF-A0ECF158C6C6}" destId="{338E5C70-E5F5-426F-B537-F1EBB5342A4B}" srcOrd="1" destOrd="0" presId="urn:microsoft.com/office/officeart/2008/layout/LinedList"/>
    <dgm:cxn modelId="{F11CA0CA-0796-496A-AE99-F86EFB93B018}" type="presParOf" srcId="{338E5C70-E5F5-426F-B537-F1EBB5342A4B}" destId="{E992BA1C-FA36-4126-BE65-26367D1B1856}" srcOrd="0" destOrd="0" presId="urn:microsoft.com/office/officeart/2008/layout/LinedList"/>
    <dgm:cxn modelId="{B42F4E0F-D1D0-499E-BCF3-64605FAB096B}" type="presParOf" srcId="{338E5C70-E5F5-426F-B537-F1EBB5342A4B}" destId="{A880E228-263F-4E27-92D4-2EC7E48FE31B}" srcOrd="1" destOrd="0" presId="urn:microsoft.com/office/officeart/2008/layout/LinedList"/>
    <dgm:cxn modelId="{627DDE9C-332F-49E3-A64C-FAF84290FC8F}" type="presParOf" srcId="{E51F7C0A-6266-4DB2-9BAF-A0ECF158C6C6}" destId="{800F3C36-EC7F-4D96-9C0D-4833C471A2E0}" srcOrd="2" destOrd="0" presId="urn:microsoft.com/office/officeart/2008/layout/LinedList"/>
    <dgm:cxn modelId="{1A44CD91-C1F3-4FFF-AA3E-337A7F5359F1}" type="presParOf" srcId="{E51F7C0A-6266-4DB2-9BAF-A0ECF158C6C6}" destId="{B61E71F6-3CBF-4238-87F3-0FFFA371A24B}" srcOrd="3" destOrd="0" presId="urn:microsoft.com/office/officeart/2008/layout/LinedList"/>
    <dgm:cxn modelId="{5F269E4B-D216-446F-95D3-EB98A9BD8754}" type="presParOf" srcId="{B61E71F6-3CBF-4238-87F3-0FFFA371A24B}" destId="{34B3C387-5C1A-46CA-8DF0-692647D6297A}" srcOrd="0" destOrd="0" presId="urn:microsoft.com/office/officeart/2008/layout/LinedList"/>
    <dgm:cxn modelId="{7E7F9162-C389-4636-BBFC-8AE1983E00E8}" type="presParOf" srcId="{B61E71F6-3CBF-4238-87F3-0FFFA371A24B}" destId="{DFB3E168-45EE-459D-842F-D0A44F3F402C}" srcOrd="1" destOrd="0" presId="urn:microsoft.com/office/officeart/2008/layout/LinedList"/>
    <dgm:cxn modelId="{7FE311CE-0B1C-4534-9881-BD0BE8DB1189}" type="presParOf" srcId="{E51F7C0A-6266-4DB2-9BAF-A0ECF158C6C6}" destId="{5539062D-AD5C-4276-8340-8614F9B38752}" srcOrd="4" destOrd="0" presId="urn:microsoft.com/office/officeart/2008/layout/LinedList"/>
    <dgm:cxn modelId="{7BF969C5-E9FB-4517-8F2A-C850AC34C0C3}" type="presParOf" srcId="{E51F7C0A-6266-4DB2-9BAF-A0ECF158C6C6}" destId="{111C4D18-05DB-4E2B-978F-BA7F30458F87}" srcOrd="5" destOrd="0" presId="urn:microsoft.com/office/officeart/2008/layout/LinedList"/>
    <dgm:cxn modelId="{55D5F876-3AEF-4B2B-9580-EEE4BB5BB4EF}" type="presParOf" srcId="{111C4D18-05DB-4E2B-978F-BA7F30458F87}" destId="{CD3BE410-1CAB-4E88-A782-DEBF5683A963}" srcOrd="0" destOrd="0" presId="urn:microsoft.com/office/officeart/2008/layout/LinedList"/>
    <dgm:cxn modelId="{489A3EC5-AA32-45C1-942F-C1824271082D}" type="presParOf" srcId="{111C4D18-05DB-4E2B-978F-BA7F30458F87}" destId="{0D4A13A5-4F75-4A91-A63C-E5CA7A1ABE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6281A56-74A2-4087-ADBB-55544BCB3696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BEDE18-458C-4BAE-B914-737494BEC3C8}">
      <dgm:prSet/>
      <dgm:spPr/>
      <dgm:t>
        <a:bodyPr/>
        <a:lstStyle/>
        <a:p>
          <a:r>
            <a:rPr lang="en-US" b="1"/>
            <a:t>Volatilitas</a:t>
          </a:r>
          <a:r>
            <a:rPr lang="en-US"/>
            <a:t>: tingkat fluktuasi harga sekuritas.</a:t>
          </a:r>
        </a:p>
      </dgm:t>
    </dgm:pt>
    <dgm:pt modelId="{4ACE1EE7-CE1B-466A-BA24-A79FB6CB9222}" type="parTrans" cxnId="{2305CFD3-8B64-4740-A4D6-E5CAEAFD9528}">
      <dgm:prSet/>
      <dgm:spPr/>
      <dgm:t>
        <a:bodyPr/>
        <a:lstStyle/>
        <a:p>
          <a:endParaRPr lang="en-US"/>
        </a:p>
      </dgm:t>
    </dgm:pt>
    <dgm:pt modelId="{455BABC1-E288-4D77-AA09-6CC8AF9726D4}" type="sibTrans" cxnId="{2305CFD3-8B64-4740-A4D6-E5CAEAFD9528}">
      <dgm:prSet/>
      <dgm:spPr/>
      <dgm:t>
        <a:bodyPr/>
        <a:lstStyle/>
        <a:p>
          <a:endParaRPr lang="en-US"/>
        </a:p>
      </dgm:t>
    </dgm:pt>
    <dgm:pt modelId="{C82FDF30-53E9-494C-A988-6177917C952B}">
      <dgm:prSet/>
      <dgm:spPr/>
      <dgm:t>
        <a:bodyPr/>
        <a:lstStyle/>
        <a:p>
          <a:r>
            <a:rPr lang="en-US"/>
            <a:t>Tinggi → risiko tinggi.</a:t>
          </a:r>
        </a:p>
      </dgm:t>
    </dgm:pt>
    <dgm:pt modelId="{1693A382-84C7-4DCC-825C-C0E0588C8125}" type="parTrans" cxnId="{16F7EE4E-D1BE-45DB-8891-460D3D10C7FE}">
      <dgm:prSet/>
      <dgm:spPr/>
      <dgm:t>
        <a:bodyPr/>
        <a:lstStyle/>
        <a:p>
          <a:endParaRPr lang="en-US"/>
        </a:p>
      </dgm:t>
    </dgm:pt>
    <dgm:pt modelId="{3B88E55D-BD49-49FF-AE52-E1BA43814366}" type="sibTrans" cxnId="{16F7EE4E-D1BE-45DB-8891-460D3D10C7FE}">
      <dgm:prSet/>
      <dgm:spPr/>
      <dgm:t>
        <a:bodyPr/>
        <a:lstStyle/>
        <a:p>
          <a:endParaRPr lang="en-US"/>
        </a:p>
      </dgm:t>
    </dgm:pt>
    <dgm:pt modelId="{77052FE4-C453-4FD3-907D-71ABA0F6044B}">
      <dgm:prSet/>
      <dgm:spPr/>
      <dgm:t>
        <a:bodyPr/>
        <a:lstStyle/>
        <a:p>
          <a:r>
            <a:rPr lang="en-US"/>
            <a:t>Penyebab:</a:t>
          </a:r>
        </a:p>
      </dgm:t>
    </dgm:pt>
    <dgm:pt modelId="{3247DA7E-1461-4A43-8DA2-F90C19B4D2BE}" type="parTrans" cxnId="{FF41FAD8-C454-44F0-BB66-FE0F261238D1}">
      <dgm:prSet/>
      <dgm:spPr/>
      <dgm:t>
        <a:bodyPr/>
        <a:lstStyle/>
        <a:p>
          <a:endParaRPr lang="en-US"/>
        </a:p>
      </dgm:t>
    </dgm:pt>
    <dgm:pt modelId="{FBC39ECC-CEDC-4C40-B127-570AF7F8B4A2}" type="sibTrans" cxnId="{FF41FAD8-C454-44F0-BB66-FE0F261238D1}">
      <dgm:prSet/>
      <dgm:spPr/>
      <dgm:t>
        <a:bodyPr/>
        <a:lstStyle/>
        <a:p>
          <a:endParaRPr lang="en-US"/>
        </a:p>
      </dgm:t>
    </dgm:pt>
    <dgm:pt modelId="{B50C9E9D-A308-4388-AF53-FC477B51851C}">
      <dgm:prSet/>
      <dgm:spPr/>
      <dgm:t>
        <a:bodyPr/>
        <a:lstStyle/>
        <a:p>
          <a:r>
            <a:rPr lang="en-US"/>
            <a:t>Berita mendadak</a:t>
          </a:r>
        </a:p>
      </dgm:t>
    </dgm:pt>
    <dgm:pt modelId="{C1D47573-446C-4B16-A8A2-1EC5ED6BA6DA}" type="parTrans" cxnId="{4DB30F7B-AC3E-4B56-9486-F1B4EDEFD035}">
      <dgm:prSet/>
      <dgm:spPr/>
      <dgm:t>
        <a:bodyPr/>
        <a:lstStyle/>
        <a:p>
          <a:endParaRPr lang="en-US"/>
        </a:p>
      </dgm:t>
    </dgm:pt>
    <dgm:pt modelId="{375F209B-5006-41A5-97C2-619E43B618C9}" type="sibTrans" cxnId="{4DB30F7B-AC3E-4B56-9486-F1B4EDEFD035}">
      <dgm:prSet/>
      <dgm:spPr/>
      <dgm:t>
        <a:bodyPr/>
        <a:lstStyle/>
        <a:p>
          <a:endParaRPr lang="en-US"/>
        </a:p>
      </dgm:t>
    </dgm:pt>
    <dgm:pt modelId="{9AC4B70E-2F68-47E3-A6D5-6EAF62269C64}">
      <dgm:prSet/>
      <dgm:spPr/>
      <dgm:t>
        <a:bodyPr/>
        <a:lstStyle/>
        <a:p>
          <a:r>
            <a:rPr lang="en-US"/>
            <a:t>Perubahan suku bunga</a:t>
          </a:r>
        </a:p>
      </dgm:t>
    </dgm:pt>
    <dgm:pt modelId="{922AAED1-FF57-46CF-BDF5-44B54CDA3B43}" type="parTrans" cxnId="{C5653030-FF8A-4BFA-B2FF-44D829AC4B7A}">
      <dgm:prSet/>
      <dgm:spPr/>
      <dgm:t>
        <a:bodyPr/>
        <a:lstStyle/>
        <a:p>
          <a:endParaRPr lang="en-US"/>
        </a:p>
      </dgm:t>
    </dgm:pt>
    <dgm:pt modelId="{8C607BB0-870E-476A-B581-5690D9225B3D}" type="sibTrans" cxnId="{C5653030-FF8A-4BFA-B2FF-44D829AC4B7A}">
      <dgm:prSet/>
      <dgm:spPr/>
      <dgm:t>
        <a:bodyPr/>
        <a:lstStyle/>
        <a:p>
          <a:endParaRPr lang="en-US"/>
        </a:p>
      </dgm:t>
    </dgm:pt>
    <dgm:pt modelId="{0F1D71BC-262F-43ED-A2E7-07987CB9A13E}">
      <dgm:prSet/>
      <dgm:spPr/>
      <dgm:t>
        <a:bodyPr/>
        <a:lstStyle/>
        <a:p>
          <a:r>
            <a:rPr lang="en-US"/>
            <a:t>Geopolitik</a:t>
          </a:r>
        </a:p>
      </dgm:t>
    </dgm:pt>
    <dgm:pt modelId="{27B596BE-F815-4A8C-8360-C486095A89B2}" type="parTrans" cxnId="{8B3CE26D-A129-4993-B05D-2BFD00E1A609}">
      <dgm:prSet/>
      <dgm:spPr/>
      <dgm:t>
        <a:bodyPr/>
        <a:lstStyle/>
        <a:p>
          <a:endParaRPr lang="en-US"/>
        </a:p>
      </dgm:t>
    </dgm:pt>
    <dgm:pt modelId="{189D4602-204E-4024-97E0-4B99A60F175B}" type="sibTrans" cxnId="{8B3CE26D-A129-4993-B05D-2BFD00E1A609}">
      <dgm:prSet/>
      <dgm:spPr/>
      <dgm:t>
        <a:bodyPr/>
        <a:lstStyle/>
        <a:p>
          <a:endParaRPr lang="en-US"/>
        </a:p>
      </dgm:t>
    </dgm:pt>
    <dgm:pt modelId="{C52F9344-220E-495F-8489-3F139BAA6496}">
      <dgm:prSet/>
      <dgm:spPr/>
      <dgm:t>
        <a:bodyPr/>
        <a:lstStyle/>
        <a:p>
          <a:r>
            <a:rPr lang="en-US"/>
            <a:t>Overreaction investor</a:t>
          </a:r>
        </a:p>
      </dgm:t>
    </dgm:pt>
    <dgm:pt modelId="{40E18365-EFD3-420F-AC17-17CE8114775E}" type="parTrans" cxnId="{37759116-54D4-4E95-AE09-4F7015558048}">
      <dgm:prSet/>
      <dgm:spPr/>
      <dgm:t>
        <a:bodyPr/>
        <a:lstStyle/>
        <a:p>
          <a:endParaRPr lang="en-US"/>
        </a:p>
      </dgm:t>
    </dgm:pt>
    <dgm:pt modelId="{113D7051-0FE5-4491-9DA5-76FBCE347BB5}" type="sibTrans" cxnId="{37759116-54D4-4E95-AE09-4F7015558048}">
      <dgm:prSet/>
      <dgm:spPr/>
      <dgm:t>
        <a:bodyPr/>
        <a:lstStyle/>
        <a:p>
          <a:endParaRPr lang="en-US"/>
        </a:p>
      </dgm:t>
    </dgm:pt>
    <dgm:pt modelId="{CFD549F5-A6F2-4261-BAB0-8F424FAE914F}" type="pres">
      <dgm:prSet presAssocID="{86281A56-74A2-4087-ADBB-55544BCB3696}" presName="Name0" presStyleCnt="0">
        <dgm:presLayoutVars>
          <dgm:dir/>
          <dgm:animLvl val="lvl"/>
          <dgm:resizeHandles val="exact"/>
        </dgm:presLayoutVars>
      </dgm:prSet>
      <dgm:spPr/>
    </dgm:pt>
    <dgm:pt modelId="{610C4D90-AADD-438A-A444-03A81502BF08}" type="pres">
      <dgm:prSet presAssocID="{77052FE4-C453-4FD3-907D-71ABA0F6044B}" presName="boxAndChildren" presStyleCnt="0"/>
      <dgm:spPr/>
    </dgm:pt>
    <dgm:pt modelId="{4E3A6648-E31B-47F2-8BAC-E0099A65B49A}" type="pres">
      <dgm:prSet presAssocID="{77052FE4-C453-4FD3-907D-71ABA0F6044B}" presName="parentTextBox" presStyleLbl="node1" presStyleIdx="0" presStyleCnt="3"/>
      <dgm:spPr/>
    </dgm:pt>
    <dgm:pt modelId="{CC4A04B8-0FC5-4EE2-845D-D20D3BA6BDC7}" type="pres">
      <dgm:prSet presAssocID="{77052FE4-C453-4FD3-907D-71ABA0F6044B}" presName="entireBox" presStyleLbl="node1" presStyleIdx="0" presStyleCnt="3"/>
      <dgm:spPr/>
    </dgm:pt>
    <dgm:pt modelId="{BCC494DE-271E-4BEE-9437-201FA9373F1B}" type="pres">
      <dgm:prSet presAssocID="{77052FE4-C453-4FD3-907D-71ABA0F6044B}" presName="descendantBox" presStyleCnt="0"/>
      <dgm:spPr/>
    </dgm:pt>
    <dgm:pt modelId="{09317F6B-2B44-48BC-858C-18F4735D8D02}" type="pres">
      <dgm:prSet presAssocID="{B50C9E9D-A308-4388-AF53-FC477B51851C}" presName="childTextBox" presStyleLbl="fgAccFollowNode1" presStyleIdx="0" presStyleCnt="4">
        <dgm:presLayoutVars>
          <dgm:bulletEnabled val="1"/>
        </dgm:presLayoutVars>
      </dgm:prSet>
      <dgm:spPr/>
    </dgm:pt>
    <dgm:pt modelId="{79BCB8CD-1AFD-4ED2-8F08-E331F63FB818}" type="pres">
      <dgm:prSet presAssocID="{9AC4B70E-2F68-47E3-A6D5-6EAF62269C64}" presName="childTextBox" presStyleLbl="fgAccFollowNode1" presStyleIdx="1" presStyleCnt="4">
        <dgm:presLayoutVars>
          <dgm:bulletEnabled val="1"/>
        </dgm:presLayoutVars>
      </dgm:prSet>
      <dgm:spPr/>
    </dgm:pt>
    <dgm:pt modelId="{56D63BC1-4F70-4A54-AB2B-446245740B61}" type="pres">
      <dgm:prSet presAssocID="{0F1D71BC-262F-43ED-A2E7-07987CB9A13E}" presName="childTextBox" presStyleLbl="fgAccFollowNode1" presStyleIdx="2" presStyleCnt="4">
        <dgm:presLayoutVars>
          <dgm:bulletEnabled val="1"/>
        </dgm:presLayoutVars>
      </dgm:prSet>
      <dgm:spPr/>
    </dgm:pt>
    <dgm:pt modelId="{01B658BF-5EF4-46A1-84E5-CB60C39B389C}" type="pres">
      <dgm:prSet presAssocID="{C52F9344-220E-495F-8489-3F139BAA6496}" presName="childTextBox" presStyleLbl="fgAccFollowNode1" presStyleIdx="3" presStyleCnt="4">
        <dgm:presLayoutVars>
          <dgm:bulletEnabled val="1"/>
        </dgm:presLayoutVars>
      </dgm:prSet>
      <dgm:spPr/>
    </dgm:pt>
    <dgm:pt modelId="{816733C5-1779-4091-8CC3-DACE21F17047}" type="pres">
      <dgm:prSet presAssocID="{3B88E55D-BD49-49FF-AE52-E1BA43814366}" presName="sp" presStyleCnt="0"/>
      <dgm:spPr/>
    </dgm:pt>
    <dgm:pt modelId="{7DFE1026-32C3-4684-A02E-9EE6AAE007BD}" type="pres">
      <dgm:prSet presAssocID="{C82FDF30-53E9-494C-A988-6177917C952B}" presName="arrowAndChildren" presStyleCnt="0"/>
      <dgm:spPr/>
    </dgm:pt>
    <dgm:pt modelId="{72A80988-02EA-4101-A884-59EB8CC7A40B}" type="pres">
      <dgm:prSet presAssocID="{C82FDF30-53E9-494C-A988-6177917C952B}" presName="parentTextArrow" presStyleLbl="node1" presStyleIdx="1" presStyleCnt="3"/>
      <dgm:spPr/>
    </dgm:pt>
    <dgm:pt modelId="{B4BE117F-59B6-4A29-80C7-9885E1EADCFD}" type="pres">
      <dgm:prSet presAssocID="{455BABC1-E288-4D77-AA09-6CC8AF9726D4}" presName="sp" presStyleCnt="0"/>
      <dgm:spPr/>
    </dgm:pt>
    <dgm:pt modelId="{0CDDB5A3-320D-46C2-A2D3-5793B32BB2C1}" type="pres">
      <dgm:prSet presAssocID="{0DBEDE18-458C-4BAE-B914-737494BEC3C8}" presName="arrowAndChildren" presStyleCnt="0"/>
      <dgm:spPr/>
    </dgm:pt>
    <dgm:pt modelId="{EE19A225-30EF-4CE6-B709-82A7F5CD538C}" type="pres">
      <dgm:prSet presAssocID="{0DBEDE18-458C-4BAE-B914-737494BEC3C8}" presName="parentTextArrow" presStyleLbl="node1" presStyleIdx="2" presStyleCnt="3"/>
      <dgm:spPr/>
    </dgm:pt>
  </dgm:ptLst>
  <dgm:cxnLst>
    <dgm:cxn modelId="{37759116-54D4-4E95-AE09-4F7015558048}" srcId="{77052FE4-C453-4FD3-907D-71ABA0F6044B}" destId="{C52F9344-220E-495F-8489-3F139BAA6496}" srcOrd="3" destOrd="0" parTransId="{40E18365-EFD3-420F-AC17-17CE8114775E}" sibTransId="{113D7051-0FE5-4491-9DA5-76FBCE347BB5}"/>
    <dgm:cxn modelId="{C5653030-FF8A-4BFA-B2FF-44D829AC4B7A}" srcId="{77052FE4-C453-4FD3-907D-71ABA0F6044B}" destId="{9AC4B70E-2F68-47E3-A6D5-6EAF62269C64}" srcOrd="1" destOrd="0" parTransId="{922AAED1-FF57-46CF-BDF5-44B54CDA3B43}" sibTransId="{8C607BB0-870E-476A-B581-5690D9225B3D}"/>
    <dgm:cxn modelId="{A6BE6E3D-23B1-4B2D-A358-3690FBBC8E00}" type="presOf" srcId="{86281A56-74A2-4087-ADBB-55544BCB3696}" destId="{CFD549F5-A6F2-4261-BAB0-8F424FAE914F}" srcOrd="0" destOrd="0" presId="urn:microsoft.com/office/officeart/2005/8/layout/process4"/>
    <dgm:cxn modelId="{19577743-7758-4E26-B860-A8D394FA4B55}" type="presOf" srcId="{0F1D71BC-262F-43ED-A2E7-07987CB9A13E}" destId="{56D63BC1-4F70-4A54-AB2B-446245740B61}" srcOrd="0" destOrd="0" presId="urn:microsoft.com/office/officeart/2005/8/layout/process4"/>
    <dgm:cxn modelId="{F13DDA47-C174-4D9E-BBFE-2948FC74F4DD}" type="presOf" srcId="{C52F9344-220E-495F-8489-3F139BAA6496}" destId="{01B658BF-5EF4-46A1-84E5-CB60C39B389C}" srcOrd="0" destOrd="0" presId="urn:microsoft.com/office/officeart/2005/8/layout/process4"/>
    <dgm:cxn modelId="{C7709549-BA67-4A70-A3C2-701A7C6BB4E6}" type="presOf" srcId="{77052FE4-C453-4FD3-907D-71ABA0F6044B}" destId="{CC4A04B8-0FC5-4EE2-845D-D20D3BA6BDC7}" srcOrd="1" destOrd="0" presId="urn:microsoft.com/office/officeart/2005/8/layout/process4"/>
    <dgm:cxn modelId="{6ED7226D-40D9-451F-9765-A7A51FE96919}" type="presOf" srcId="{B50C9E9D-A308-4388-AF53-FC477B51851C}" destId="{09317F6B-2B44-48BC-858C-18F4735D8D02}" srcOrd="0" destOrd="0" presId="urn:microsoft.com/office/officeart/2005/8/layout/process4"/>
    <dgm:cxn modelId="{8B3CE26D-A129-4993-B05D-2BFD00E1A609}" srcId="{77052FE4-C453-4FD3-907D-71ABA0F6044B}" destId="{0F1D71BC-262F-43ED-A2E7-07987CB9A13E}" srcOrd="2" destOrd="0" parTransId="{27B596BE-F815-4A8C-8360-C486095A89B2}" sibTransId="{189D4602-204E-4024-97E0-4B99A60F175B}"/>
    <dgm:cxn modelId="{16F7EE4E-D1BE-45DB-8891-460D3D10C7FE}" srcId="{86281A56-74A2-4087-ADBB-55544BCB3696}" destId="{C82FDF30-53E9-494C-A988-6177917C952B}" srcOrd="1" destOrd="0" parTransId="{1693A382-84C7-4DCC-825C-C0E0588C8125}" sibTransId="{3B88E55D-BD49-49FF-AE52-E1BA43814366}"/>
    <dgm:cxn modelId="{4DB30F7B-AC3E-4B56-9486-F1B4EDEFD035}" srcId="{77052FE4-C453-4FD3-907D-71ABA0F6044B}" destId="{B50C9E9D-A308-4388-AF53-FC477B51851C}" srcOrd="0" destOrd="0" parTransId="{C1D47573-446C-4B16-A8A2-1EC5ED6BA6DA}" sibTransId="{375F209B-5006-41A5-97C2-619E43B618C9}"/>
    <dgm:cxn modelId="{24373B90-2454-41F7-A902-065C0F067CDC}" type="presOf" srcId="{C82FDF30-53E9-494C-A988-6177917C952B}" destId="{72A80988-02EA-4101-A884-59EB8CC7A40B}" srcOrd="0" destOrd="0" presId="urn:microsoft.com/office/officeart/2005/8/layout/process4"/>
    <dgm:cxn modelId="{09591EA6-862C-43EF-A6B6-2B153F5D2932}" type="presOf" srcId="{77052FE4-C453-4FD3-907D-71ABA0F6044B}" destId="{4E3A6648-E31B-47F2-8BAC-E0099A65B49A}" srcOrd="0" destOrd="0" presId="urn:microsoft.com/office/officeart/2005/8/layout/process4"/>
    <dgm:cxn modelId="{977CD3A7-A4A9-4A28-9BE5-CE60CBB02C2D}" type="presOf" srcId="{9AC4B70E-2F68-47E3-A6D5-6EAF62269C64}" destId="{79BCB8CD-1AFD-4ED2-8F08-E331F63FB818}" srcOrd="0" destOrd="0" presId="urn:microsoft.com/office/officeart/2005/8/layout/process4"/>
    <dgm:cxn modelId="{AF4B06AF-2B54-4FDC-A7B1-FF7892881ABF}" type="presOf" srcId="{0DBEDE18-458C-4BAE-B914-737494BEC3C8}" destId="{EE19A225-30EF-4CE6-B709-82A7F5CD538C}" srcOrd="0" destOrd="0" presId="urn:microsoft.com/office/officeart/2005/8/layout/process4"/>
    <dgm:cxn modelId="{2305CFD3-8B64-4740-A4D6-E5CAEAFD9528}" srcId="{86281A56-74A2-4087-ADBB-55544BCB3696}" destId="{0DBEDE18-458C-4BAE-B914-737494BEC3C8}" srcOrd="0" destOrd="0" parTransId="{4ACE1EE7-CE1B-466A-BA24-A79FB6CB9222}" sibTransId="{455BABC1-E288-4D77-AA09-6CC8AF9726D4}"/>
    <dgm:cxn modelId="{FF41FAD8-C454-44F0-BB66-FE0F261238D1}" srcId="{86281A56-74A2-4087-ADBB-55544BCB3696}" destId="{77052FE4-C453-4FD3-907D-71ABA0F6044B}" srcOrd="2" destOrd="0" parTransId="{3247DA7E-1461-4A43-8DA2-F90C19B4D2BE}" sibTransId="{FBC39ECC-CEDC-4C40-B127-570AF7F8B4A2}"/>
    <dgm:cxn modelId="{250F0709-1A70-4B35-95CC-08EE6AC1978F}" type="presParOf" srcId="{CFD549F5-A6F2-4261-BAB0-8F424FAE914F}" destId="{610C4D90-AADD-438A-A444-03A81502BF08}" srcOrd="0" destOrd="0" presId="urn:microsoft.com/office/officeart/2005/8/layout/process4"/>
    <dgm:cxn modelId="{CCF06170-CC73-4746-8EDF-A4D9CF40B634}" type="presParOf" srcId="{610C4D90-AADD-438A-A444-03A81502BF08}" destId="{4E3A6648-E31B-47F2-8BAC-E0099A65B49A}" srcOrd="0" destOrd="0" presId="urn:microsoft.com/office/officeart/2005/8/layout/process4"/>
    <dgm:cxn modelId="{353B2A7D-F7F4-4BFB-A835-A83BE523EF63}" type="presParOf" srcId="{610C4D90-AADD-438A-A444-03A81502BF08}" destId="{CC4A04B8-0FC5-4EE2-845D-D20D3BA6BDC7}" srcOrd="1" destOrd="0" presId="urn:microsoft.com/office/officeart/2005/8/layout/process4"/>
    <dgm:cxn modelId="{2E50276A-E551-4C42-8F93-C1CA86AA4097}" type="presParOf" srcId="{610C4D90-AADD-438A-A444-03A81502BF08}" destId="{BCC494DE-271E-4BEE-9437-201FA9373F1B}" srcOrd="2" destOrd="0" presId="urn:microsoft.com/office/officeart/2005/8/layout/process4"/>
    <dgm:cxn modelId="{B636E14F-6919-4F69-8430-DD1A56A106E8}" type="presParOf" srcId="{BCC494DE-271E-4BEE-9437-201FA9373F1B}" destId="{09317F6B-2B44-48BC-858C-18F4735D8D02}" srcOrd="0" destOrd="0" presId="urn:microsoft.com/office/officeart/2005/8/layout/process4"/>
    <dgm:cxn modelId="{0987B9D4-5E63-4A80-9409-8854A5C23C9C}" type="presParOf" srcId="{BCC494DE-271E-4BEE-9437-201FA9373F1B}" destId="{79BCB8CD-1AFD-4ED2-8F08-E331F63FB818}" srcOrd="1" destOrd="0" presId="urn:microsoft.com/office/officeart/2005/8/layout/process4"/>
    <dgm:cxn modelId="{DCF4B9C5-3477-4EF6-BAD0-973BF7CE85D9}" type="presParOf" srcId="{BCC494DE-271E-4BEE-9437-201FA9373F1B}" destId="{56D63BC1-4F70-4A54-AB2B-446245740B61}" srcOrd="2" destOrd="0" presId="urn:microsoft.com/office/officeart/2005/8/layout/process4"/>
    <dgm:cxn modelId="{90EB8569-5028-4FBB-8AE2-EE42AFEDCED0}" type="presParOf" srcId="{BCC494DE-271E-4BEE-9437-201FA9373F1B}" destId="{01B658BF-5EF4-46A1-84E5-CB60C39B389C}" srcOrd="3" destOrd="0" presId="urn:microsoft.com/office/officeart/2005/8/layout/process4"/>
    <dgm:cxn modelId="{20DECEF9-9C82-470D-B053-9B57F54DB610}" type="presParOf" srcId="{CFD549F5-A6F2-4261-BAB0-8F424FAE914F}" destId="{816733C5-1779-4091-8CC3-DACE21F17047}" srcOrd="1" destOrd="0" presId="urn:microsoft.com/office/officeart/2005/8/layout/process4"/>
    <dgm:cxn modelId="{2B157FAC-388C-4B69-B4B0-2C8831BBAD3C}" type="presParOf" srcId="{CFD549F5-A6F2-4261-BAB0-8F424FAE914F}" destId="{7DFE1026-32C3-4684-A02E-9EE6AAE007BD}" srcOrd="2" destOrd="0" presId="urn:microsoft.com/office/officeart/2005/8/layout/process4"/>
    <dgm:cxn modelId="{EAA33425-2E58-4887-8D85-77CEAC0F594D}" type="presParOf" srcId="{7DFE1026-32C3-4684-A02E-9EE6AAE007BD}" destId="{72A80988-02EA-4101-A884-59EB8CC7A40B}" srcOrd="0" destOrd="0" presId="urn:microsoft.com/office/officeart/2005/8/layout/process4"/>
    <dgm:cxn modelId="{96282C11-899A-459F-B90C-093060C83C3A}" type="presParOf" srcId="{CFD549F5-A6F2-4261-BAB0-8F424FAE914F}" destId="{B4BE117F-59B6-4A29-80C7-9885E1EADCFD}" srcOrd="3" destOrd="0" presId="urn:microsoft.com/office/officeart/2005/8/layout/process4"/>
    <dgm:cxn modelId="{13B5D7F0-2756-4C11-9E69-32095BD02F28}" type="presParOf" srcId="{CFD549F5-A6F2-4261-BAB0-8F424FAE914F}" destId="{0CDDB5A3-320D-46C2-A2D3-5793B32BB2C1}" srcOrd="4" destOrd="0" presId="urn:microsoft.com/office/officeart/2005/8/layout/process4"/>
    <dgm:cxn modelId="{7223A350-19A6-4FF6-9598-7BBE4373B63C}" type="presParOf" srcId="{0CDDB5A3-320D-46C2-A2D3-5793B32BB2C1}" destId="{EE19A225-30EF-4CE6-B709-82A7F5CD538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2804E45-E17B-4F77-9349-9739983000F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EBB0B0-CB87-49DC-8063-F033BABB5474}">
      <dgm:prSet/>
      <dgm:spPr/>
      <dgm:t>
        <a:bodyPr/>
        <a:lstStyle/>
        <a:p>
          <a:r>
            <a:rPr lang="en-US" b="1"/>
            <a:t>1. Market Order</a:t>
          </a:r>
          <a:endParaRPr lang="en-US"/>
        </a:p>
      </dgm:t>
    </dgm:pt>
    <dgm:pt modelId="{990C1632-F6B8-4332-8634-BA96A457BDB6}" type="parTrans" cxnId="{994280C6-3283-4FDF-8B21-F052B8B193EF}">
      <dgm:prSet/>
      <dgm:spPr/>
      <dgm:t>
        <a:bodyPr/>
        <a:lstStyle/>
        <a:p>
          <a:endParaRPr lang="en-US"/>
        </a:p>
      </dgm:t>
    </dgm:pt>
    <dgm:pt modelId="{4B405F4F-9900-4DD1-BE1D-FB8C6252C844}" type="sibTrans" cxnId="{994280C6-3283-4FDF-8B21-F052B8B193EF}">
      <dgm:prSet/>
      <dgm:spPr/>
      <dgm:t>
        <a:bodyPr/>
        <a:lstStyle/>
        <a:p>
          <a:endParaRPr lang="en-US"/>
        </a:p>
      </dgm:t>
    </dgm:pt>
    <dgm:pt modelId="{33A7A0CD-DE3B-4577-8F5D-C8ADCE520223}">
      <dgm:prSet/>
      <dgm:spPr/>
      <dgm:t>
        <a:bodyPr/>
        <a:lstStyle/>
        <a:p>
          <a:r>
            <a:rPr lang="en-US"/>
            <a:t>Eksekusi cepat pada harga terbaik yang tersedia.</a:t>
          </a:r>
        </a:p>
      </dgm:t>
    </dgm:pt>
    <dgm:pt modelId="{F2DE84BC-E3B4-45E7-815D-310795586F7C}" type="parTrans" cxnId="{79D7F1B6-7684-4D5A-9E1A-A7E4953EA436}">
      <dgm:prSet/>
      <dgm:spPr/>
      <dgm:t>
        <a:bodyPr/>
        <a:lstStyle/>
        <a:p>
          <a:endParaRPr lang="en-US"/>
        </a:p>
      </dgm:t>
    </dgm:pt>
    <dgm:pt modelId="{8F04A854-DF7C-4724-B30C-32D27B45963E}" type="sibTrans" cxnId="{79D7F1B6-7684-4D5A-9E1A-A7E4953EA436}">
      <dgm:prSet/>
      <dgm:spPr/>
      <dgm:t>
        <a:bodyPr/>
        <a:lstStyle/>
        <a:p>
          <a:endParaRPr lang="en-US"/>
        </a:p>
      </dgm:t>
    </dgm:pt>
    <dgm:pt modelId="{81997FB0-5D6A-4382-BE17-BC6D8D556B57}">
      <dgm:prSet/>
      <dgm:spPr/>
      <dgm:t>
        <a:bodyPr/>
        <a:lstStyle/>
        <a:p>
          <a:r>
            <a:rPr lang="en-US" b="1"/>
            <a:t>2. Limit Order</a:t>
          </a:r>
          <a:endParaRPr lang="en-US"/>
        </a:p>
      </dgm:t>
    </dgm:pt>
    <dgm:pt modelId="{2B2929AF-0D3B-4F41-9B95-2432C8A7F049}" type="parTrans" cxnId="{D7C2FC5F-6F1F-4276-BBE0-85DF4DCCE5CA}">
      <dgm:prSet/>
      <dgm:spPr/>
      <dgm:t>
        <a:bodyPr/>
        <a:lstStyle/>
        <a:p>
          <a:endParaRPr lang="en-US"/>
        </a:p>
      </dgm:t>
    </dgm:pt>
    <dgm:pt modelId="{D35368AB-85D1-4EC8-8016-A0F5986972B0}" type="sibTrans" cxnId="{D7C2FC5F-6F1F-4276-BBE0-85DF4DCCE5CA}">
      <dgm:prSet/>
      <dgm:spPr/>
      <dgm:t>
        <a:bodyPr/>
        <a:lstStyle/>
        <a:p>
          <a:endParaRPr lang="en-US"/>
        </a:p>
      </dgm:t>
    </dgm:pt>
    <dgm:pt modelId="{F37D394E-65C7-4E05-B3E7-219A75792224}">
      <dgm:prSet/>
      <dgm:spPr/>
      <dgm:t>
        <a:bodyPr/>
        <a:lstStyle/>
        <a:p>
          <a:r>
            <a:rPr lang="en-US"/>
            <a:t>Eksekusi hanya pada harga tertentu atau lebih baik.</a:t>
          </a:r>
        </a:p>
      </dgm:t>
    </dgm:pt>
    <dgm:pt modelId="{E1C6FE7E-F22C-404B-BE52-072A1652334C}" type="parTrans" cxnId="{06E59034-6972-49C5-864F-E821DCF92855}">
      <dgm:prSet/>
      <dgm:spPr/>
      <dgm:t>
        <a:bodyPr/>
        <a:lstStyle/>
        <a:p>
          <a:endParaRPr lang="en-US"/>
        </a:p>
      </dgm:t>
    </dgm:pt>
    <dgm:pt modelId="{CE7977EC-1191-4087-915F-FFB90F83E59D}" type="sibTrans" cxnId="{06E59034-6972-49C5-864F-E821DCF92855}">
      <dgm:prSet/>
      <dgm:spPr/>
      <dgm:t>
        <a:bodyPr/>
        <a:lstStyle/>
        <a:p>
          <a:endParaRPr lang="en-US"/>
        </a:p>
      </dgm:t>
    </dgm:pt>
    <dgm:pt modelId="{E86C7186-5F96-4041-B28F-4CC9E5AEC37C}">
      <dgm:prSet/>
      <dgm:spPr/>
      <dgm:t>
        <a:bodyPr/>
        <a:lstStyle/>
        <a:p>
          <a:r>
            <a:rPr lang="en-US" b="1"/>
            <a:t>3. Stop Order</a:t>
          </a:r>
          <a:endParaRPr lang="en-US"/>
        </a:p>
      </dgm:t>
    </dgm:pt>
    <dgm:pt modelId="{6307C900-B8AD-415A-A0E5-64D1FCCCAB1B}" type="parTrans" cxnId="{FB55E61E-DD15-46C8-8DF2-74980C213337}">
      <dgm:prSet/>
      <dgm:spPr/>
      <dgm:t>
        <a:bodyPr/>
        <a:lstStyle/>
        <a:p>
          <a:endParaRPr lang="en-US"/>
        </a:p>
      </dgm:t>
    </dgm:pt>
    <dgm:pt modelId="{2F8C978D-8918-4537-8EA9-4BD7CF43C063}" type="sibTrans" cxnId="{FB55E61E-DD15-46C8-8DF2-74980C213337}">
      <dgm:prSet/>
      <dgm:spPr/>
      <dgm:t>
        <a:bodyPr/>
        <a:lstStyle/>
        <a:p>
          <a:endParaRPr lang="en-US"/>
        </a:p>
      </dgm:t>
    </dgm:pt>
    <dgm:pt modelId="{9640D242-8982-4BD0-B369-7A344E504F92}">
      <dgm:prSet/>
      <dgm:spPr/>
      <dgm:t>
        <a:bodyPr/>
        <a:lstStyle/>
        <a:p>
          <a:r>
            <a:rPr lang="en-US"/>
            <a:t>Menjadi market order setelah harga pemicu tercapai.</a:t>
          </a:r>
        </a:p>
      </dgm:t>
    </dgm:pt>
    <dgm:pt modelId="{F82D1BC4-1134-45DD-8199-277FEA0D063B}" type="parTrans" cxnId="{92799BDD-4A71-471E-9134-0A9B9B109588}">
      <dgm:prSet/>
      <dgm:spPr/>
      <dgm:t>
        <a:bodyPr/>
        <a:lstStyle/>
        <a:p>
          <a:endParaRPr lang="en-US"/>
        </a:p>
      </dgm:t>
    </dgm:pt>
    <dgm:pt modelId="{BBD704A8-0C91-401F-BA6E-E8F94092447F}" type="sibTrans" cxnId="{92799BDD-4A71-471E-9134-0A9B9B109588}">
      <dgm:prSet/>
      <dgm:spPr/>
      <dgm:t>
        <a:bodyPr/>
        <a:lstStyle/>
        <a:p>
          <a:endParaRPr lang="en-US"/>
        </a:p>
      </dgm:t>
    </dgm:pt>
    <dgm:pt modelId="{54BF57CB-CBFE-4773-8E95-212B4B12A67D}" type="pres">
      <dgm:prSet presAssocID="{B2804E45-E17B-4F77-9349-9739983000FC}" presName="vert0" presStyleCnt="0">
        <dgm:presLayoutVars>
          <dgm:dir/>
          <dgm:animOne val="branch"/>
          <dgm:animLvl val="lvl"/>
        </dgm:presLayoutVars>
      </dgm:prSet>
      <dgm:spPr/>
    </dgm:pt>
    <dgm:pt modelId="{8A8662A9-5C3E-4515-8146-52773825070B}" type="pres">
      <dgm:prSet presAssocID="{3EEBB0B0-CB87-49DC-8063-F033BABB5474}" presName="thickLine" presStyleLbl="alignNode1" presStyleIdx="0" presStyleCnt="6"/>
      <dgm:spPr/>
    </dgm:pt>
    <dgm:pt modelId="{02F225D0-3165-47B5-AC4E-99D25C970E29}" type="pres">
      <dgm:prSet presAssocID="{3EEBB0B0-CB87-49DC-8063-F033BABB5474}" presName="horz1" presStyleCnt="0"/>
      <dgm:spPr/>
    </dgm:pt>
    <dgm:pt modelId="{4DB5830C-F065-47C2-ACB1-0795FB9B9A9E}" type="pres">
      <dgm:prSet presAssocID="{3EEBB0B0-CB87-49DC-8063-F033BABB5474}" presName="tx1" presStyleLbl="revTx" presStyleIdx="0" presStyleCnt="6"/>
      <dgm:spPr/>
    </dgm:pt>
    <dgm:pt modelId="{CFDCAADF-161B-44A4-B926-F3F81CD3C9DB}" type="pres">
      <dgm:prSet presAssocID="{3EEBB0B0-CB87-49DC-8063-F033BABB5474}" presName="vert1" presStyleCnt="0"/>
      <dgm:spPr/>
    </dgm:pt>
    <dgm:pt modelId="{77B77919-C7B4-4EE5-A24F-74A3DAABC438}" type="pres">
      <dgm:prSet presAssocID="{33A7A0CD-DE3B-4577-8F5D-C8ADCE520223}" presName="thickLine" presStyleLbl="alignNode1" presStyleIdx="1" presStyleCnt="6"/>
      <dgm:spPr/>
    </dgm:pt>
    <dgm:pt modelId="{549C9FCC-2443-4BC8-9388-2B2D1471E22A}" type="pres">
      <dgm:prSet presAssocID="{33A7A0CD-DE3B-4577-8F5D-C8ADCE520223}" presName="horz1" presStyleCnt="0"/>
      <dgm:spPr/>
    </dgm:pt>
    <dgm:pt modelId="{634F2AD1-8EC9-41D2-A27C-E337DF82F2DF}" type="pres">
      <dgm:prSet presAssocID="{33A7A0CD-DE3B-4577-8F5D-C8ADCE520223}" presName="tx1" presStyleLbl="revTx" presStyleIdx="1" presStyleCnt="6"/>
      <dgm:spPr/>
    </dgm:pt>
    <dgm:pt modelId="{DB6FE033-49C4-4B80-A7C4-6D9C56030F41}" type="pres">
      <dgm:prSet presAssocID="{33A7A0CD-DE3B-4577-8F5D-C8ADCE520223}" presName="vert1" presStyleCnt="0"/>
      <dgm:spPr/>
    </dgm:pt>
    <dgm:pt modelId="{40EE44A2-50AC-4FF5-8AB8-E028A1E3C66A}" type="pres">
      <dgm:prSet presAssocID="{81997FB0-5D6A-4382-BE17-BC6D8D556B57}" presName="thickLine" presStyleLbl="alignNode1" presStyleIdx="2" presStyleCnt="6"/>
      <dgm:spPr/>
    </dgm:pt>
    <dgm:pt modelId="{DAFEF279-C692-435D-93BF-57B9E6D0A571}" type="pres">
      <dgm:prSet presAssocID="{81997FB0-5D6A-4382-BE17-BC6D8D556B57}" presName="horz1" presStyleCnt="0"/>
      <dgm:spPr/>
    </dgm:pt>
    <dgm:pt modelId="{5CC33A80-16CE-425C-A5E2-702F69772802}" type="pres">
      <dgm:prSet presAssocID="{81997FB0-5D6A-4382-BE17-BC6D8D556B57}" presName="tx1" presStyleLbl="revTx" presStyleIdx="2" presStyleCnt="6"/>
      <dgm:spPr/>
    </dgm:pt>
    <dgm:pt modelId="{33C87D10-643A-42F9-8975-72EAE64C8BE0}" type="pres">
      <dgm:prSet presAssocID="{81997FB0-5D6A-4382-BE17-BC6D8D556B57}" presName="vert1" presStyleCnt="0"/>
      <dgm:spPr/>
    </dgm:pt>
    <dgm:pt modelId="{C392EED4-AEAE-4D58-A700-27AF4CD9C03D}" type="pres">
      <dgm:prSet presAssocID="{F37D394E-65C7-4E05-B3E7-219A75792224}" presName="thickLine" presStyleLbl="alignNode1" presStyleIdx="3" presStyleCnt="6"/>
      <dgm:spPr/>
    </dgm:pt>
    <dgm:pt modelId="{F97C14C0-5934-4E06-A8A3-FEB3296D06E3}" type="pres">
      <dgm:prSet presAssocID="{F37D394E-65C7-4E05-B3E7-219A75792224}" presName="horz1" presStyleCnt="0"/>
      <dgm:spPr/>
    </dgm:pt>
    <dgm:pt modelId="{0BF1A474-D993-4AD9-90CD-5F40587508A0}" type="pres">
      <dgm:prSet presAssocID="{F37D394E-65C7-4E05-B3E7-219A75792224}" presName="tx1" presStyleLbl="revTx" presStyleIdx="3" presStyleCnt="6"/>
      <dgm:spPr/>
    </dgm:pt>
    <dgm:pt modelId="{4AB43E2F-E73B-423C-9CF1-36B50025874C}" type="pres">
      <dgm:prSet presAssocID="{F37D394E-65C7-4E05-B3E7-219A75792224}" presName="vert1" presStyleCnt="0"/>
      <dgm:spPr/>
    </dgm:pt>
    <dgm:pt modelId="{3E4EE141-20F6-4EB6-99FE-379802B28CC2}" type="pres">
      <dgm:prSet presAssocID="{E86C7186-5F96-4041-B28F-4CC9E5AEC37C}" presName="thickLine" presStyleLbl="alignNode1" presStyleIdx="4" presStyleCnt="6"/>
      <dgm:spPr/>
    </dgm:pt>
    <dgm:pt modelId="{140C478E-4507-4713-BD67-716F543536C5}" type="pres">
      <dgm:prSet presAssocID="{E86C7186-5F96-4041-B28F-4CC9E5AEC37C}" presName="horz1" presStyleCnt="0"/>
      <dgm:spPr/>
    </dgm:pt>
    <dgm:pt modelId="{ABD2A686-E686-43FD-B7C8-20356BEA31AA}" type="pres">
      <dgm:prSet presAssocID="{E86C7186-5F96-4041-B28F-4CC9E5AEC37C}" presName="tx1" presStyleLbl="revTx" presStyleIdx="4" presStyleCnt="6"/>
      <dgm:spPr/>
    </dgm:pt>
    <dgm:pt modelId="{C82FB42C-BD40-4783-BD21-68813B54E8ED}" type="pres">
      <dgm:prSet presAssocID="{E86C7186-5F96-4041-B28F-4CC9E5AEC37C}" presName="vert1" presStyleCnt="0"/>
      <dgm:spPr/>
    </dgm:pt>
    <dgm:pt modelId="{7C114A9B-90C9-4F6C-A253-E31893BF03A1}" type="pres">
      <dgm:prSet presAssocID="{9640D242-8982-4BD0-B369-7A344E504F92}" presName="thickLine" presStyleLbl="alignNode1" presStyleIdx="5" presStyleCnt="6"/>
      <dgm:spPr/>
    </dgm:pt>
    <dgm:pt modelId="{C9A9AA06-B3C7-479F-9650-8F534D03B6F0}" type="pres">
      <dgm:prSet presAssocID="{9640D242-8982-4BD0-B369-7A344E504F92}" presName="horz1" presStyleCnt="0"/>
      <dgm:spPr/>
    </dgm:pt>
    <dgm:pt modelId="{E9488ED3-EF84-499C-93F0-C73C6021CA1C}" type="pres">
      <dgm:prSet presAssocID="{9640D242-8982-4BD0-B369-7A344E504F92}" presName="tx1" presStyleLbl="revTx" presStyleIdx="5" presStyleCnt="6"/>
      <dgm:spPr/>
    </dgm:pt>
    <dgm:pt modelId="{572A936E-10A6-493D-A8A2-150CFCA49F5A}" type="pres">
      <dgm:prSet presAssocID="{9640D242-8982-4BD0-B369-7A344E504F92}" presName="vert1" presStyleCnt="0"/>
      <dgm:spPr/>
    </dgm:pt>
  </dgm:ptLst>
  <dgm:cxnLst>
    <dgm:cxn modelId="{F9FD770F-2DA1-4F53-92BA-86C742B9E8EC}" type="presOf" srcId="{81997FB0-5D6A-4382-BE17-BC6D8D556B57}" destId="{5CC33A80-16CE-425C-A5E2-702F69772802}" srcOrd="0" destOrd="0" presId="urn:microsoft.com/office/officeart/2008/layout/LinedList"/>
    <dgm:cxn modelId="{FB55E61E-DD15-46C8-8DF2-74980C213337}" srcId="{B2804E45-E17B-4F77-9349-9739983000FC}" destId="{E86C7186-5F96-4041-B28F-4CC9E5AEC37C}" srcOrd="4" destOrd="0" parTransId="{6307C900-B8AD-415A-A0E5-64D1FCCCAB1B}" sibTransId="{2F8C978D-8918-4537-8EA9-4BD7CF43C063}"/>
    <dgm:cxn modelId="{2515ED25-6EAB-400E-9240-F56A619BA62D}" type="presOf" srcId="{F37D394E-65C7-4E05-B3E7-219A75792224}" destId="{0BF1A474-D993-4AD9-90CD-5F40587508A0}" srcOrd="0" destOrd="0" presId="urn:microsoft.com/office/officeart/2008/layout/LinedList"/>
    <dgm:cxn modelId="{70413F2C-DB71-4B37-B475-0FCB247DCE02}" type="presOf" srcId="{3EEBB0B0-CB87-49DC-8063-F033BABB5474}" destId="{4DB5830C-F065-47C2-ACB1-0795FB9B9A9E}" srcOrd="0" destOrd="0" presId="urn:microsoft.com/office/officeart/2008/layout/LinedList"/>
    <dgm:cxn modelId="{06E59034-6972-49C5-864F-E821DCF92855}" srcId="{B2804E45-E17B-4F77-9349-9739983000FC}" destId="{F37D394E-65C7-4E05-B3E7-219A75792224}" srcOrd="3" destOrd="0" parTransId="{E1C6FE7E-F22C-404B-BE52-072A1652334C}" sibTransId="{CE7977EC-1191-4087-915F-FFB90F83E59D}"/>
    <dgm:cxn modelId="{D7C2FC5F-6F1F-4276-BBE0-85DF4DCCE5CA}" srcId="{B2804E45-E17B-4F77-9349-9739983000FC}" destId="{81997FB0-5D6A-4382-BE17-BC6D8D556B57}" srcOrd="2" destOrd="0" parTransId="{2B2929AF-0D3B-4F41-9B95-2432C8A7F049}" sibTransId="{D35368AB-85D1-4EC8-8016-A0F5986972B0}"/>
    <dgm:cxn modelId="{2A79F644-0673-4756-B56A-684874B20DDD}" type="presOf" srcId="{9640D242-8982-4BD0-B369-7A344E504F92}" destId="{E9488ED3-EF84-499C-93F0-C73C6021CA1C}" srcOrd="0" destOrd="0" presId="urn:microsoft.com/office/officeart/2008/layout/LinedList"/>
    <dgm:cxn modelId="{79D7F1B6-7684-4D5A-9E1A-A7E4953EA436}" srcId="{B2804E45-E17B-4F77-9349-9739983000FC}" destId="{33A7A0CD-DE3B-4577-8F5D-C8ADCE520223}" srcOrd="1" destOrd="0" parTransId="{F2DE84BC-E3B4-45E7-815D-310795586F7C}" sibTransId="{8F04A854-DF7C-4724-B30C-32D27B45963E}"/>
    <dgm:cxn modelId="{8DEB83BB-491E-4AC3-8474-5B89DB43815D}" type="presOf" srcId="{E86C7186-5F96-4041-B28F-4CC9E5AEC37C}" destId="{ABD2A686-E686-43FD-B7C8-20356BEA31AA}" srcOrd="0" destOrd="0" presId="urn:microsoft.com/office/officeart/2008/layout/LinedList"/>
    <dgm:cxn modelId="{5D888CBE-768C-441E-8615-6E7321F3339F}" type="presOf" srcId="{B2804E45-E17B-4F77-9349-9739983000FC}" destId="{54BF57CB-CBFE-4773-8E95-212B4B12A67D}" srcOrd="0" destOrd="0" presId="urn:microsoft.com/office/officeart/2008/layout/LinedList"/>
    <dgm:cxn modelId="{994280C6-3283-4FDF-8B21-F052B8B193EF}" srcId="{B2804E45-E17B-4F77-9349-9739983000FC}" destId="{3EEBB0B0-CB87-49DC-8063-F033BABB5474}" srcOrd="0" destOrd="0" parTransId="{990C1632-F6B8-4332-8634-BA96A457BDB6}" sibTransId="{4B405F4F-9900-4DD1-BE1D-FB8C6252C844}"/>
    <dgm:cxn modelId="{BBDE10D3-E3C0-42F8-9D28-A7D77FCC105D}" type="presOf" srcId="{33A7A0CD-DE3B-4577-8F5D-C8ADCE520223}" destId="{634F2AD1-8EC9-41D2-A27C-E337DF82F2DF}" srcOrd="0" destOrd="0" presId="urn:microsoft.com/office/officeart/2008/layout/LinedList"/>
    <dgm:cxn modelId="{92799BDD-4A71-471E-9134-0A9B9B109588}" srcId="{B2804E45-E17B-4F77-9349-9739983000FC}" destId="{9640D242-8982-4BD0-B369-7A344E504F92}" srcOrd="5" destOrd="0" parTransId="{F82D1BC4-1134-45DD-8199-277FEA0D063B}" sibTransId="{BBD704A8-0C91-401F-BA6E-E8F94092447F}"/>
    <dgm:cxn modelId="{06DA73AD-6678-40A8-B169-03F3F3B69717}" type="presParOf" srcId="{54BF57CB-CBFE-4773-8E95-212B4B12A67D}" destId="{8A8662A9-5C3E-4515-8146-52773825070B}" srcOrd="0" destOrd="0" presId="urn:microsoft.com/office/officeart/2008/layout/LinedList"/>
    <dgm:cxn modelId="{94D3C8B2-6550-48BC-9430-4856E610B2F3}" type="presParOf" srcId="{54BF57CB-CBFE-4773-8E95-212B4B12A67D}" destId="{02F225D0-3165-47B5-AC4E-99D25C970E29}" srcOrd="1" destOrd="0" presId="urn:microsoft.com/office/officeart/2008/layout/LinedList"/>
    <dgm:cxn modelId="{C97FDEEE-CF31-4104-9E44-4A101D1354B2}" type="presParOf" srcId="{02F225D0-3165-47B5-AC4E-99D25C970E29}" destId="{4DB5830C-F065-47C2-ACB1-0795FB9B9A9E}" srcOrd="0" destOrd="0" presId="urn:microsoft.com/office/officeart/2008/layout/LinedList"/>
    <dgm:cxn modelId="{2BADBEC4-EADD-4611-AB4E-92DFD6C8FCBE}" type="presParOf" srcId="{02F225D0-3165-47B5-AC4E-99D25C970E29}" destId="{CFDCAADF-161B-44A4-B926-F3F81CD3C9DB}" srcOrd="1" destOrd="0" presId="urn:microsoft.com/office/officeart/2008/layout/LinedList"/>
    <dgm:cxn modelId="{0D93F979-2B7E-4308-96C5-CEE86801B104}" type="presParOf" srcId="{54BF57CB-CBFE-4773-8E95-212B4B12A67D}" destId="{77B77919-C7B4-4EE5-A24F-74A3DAABC438}" srcOrd="2" destOrd="0" presId="urn:microsoft.com/office/officeart/2008/layout/LinedList"/>
    <dgm:cxn modelId="{0800B9DC-E151-4300-996B-B9B581838E21}" type="presParOf" srcId="{54BF57CB-CBFE-4773-8E95-212B4B12A67D}" destId="{549C9FCC-2443-4BC8-9388-2B2D1471E22A}" srcOrd="3" destOrd="0" presId="urn:microsoft.com/office/officeart/2008/layout/LinedList"/>
    <dgm:cxn modelId="{86EED09C-7C86-4B7F-9746-A63AF9F5111F}" type="presParOf" srcId="{549C9FCC-2443-4BC8-9388-2B2D1471E22A}" destId="{634F2AD1-8EC9-41D2-A27C-E337DF82F2DF}" srcOrd="0" destOrd="0" presId="urn:microsoft.com/office/officeart/2008/layout/LinedList"/>
    <dgm:cxn modelId="{AD3C82FD-7049-463C-A55A-508B89B0E6A6}" type="presParOf" srcId="{549C9FCC-2443-4BC8-9388-2B2D1471E22A}" destId="{DB6FE033-49C4-4B80-A7C4-6D9C56030F41}" srcOrd="1" destOrd="0" presId="urn:microsoft.com/office/officeart/2008/layout/LinedList"/>
    <dgm:cxn modelId="{4279ED7E-CA3D-45E0-B88D-DDEE1CE4047E}" type="presParOf" srcId="{54BF57CB-CBFE-4773-8E95-212B4B12A67D}" destId="{40EE44A2-50AC-4FF5-8AB8-E028A1E3C66A}" srcOrd="4" destOrd="0" presId="urn:microsoft.com/office/officeart/2008/layout/LinedList"/>
    <dgm:cxn modelId="{670F905D-D5EC-4583-AB0F-9B3A4B046A51}" type="presParOf" srcId="{54BF57CB-CBFE-4773-8E95-212B4B12A67D}" destId="{DAFEF279-C692-435D-93BF-57B9E6D0A571}" srcOrd="5" destOrd="0" presId="urn:microsoft.com/office/officeart/2008/layout/LinedList"/>
    <dgm:cxn modelId="{CA7913AA-EE42-48CD-9813-BE44D2E3E65D}" type="presParOf" srcId="{DAFEF279-C692-435D-93BF-57B9E6D0A571}" destId="{5CC33A80-16CE-425C-A5E2-702F69772802}" srcOrd="0" destOrd="0" presId="urn:microsoft.com/office/officeart/2008/layout/LinedList"/>
    <dgm:cxn modelId="{49CD51E1-1C5B-4B7B-B37A-F77ECFFDFD80}" type="presParOf" srcId="{DAFEF279-C692-435D-93BF-57B9E6D0A571}" destId="{33C87D10-643A-42F9-8975-72EAE64C8BE0}" srcOrd="1" destOrd="0" presId="urn:microsoft.com/office/officeart/2008/layout/LinedList"/>
    <dgm:cxn modelId="{117FFD14-45EF-4E9F-BE87-B4CAD9CAA344}" type="presParOf" srcId="{54BF57CB-CBFE-4773-8E95-212B4B12A67D}" destId="{C392EED4-AEAE-4D58-A700-27AF4CD9C03D}" srcOrd="6" destOrd="0" presId="urn:microsoft.com/office/officeart/2008/layout/LinedList"/>
    <dgm:cxn modelId="{9F068399-9702-4AF4-B5AA-D1669D14A06F}" type="presParOf" srcId="{54BF57CB-CBFE-4773-8E95-212B4B12A67D}" destId="{F97C14C0-5934-4E06-A8A3-FEB3296D06E3}" srcOrd="7" destOrd="0" presId="urn:microsoft.com/office/officeart/2008/layout/LinedList"/>
    <dgm:cxn modelId="{60CA8B34-8E6D-4983-8F69-5476FBCFA1C8}" type="presParOf" srcId="{F97C14C0-5934-4E06-A8A3-FEB3296D06E3}" destId="{0BF1A474-D993-4AD9-90CD-5F40587508A0}" srcOrd="0" destOrd="0" presId="urn:microsoft.com/office/officeart/2008/layout/LinedList"/>
    <dgm:cxn modelId="{03BBC6FB-324F-4865-9BCF-75686804A13C}" type="presParOf" srcId="{F97C14C0-5934-4E06-A8A3-FEB3296D06E3}" destId="{4AB43E2F-E73B-423C-9CF1-36B50025874C}" srcOrd="1" destOrd="0" presId="urn:microsoft.com/office/officeart/2008/layout/LinedList"/>
    <dgm:cxn modelId="{9D894DBF-DBCF-4B05-9EEB-4F3F41E73A35}" type="presParOf" srcId="{54BF57CB-CBFE-4773-8E95-212B4B12A67D}" destId="{3E4EE141-20F6-4EB6-99FE-379802B28CC2}" srcOrd="8" destOrd="0" presId="urn:microsoft.com/office/officeart/2008/layout/LinedList"/>
    <dgm:cxn modelId="{33D6D6FB-03DF-4DE9-97D5-D2EAC4F3F75B}" type="presParOf" srcId="{54BF57CB-CBFE-4773-8E95-212B4B12A67D}" destId="{140C478E-4507-4713-BD67-716F543536C5}" srcOrd="9" destOrd="0" presId="urn:microsoft.com/office/officeart/2008/layout/LinedList"/>
    <dgm:cxn modelId="{DD448973-E7D8-41F3-9363-4BAB8EF1B2FE}" type="presParOf" srcId="{140C478E-4507-4713-BD67-716F543536C5}" destId="{ABD2A686-E686-43FD-B7C8-20356BEA31AA}" srcOrd="0" destOrd="0" presId="urn:microsoft.com/office/officeart/2008/layout/LinedList"/>
    <dgm:cxn modelId="{DE2D4C15-E713-4051-835D-488410006231}" type="presParOf" srcId="{140C478E-4507-4713-BD67-716F543536C5}" destId="{C82FB42C-BD40-4783-BD21-68813B54E8ED}" srcOrd="1" destOrd="0" presId="urn:microsoft.com/office/officeart/2008/layout/LinedList"/>
    <dgm:cxn modelId="{5E13761E-0D0A-48A5-BBE2-C056AE311710}" type="presParOf" srcId="{54BF57CB-CBFE-4773-8E95-212B4B12A67D}" destId="{7C114A9B-90C9-4F6C-A253-E31893BF03A1}" srcOrd="10" destOrd="0" presId="urn:microsoft.com/office/officeart/2008/layout/LinedList"/>
    <dgm:cxn modelId="{F56F57A8-539A-4369-808E-6B756463A152}" type="presParOf" srcId="{54BF57CB-CBFE-4773-8E95-212B4B12A67D}" destId="{C9A9AA06-B3C7-479F-9650-8F534D03B6F0}" srcOrd="11" destOrd="0" presId="urn:microsoft.com/office/officeart/2008/layout/LinedList"/>
    <dgm:cxn modelId="{96D4E841-F447-446E-9979-31806449076C}" type="presParOf" srcId="{C9A9AA06-B3C7-479F-9650-8F534D03B6F0}" destId="{E9488ED3-EF84-499C-93F0-C73C6021CA1C}" srcOrd="0" destOrd="0" presId="urn:microsoft.com/office/officeart/2008/layout/LinedList"/>
    <dgm:cxn modelId="{08DCF841-7861-4415-A9F4-210D7FCAF419}" type="presParOf" srcId="{C9A9AA06-B3C7-479F-9650-8F534D03B6F0}" destId="{572A936E-10A6-493D-A8A2-150CFCA49F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A5EACC7-A1B2-44F4-BEEF-D82F21A0C250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3AA945E-E461-4CF4-BE2E-255059F32294}">
      <dgm:prSet/>
      <dgm:spPr/>
      <dgm:t>
        <a:bodyPr/>
        <a:lstStyle/>
        <a:p>
          <a:r>
            <a:rPr lang="en-US" b="1"/>
            <a:t>Contoh:</a:t>
          </a:r>
          <a:endParaRPr lang="en-US"/>
        </a:p>
      </dgm:t>
    </dgm:pt>
    <dgm:pt modelId="{969AF147-937D-4252-B760-1E9CEFD5B49F}" type="parTrans" cxnId="{42B19F5C-CE47-4567-8938-5C71187670BB}">
      <dgm:prSet/>
      <dgm:spPr/>
      <dgm:t>
        <a:bodyPr/>
        <a:lstStyle/>
        <a:p>
          <a:endParaRPr lang="en-US"/>
        </a:p>
      </dgm:t>
    </dgm:pt>
    <dgm:pt modelId="{769D0CC2-E711-4567-AD5E-DBC8AA6D8348}" type="sibTrans" cxnId="{42B19F5C-CE47-4567-8938-5C71187670BB}">
      <dgm:prSet/>
      <dgm:spPr/>
      <dgm:t>
        <a:bodyPr/>
        <a:lstStyle/>
        <a:p>
          <a:endParaRPr lang="en-US"/>
        </a:p>
      </dgm:t>
    </dgm:pt>
    <dgm:pt modelId="{E42A0982-73B0-4235-942F-73908D97E861}">
      <dgm:prSet/>
      <dgm:spPr/>
      <dgm:t>
        <a:bodyPr/>
        <a:lstStyle/>
        <a:p>
          <a:r>
            <a:rPr lang="en-US" b="1"/>
            <a:t>Buy Limit 4.800</a:t>
          </a:r>
          <a:r>
            <a:rPr lang="en-US"/>
            <a:t> → hanya tereksekusi bila harga </a:t>
          </a:r>
          <a:r>
            <a:rPr lang="en-US" b="1"/>
            <a:t>≤ 4.800</a:t>
          </a:r>
          <a:endParaRPr lang="en-US"/>
        </a:p>
      </dgm:t>
    </dgm:pt>
    <dgm:pt modelId="{378208A9-787B-4672-927E-9126CDC08CB3}" type="parTrans" cxnId="{559C7408-09BA-4FFD-AB74-E802E2D7C0A8}">
      <dgm:prSet/>
      <dgm:spPr/>
      <dgm:t>
        <a:bodyPr/>
        <a:lstStyle/>
        <a:p>
          <a:endParaRPr lang="en-US"/>
        </a:p>
      </dgm:t>
    </dgm:pt>
    <dgm:pt modelId="{411A7AAA-60F4-4F8D-956A-157DBF1ED075}" type="sibTrans" cxnId="{559C7408-09BA-4FFD-AB74-E802E2D7C0A8}">
      <dgm:prSet/>
      <dgm:spPr/>
      <dgm:t>
        <a:bodyPr/>
        <a:lstStyle/>
        <a:p>
          <a:endParaRPr lang="en-US"/>
        </a:p>
      </dgm:t>
    </dgm:pt>
    <dgm:pt modelId="{387B0ECA-7592-4CC6-A779-B30056AB60A7}">
      <dgm:prSet/>
      <dgm:spPr/>
      <dgm:t>
        <a:bodyPr/>
        <a:lstStyle/>
        <a:p>
          <a:r>
            <a:rPr lang="en-US" b="1"/>
            <a:t>Sell Limit 5.200</a:t>
          </a:r>
          <a:r>
            <a:rPr lang="en-US"/>
            <a:t> → hanya tereksekusi bila harga </a:t>
          </a:r>
          <a:r>
            <a:rPr lang="en-US" b="1"/>
            <a:t>≥ 5.200</a:t>
          </a:r>
          <a:endParaRPr lang="en-US"/>
        </a:p>
      </dgm:t>
    </dgm:pt>
    <dgm:pt modelId="{4C548561-E067-46C7-8D82-7EC92BE63F1D}" type="parTrans" cxnId="{F740E916-43FF-4DAF-B42E-B01753779873}">
      <dgm:prSet/>
      <dgm:spPr/>
      <dgm:t>
        <a:bodyPr/>
        <a:lstStyle/>
        <a:p>
          <a:endParaRPr lang="en-US"/>
        </a:p>
      </dgm:t>
    </dgm:pt>
    <dgm:pt modelId="{5454DB81-9667-4D24-B02E-5EACE18A2C42}" type="sibTrans" cxnId="{F740E916-43FF-4DAF-B42E-B01753779873}">
      <dgm:prSet/>
      <dgm:spPr/>
      <dgm:t>
        <a:bodyPr/>
        <a:lstStyle/>
        <a:p>
          <a:endParaRPr lang="en-US"/>
        </a:p>
      </dgm:t>
    </dgm:pt>
    <dgm:pt modelId="{6D7CB446-D5B4-41D9-AAFA-C993343AF718}">
      <dgm:prSet/>
      <dgm:spPr/>
      <dgm:t>
        <a:bodyPr/>
        <a:lstStyle/>
        <a:p>
          <a:r>
            <a:rPr lang="en-US" b="1"/>
            <a:t>Makna:</a:t>
          </a:r>
          <a:r>
            <a:rPr lang="en-US"/>
            <a:t> membantu investor mendapatkan harga yang diinginkan.</a:t>
          </a:r>
        </a:p>
      </dgm:t>
    </dgm:pt>
    <dgm:pt modelId="{607EE7B0-BDBB-41DA-89EC-332C3E366E67}" type="parTrans" cxnId="{A50099DE-469A-4966-90D6-BBF1B5FEC945}">
      <dgm:prSet/>
      <dgm:spPr/>
      <dgm:t>
        <a:bodyPr/>
        <a:lstStyle/>
        <a:p>
          <a:endParaRPr lang="en-US"/>
        </a:p>
      </dgm:t>
    </dgm:pt>
    <dgm:pt modelId="{2D84AEF4-DDC8-4012-961A-D001F79C4E82}" type="sibTrans" cxnId="{A50099DE-469A-4966-90D6-BBF1B5FEC945}">
      <dgm:prSet/>
      <dgm:spPr/>
      <dgm:t>
        <a:bodyPr/>
        <a:lstStyle/>
        <a:p>
          <a:endParaRPr lang="en-US"/>
        </a:p>
      </dgm:t>
    </dgm:pt>
    <dgm:pt modelId="{5FC926AA-1AA0-4DA9-9B36-ABA2EDA3DC7C}" type="pres">
      <dgm:prSet presAssocID="{BA5EACC7-A1B2-44F4-BEEF-D82F21A0C250}" presName="matrix" presStyleCnt="0">
        <dgm:presLayoutVars>
          <dgm:chMax val="1"/>
          <dgm:dir/>
          <dgm:resizeHandles val="exact"/>
        </dgm:presLayoutVars>
      </dgm:prSet>
      <dgm:spPr/>
    </dgm:pt>
    <dgm:pt modelId="{FCF50432-7BA2-4112-9BB3-C3501DFBE9A8}" type="pres">
      <dgm:prSet presAssocID="{BA5EACC7-A1B2-44F4-BEEF-D82F21A0C250}" presName="diamond" presStyleLbl="bgShp" presStyleIdx="0" presStyleCnt="1"/>
      <dgm:spPr/>
    </dgm:pt>
    <dgm:pt modelId="{DF76EBC4-A6EB-47A3-BF68-9BD658959ADF}" type="pres">
      <dgm:prSet presAssocID="{BA5EACC7-A1B2-44F4-BEEF-D82F21A0C25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8F38075-503A-406F-B5D2-319A71BA58B3}" type="pres">
      <dgm:prSet presAssocID="{BA5EACC7-A1B2-44F4-BEEF-D82F21A0C25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6874488-A5E1-4A54-9000-E1596F274C66}" type="pres">
      <dgm:prSet presAssocID="{BA5EACC7-A1B2-44F4-BEEF-D82F21A0C25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61CFBB7-DE96-413F-8C77-ABE0643CCDA9}" type="pres">
      <dgm:prSet presAssocID="{BA5EACC7-A1B2-44F4-BEEF-D82F21A0C25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59C7408-09BA-4FFD-AB74-E802E2D7C0A8}" srcId="{BA5EACC7-A1B2-44F4-BEEF-D82F21A0C250}" destId="{E42A0982-73B0-4235-942F-73908D97E861}" srcOrd="1" destOrd="0" parTransId="{378208A9-787B-4672-927E-9126CDC08CB3}" sibTransId="{411A7AAA-60F4-4F8D-956A-157DBF1ED075}"/>
    <dgm:cxn modelId="{3DB87A0D-436C-4D66-B208-119DC78CDE03}" type="presOf" srcId="{387B0ECA-7592-4CC6-A779-B30056AB60A7}" destId="{26874488-A5E1-4A54-9000-E1596F274C66}" srcOrd="0" destOrd="0" presId="urn:microsoft.com/office/officeart/2005/8/layout/matrix3"/>
    <dgm:cxn modelId="{F740E916-43FF-4DAF-B42E-B01753779873}" srcId="{BA5EACC7-A1B2-44F4-BEEF-D82F21A0C250}" destId="{387B0ECA-7592-4CC6-A779-B30056AB60A7}" srcOrd="2" destOrd="0" parTransId="{4C548561-E067-46C7-8D82-7EC92BE63F1D}" sibTransId="{5454DB81-9667-4D24-B02E-5EACE18A2C42}"/>
    <dgm:cxn modelId="{42B19F5C-CE47-4567-8938-5C71187670BB}" srcId="{BA5EACC7-A1B2-44F4-BEEF-D82F21A0C250}" destId="{23AA945E-E461-4CF4-BE2E-255059F32294}" srcOrd="0" destOrd="0" parTransId="{969AF147-937D-4252-B760-1E9CEFD5B49F}" sibTransId="{769D0CC2-E711-4567-AD5E-DBC8AA6D8348}"/>
    <dgm:cxn modelId="{6468DC72-3C8F-41A5-BC07-641C15E358A9}" type="presOf" srcId="{6D7CB446-D5B4-41D9-AAFA-C993343AF718}" destId="{761CFBB7-DE96-413F-8C77-ABE0643CCDA9}" srcOrd="0" destOrd="0" presId="urn:microsoft.com/office/officeart/2005/8/layout/matrix3"/>
    <dgm:cxn modelId="{D08FBA78-3D41-441F-AF25-F519FB649F30}" type="presOf" srcId="{BA5EACC7-A1B2-44F4-BEEF-D82F21A0C250}" destId="{5FC926AA-1AA0-4DA9-9B36-ABA2EDA3DC7C}" srcOrd="0" destOrd="0" presId="urn:microsoft.com/office/officeart/2005/8/layout/matrix3"/>
    <dgm:cxn modelId="{F292C35A-CD6F-4B04-B41F-5720F5ACBF30}" type="presOf" srcId="{E42A0982-73B0-4235-942F-73908D97E861}" destId="{C8F38075-503A-406F-B5D2-319A71BA58B3}" srcOrd="0" destOrd="0" presId="urn:microsoft.com/office/officeart/2005/8/layout/matrix3"/>
    <dgm:cxn modelId="{A50099DE-469A-4966-90D6-BBF1B5FEC945}" srcId="{BA5EACC7-A1B2-44F4-BEEF-D82F21A0C250}" destId="{6D7CB446-D5B4-41D9-AAFA-C993343AF718}" srcOrd="3" destOrd="0" parTransId="{607EE7B0-BDBB-41DA-89EC-332C3E366E67}" sibTransId="{2D84AEF4-DDC8-4012-961A-D001F79C4E82}"/>
    <dgm:cxn modelId="{BE1E09F2-80C8-433F-A8DD-90DF5DCCE30E}" type="presOf" srcId="{23AA945E-E461-4CF4-BE2E-255059F32294}" destId="{DF76EBC4-A6EB-47A3-BF68-9BD658959ADF}" srcOrd="0" destOrd="0" presId="urn:microsoft.com/office/officeart/2005/8/layout/matrix3"/>
    <dgm:cxn modelId="{43434A0F-731A-4990-93FC-EAE9AA164FAF}" type="presParOf" srcId="{5FC926AA-1AA0-4DA9-9B36-ABA2EDA3DC7C}" destId="{FCF50432-7BA2-4112-9BB3-C3501DFBE9A8}" srcOrd="0" destOrd="0" presId="urn:microsoft.com/office/officeart/2005/8/layout/matrix3"/>
    <dgm:cxn modelId="{448A47B7-B8CA-4EBD-AA42-F03A406A1F8A}" type="presParOf" srcId="{5FC926AA-1AA0-4DA9-9B36-ABA2EDA3DC7C}" destId="{DF76EBC4-A6EB-47A3-BF68-9BD658959ADF}" srcOrd="1" destOrd="0" presId="urn:microsoft.com/office/officeart/2005/8/layout/matrix3"/>
    <dgm:cxn modelId="{AC8D7DFE-E05E-480C-BBC1-DD3548B217C6}" type="presParOf" srcId="{5FC926AA-1AA0-4DA9-9B36-ABA2EDA3DC7C}" destId="{C8F38075-503A-406F-B5D2-319A71BA58B3}" srcOrd="2" destOrd="0" presId="urn:microsoft.com/office/officeart/2005/8/layout/matrix3"/>
    <dgm:cxn modelId="{2C22B1C8-104F-4E69-BDD6-E92551E31909}" type="presParOf" srcId="{5FC926AA-1AA0-4DA9-9B36-ABA2EDA3DC7C}" destId="{26874488-A5E1-4A54-9000-E1596F274C66}" srcOrd="3" destOrd="0" presId="urn:microsoft.com/office/officeart/2005/8/layout/matrix3"/>
    <dgm:cxn modelId="{5170462F-1E57-442D-9CF7-9554F541D897}" type="presParOf" srcId="{5FC926AA-1AA0-4DA9-9B36-ABA2EDA3DC7C}" destId="{761CFBB7-DE96-413F-8C77-ABE0643CCDA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47A1019-E50A-4932-B49B-41019DA11661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A15FA4-556A-4E93-A36D-DE3AB30733EB}">
      <dgm:prSet/>
      <dgm:spPr/>
      <dgm:t>
        <a:bodyPr/>
        <a:lstStyle/>
        <a:p>
          <a:r>
            <a:rPr lang="en-US" b="1"/>
            <a:t>Market microstructure</a:t>
          </a:r>
          <a:r>
            <a:rPr lang="en-US"/>
            <a:t>: bagaimana order masuk, diproses, dan dicocokkan.</a:t>
          </a:r>
        </a:p>
      </dgm:t>
    </dgm:pt>
    <dgm:pt modelId="{F7006BB0-C19F-4A59-99BD-72BA75FF51F5}" type="parTrans" cxnId="{45DF6238-249F-4342-975B-132019D09698}">
      <dgm:prSet/>
      <dgm:spPr/>
      <dgm:t>
        <a:bodyPr/>
        <a:lstStyle/>
        <a:p>
          <a:endParaRPr lang="en-US"/>
        </a:p>
      </dgm:t>
    </dgm:pt>
    <dgm:pt modelId="{E01E6A48-F645-44C8-A1AB-5EE0CEBF12B9}" type="sibTrans" cxnId="{45DF6238-249F-4342-975B-132019D09698}">
      <dgm:prSet/>
      <dgm:spPr/>
      <dgm:t>
        <a:bodyPr/>
        <a:lstStyle/>
        <a:p>
          <a:endParaRPr lang="en-US"/>
        </a:p>
      </dgm:t>
    </dgm:pt>
    <dgm:pt modelId="{7B969EF4-6B1F-41FA-9300-ADB7D41732B3}">
      <dgm:prSet/>
      <dgm:spPr/>
      <dgm:t>
        <a:bodyPr/>
        <a:lstStyle/>
        <a:p>
          <a:r>
            <a:rPr lang="en-US"/>
            <a:t>Elemen:</a:t>
          </a:r>
        </a:p>
      </dgm:t>
    </dgm:pt>
    <dgm:pt modelId="{E82E2747-22F8-4476-8A8C-C18842D0DEB0}" type="parTrans" cxnId="{3F9F86DA-4807-44FC-800C-D9BC9D7D9189}">
      <dgm:prSet/>
      <dgm:spPr/>
      <dgm:t>
        <a:bodyPr/>
        <a:lstStyle/>
        <a:p>
          <a:endParaRPr lang="en-US"/>
        </a:p>
      </dgm:t>
    </dgm:pt>
    <dgm:pt modelId="{A9BD13C5-1389-4599-B7DA-8CB4BBFD036B}" type="sibTrans" cxnId="{3F9F86DA-4807-44FC-800C-D9BC9D7D9189}">
      <dgm:prSet/>
      <dgm:spPr/>
      <dgm:t>
        <a:bodyPr/>
        <a:lstStyle/>
        <a:p>
          <a:endParaRPr lang="en-US"/>
        </a:p>
      </dgm:t>
    </dgm:pt>
    <dgm:pt modelId="{496123AE-9E11-4216-BEDD-3143BDD45409}">
      <dgm:prSet/>
      <dgm:spPr/>
      <dgm:t>
        <a:bodyPr/>
        <a:lstStyle/>
        <a:p>
          <a:r>
            <a:rPr lang="en-US" b="1"/>
            <a:t>Order Book</a:t>
          </a:r>
          <a:endParaRPr lang="en-US"/>
        </a:p>
      </dgm:t>
    </dgm:pt>
    <dgm:pt modelId="{52F62AFE-CBFE-446C-8E56-1B2325D943E4}" type="parTrans" cxnId="{91FB0FF3-8D26-4305-835E-D587FFF588AA}">
      <dgm:prSet/>
      <dgm:spPr/>
      <dgm:t>
        <a:bodyPr/>
        <a:lstStyle/>
        <a:p>
          <a:endParaRPr lang="en-US"/>
        </a:p>
      </dgm:t>
    </dgm:pt>
    <dgm:pt modelId="{EE4197DF-14AD-4B8F-B90A-36569DC7F4A8}" type="sibTrans" cxnId="{91FB0FF3-8D26-4305-835E-D587FFF588AA}">
      <dgm:prSet/>
      <dgm:spPr/>
      <dgm:t>
        <a:bodyPr/>
        <a:lstStyle/>
        <a:p>
          <a:endParaRPr lang="en-US"/>
        </a:p>
      </dgm:t>
    </dgm:pt>
    <dgm:pt modelId="{CCDFDC1C-05F5-4E01-96C2-70F4B0ABF60D}">
      <dgm:prSet/>
      <dgm:spPr/>
      <dgm:t>
        <a:bodyPr/>
        <a:lstStyle/>
        <a:p>
          <a:r>
            <a:rPr lang="en-US" b="1"/>
            <a:t>Matching Engine</a:t>
          </a:r>
          <a:endParaRPr lang="en-US"/>
        </a:p>
      </dgm:t>
    </dgm:pt>
    <dgm:pt modelId="{71754360-DBAB-4BC3-B115-29F96A06385B}" type="parTrans" cxnId="{42AFCBF5-4592-4B2E-BAF2-EA18AA2BE38A}">
      <dgm:prSet/>
      <dgm:spPr/>
      <dgm:t>
        <a:bodyPr/>
        <a:lstStyle/>
        <a:p>
          <a:endParaRPr lang="en-US"/>
        </a:p>
      </dgm:t>
    </dgm:pt>
    <dgm:pt modelId="{93046B13-6ADD-4311-B3D2-28DC2965F1D7}" type="sibTrans" cxnId="{42AFCBF5-4592-4B2E-BAF2-EA18AA2BE38A}">
      <dgm:prSet/>
      <dgm:spPr/>
      <dgm:t>
        <a:bodyPr/>
        <a:lstStyle/>
        <a:p>
          <a:endParaRPr lang="en-US"/>
        </a:p>
      </dgm:t>
    </dgm:pt>
    <dgm:pt modelId="{45EF63E5-7E90-4BD6-8856-4D666B6223BB}">
      <dgm:prSet/>
      <dgm:spPr/>
      <dgm:t>
        <a:bodyPr/>
        <a:lstStyle/>
        <a:p>
          <a:r>
            <a:rPr lang="en-US" b="1"/>
            <a:t>Market Maker</a:t>
          </a:r>
          <a:endParaRPr lang="en-US"/>
        </a:p>
      </dgm:t>
    </dgm:pt>
    <dgm:pt modelId="{C745AD5C-D71C-4533-90C2-7B1F18DC46A8}" type="parTrans" cxnId="{D61BD4D2-04FD-4E6E-AEF0-D0284E7D2953}">
      <dgm:prSet/>
      <dgm:spPr/>
      <dgm:t>
        <a:bodyPr/>
        <a:lstStyle/>
        <a:p>
          <a:endParaRPr lang="en-US"/>
        </a:p>
      </dgm:t>
    </dgm:pt>
    <dgm:pt modelId="{CDB55527-DC2D-4D5C-9EE7-46BC9A4E4059}" type="sibTrans" cxnId="{D61BD4D2-04FD-4E6E-AEF0-D0284E7D2953}">
      <dgm:prSet/>
      <dgm:spPr/>
      <dgm:t>
        <a:bodyPr/>
        <a:lstStyle/>
        <a:p>
          <a:endParaRPr lang="en-US"/>
        </a:p>
      </dgm:t>
    </dgm:pt>
    <dgm:pt modelId="{7EAE355C-88A7-47E2-8910-A9ED62E1CCB6}">
      <dgm:prSet/>
      <dgm:spPr/>
      <dgm:t>
        <a:bodyPr/>
        <a:lstStyle/>
        <a:p>
          <a:r>
            <a:rPr lang="en-US" b="1"/>
            <a:t>Liquidity Provider</a:t>
          </a:r>
          <a:endParaRPr lang="en-US"/>
        </a:p>
      </dgm:t>
    </dgm:pt>
    <dgm:pt modelId="{8C5DF279-EED4-4EFF-BC30-F454C6B89372}" type="parTrans" cxnId="{57857789-BE67-497E-94CB-E22001EDA48E}">
      <dgm:prSet/>
      <dgm:spPr/>
      <dgm:t>
        <a:bodyPr/>
        <a:lstStyle/>
        <a:p>
          <a:endParaRPr lang="en-US"/>
        </a:p>
      </dgm:t>
    </dgm:pt>
    <dgm:pt modelId="{443AFBFA-CF78-4FA8-B44A-BFF8A816F2B1}" type="sibTrans" cxnId="{57857789-BE67-497E-94CB-E22001EDA48E}">
      <dgm:prSet/>
      <dgm:spPr/>
      <dgm:t>
        <a:bodyPr/>
        <a:lstStyle/>
        <a:p>
          <a:endParaRPr lang="en-US"/>
        </a:p>
      </dgm:t>
    </dgm:pt>
    <dgm:pt modelId="{4D131AF8-0CE0-428C-9FD6-F69CDDC247EC}" type="pres">
      <dgm:prSet presAssocID="{B47A1019-E50A-4932-B49B-41019DA11661}" presName="Name0" presStyleCnt="0">
        <dgm:presLayoutVars>
          <dgm:dir/>
          <dgm:animLvl val="lvl"/>
          <dgm:resizeHandles val="exact"/>
        </dgm:presLayoutVars>
      </dgm:prSet>
      <dgm:spPr/>
    </dgm:pt>
    <dgm:pt modelId="{B8D7DC07-BE42-42EF-80F0-889359CC9200}" type="pres">
      <dgm:prSet presAssocID="{7B969EF4-6B1F-41FA-9300-ADB7D41732B3}" presName="boxAndChildren" presStyleCnt="0"/>
      <dgm:spPr/>
    </dgm:pt>
    <dgm:pt modelId="{BE36513C-AB45-4C60-9E7D-037BD7A6AACD}" type="pres">
      <dgm:prSet presAssocID="{7B969EF4-6B1F-41FA-9300-ADB7D41732B3}" presName="parentTextBox" presStyleLbl="node1" presStyleIdx="0" presStyleCnt="2"/>
      <dgm:spPr/>
    </dgm:pt>
    <dgm:pt modelId="{F3427CC8-91BC-4ACE-8FA0-1A7B282B21B8}" type="pres">
      <dgm:prSet presAssocID="{7B969EF4-6B1F-41FA-9300-ADB7D41732B3}" presName="entireBox" presStyleLbl="node1" presStyleIdx="0" presStyleCnt="2"/>
      <dgm:spPr/>
    </dgm:pt>
    <dgm:pt modelId="{E5FCF8ED-9903-46B1-BB0D-938BC21480A4}" type="pres">
      <dgm:prSet presAssocID="{7B969EF4-6B1F-41FA-9300-ADB7D41732B3}" presName="descendantBox" presStyleCnt="0"/>
      <dgm:spPr/>
    </dgm:pt>
    <dgm:pt modelId="{F99B21D2-4838-4BF5-BA0C-8C1340463E40}" type="pres">
      <dgm:prSet presAssocID="{496123AE-9E11-4216-BEDD-3143BDD45409}" presName="childTextBox" presStyleLbl="fgAccFollowNode1" presStyleIdx="0" presStyleCnt="4">
        <dgm:presLayoutVars>
          <dgm:bulletEnabled val="1"/>
        </dgm:presLayoutVars>
      </dgm:prSet>
      <dgm:spPr/>
    </dgm:pt>
    <dgm:pt modelId="{50032D9B-8EA5-4A79-81F6-D8B946421796}" type="pres">
      <dgm:prSet presAssocID="{CCDFDC1C-05F5-4E01-96C2-70F4B0ABF60D}" presName="childTextBox" presStyleLbl="fgAccFollowNode1" presStyleIdx="1" presStyleCnt="4">
        <dgm:presLayoutVars>
          <dgm:bulletEnabled val="1"/>
        </dgm:presLayoutVars>
      </dgm:prSet>
      <dgm:spPr/>
    </dgm:pt>
    <dgm:pt modelId="{76346543-77C7-4E84-BF95-91D8BCE800DE}" type="pres">
      <dgm:prSet presAssocID="{45EF63E5-7E90-4BD6-8856-4D666B6223BB}" presName="childTextBox" presStyleLbl="fgAccFollowNode1" presStyleIdx="2" presStyleCnt="4">
        <dgm:presLayoutVars>
          <dgm:bulletEnabled val="1"/>
        </dgm:presLayoutVars>
      </dgm:prSet>
      <dgm:spPr/>
    </dgm:pt>
    <dgm:pt modelId="{9AE8710A-35B0-4FA0-8693-9A474D68E097}" type="pres">
      <dgm:prSet presAssocID="{7EAE355C-88A7-47E2-8910-A9ED62E1CCB6}" presName="childTextBox" presStyleLbl="fgAccFollowNode1" presStyleIdx="3" presStyleCnt="4">
        <dgm:presLayoutVars>
          <dgm:bulletEnabled val="1"/>
        </dgm:presLayoutVars>
      </dgm:prSet>
      <dgm:spPr/>
    </dgm:pt>
    <dgm:pt modelId="{4BF1B733-090B-4A1A-A906-C8464D4BE3AB}" type="pres">
      <dgm:prSet presAssocID="{E01E6A48-F645-44C8-A1AB-5EE0CEBF12B9}" presName="sp" presStyleCnt="0"/>
      <dgm:spPr/>
    </dgm:pt>
    <dgm:pt modelId="{362AAEA2-A6C4-4440-975A-8B2D333C5253}" type="pres">
      <dgm:prSet presAssocID="{B3A15FA4-556A-4E93-A36D-DE3AB30733EB}" presName="arrowAndChildren" presStyleCnt="0"/>
      <dgm:spPr/>
    </dgm:pt>
    <dgm:pt modelId="{9E3E13D0-8A65-430A-BF21-30A8B5B93FF3}" type="pres">
      <dgm:prSet presAssocID="{B3A15FA4-556A-4E93-A36D-DE3AB30733EB}" presName="parentTextArrow" presStyleLbl="node1" presStyleIdx="1" presStyleCnt="2"/>
      <dgm:spPr/>
    </dgm:pt>
  </dgm:ptLst>
  <dgm:cxnLst>
    <dgm:cxn modelId="{1EEA9C0B-712D-4D60-8BB3-6166CD3D7968}" type="presOf" srcId="{7EAE355C-88A7-47E2-8910-A9ED62E1CCB6}" destId="{9AE8710A-35B0-4FA0-8693-9A474D68E097}" srcOrd="0" destOrd="0" presId="urn:microsoft.com/office/officeart/2005/8/layout/process4"/>
    <dgm:cxn modelId="{0D013F1A-FD41-4C3F-AE3D-B5C8F618B8CF}" type="presOf" srcId="{45EF63E5-7E90-4BD6-8856-4D666B6223BB}" destId="{76346543-77C7-4E84-BF95-91D8BCE800DE}" srcOrd="0" destOrd="0" presId="urn:microsoft.com/office/officeart/2005/8/layout/process4"/>
    <dgm:cxn modelId="{2A470537-7064-4A12-83C6-3C0BCEA07831}" type="presOf" srcId="{496123AE-9E11-4216-BEDD-3143BDD45409}" destId="{F99B21D2-4838-4BF5-BA0C-8C1340463E40}" srcOrd="0" destOrd="0" presId="urn:microsoft.com/office/officeart/2005/8/layout/process4"/>
    <dgm:cxn modelId="{45DF6238-249F-4342-975B-132019D09698}" srcId="{B47A1019-E50A-4932-B49B-41019DA11661}" destId="{B3A15FA4-556A-4E93-A36D-DE3AB30733EB}" srcOrd="0" destOrd="0" parTransId="{F7006BB0-C19F-4A59-99BD-72BA75FF51F5}" sibTransId="{E01E6A48-F645-44C8-A1AB-5EE0CEBF12B9}"/>
    <dgm:cxn modelId="{C0BBE63F-4EB2-4322-B27D-81BF0E9E0444}" type="presOf" srcId="{7B969EF4-6B1F-41FA-9300-ADB7D41732B3}" destId="{BE36513C-AB45-4C60-9E7D-037BD7A6AACD}" srcOrd="0" destOrd="0" presId="urn:microsoft.com/office/officeart/2005/8/layout/process4"/>
    <dgm:cxn modelId="{BE28EF5F-01DB-4127-A5DD-672E138CF2FE}" type="presOf" srcId="{7B969EF4-6B1F-41FA-9300-ADB7D41732B3}" destId="{F3427CC8-91BC-4ACE-8FA0-1A7B282B21B8}" srcOrd="1" destOrd="0" presId="urn:microsoft.com/office/officeart/2005/8/layout/process4"/>
    <dgm:cxn modelId="{57857789-BE67-497E-94CB-E22001EDA48E}" srcId="{7B969EF4-6B1F-41FA-9300-ADB7D41732B3}" destId="{7EAE355C-88A7-47E2-8910-A9ED62E1CCB6}" srcOrd="3" destOrd="0" parTransId="{8C5DF279-EED4-4EFF-BC30-F454C6B89372}" sibTransId="{443AFBFA-CF78-4FA8-B44A-BFF8A816F2B1}"/>
    <dgm:cxn modelId="{97B0FFC4-BB44-46D3-882A-DED0B2444FE9}" type="presOf" srcId="{B47A1019-E50A-4932-B49B-41019DA11661}" destId="{4D131AF8-0CE0-428C-9FD6-F69CDDC247EC}" srcOrd="0" destOrd="0" presId="urn:microsoft.com/office/officeart/2005/8/layout/process4"/>
    <dgm:cxn modelId="{427351D2-F318-408C-AB89-5C5B810C76CE}" type="presOf" srcId="{CCDFDC1C-05F5-4E01-96C2-70F4B0ABF60D}" destId="{50032D9B-8EA5-4A79-81F6-D8B946421796}" srcOrd="0" destOrd="0" presId="urn:microsoft.com/office/officeart/2005/8/layout/process4"/>
    <dgm:cxn modelId="{D61BD4D2-04FD-4E6E-AEF0-D0284E7D2953}" srcId="{7B969EF4-6B1F-41FA-9300-ADB7D41732B3}" destId="{45EF63E5-7E90-4BD6-8856-4D666B6223BB}" srcOrd="2" destOrd="0" parTransId="{C745AD5C-D71C-4533-90C2-7B1F18DC46A8}" sibTransId="{CDB55527-DC2D-4D5C-9EE7-46BC9A4E4059}"/>
    <dgm:cxn modelId="{3F9F86DA-4807-44FC-800C-D9BC9D7D9189}" srcId="{B47A1019-E50A-4932-B49B-41019DA11661}" destId="{7B969EF4-6B1F-41FA-9300-ADB7D41732B3}" srcOrd="1" destOrd="0" parTransId="{E82E2747-22F8-4476-8A8C-C18842D0DEB0}" sibTransId="{A9BD13C5-1389-4599-B7DA-8CB4BBFD036B}"/>
    <dgm:cxn modelId="{91FB0FF3-8D26-4305-835E-D587FFF588AA}" srcId="{7B969EF4-6B1F-41FA-9300-ADB7D41732B3}" destId="{496123AE-9E11-4216-BEDD-3143BDD45409}" srcOrd="0" destOrd="0" parTransId="{52F62AFE-CBFE-446C-8E56-1B2325D943E4}" sibTransId="{EE4197DF-14AD-4B8F-B90A-36569DC7F4A8}"/>
    <dgm:cxn modelId="{42AFCBF5-4592-4B2E-BAF2-EA18AA2BE38A}" srcId="{7B969EF4-6B1F-41FA-9300-ADB7D41732B3}" destId="{CCDFDC1C-05F5-4E01-96C2-70F4B0ABF60D}" srcOrd="1" destOrd="0" parTransId="{71754360-DBAB-4BC3-B115-29F96A06385B}" sibTransId="{93046B13-6ADD-4311-B3D2-28DC2965F1D7}"/>
    <dgm:cxn modelId="{F7FFD0F8-5579-45E6-8093-D234534328B2}" type="presOf" srcId="{B3A15FA4-556A-4E93-A36D-DE3AB30733EB}" destId="{9E3E13D0-8A65-430A-BF21-30A8B5B93FF3}" srcOrd="0" destOrd="0" presId="urn:microsoft.com/office/officeart/2005/8/layout/process4"/>
    <dgm:cxn modelId="{26894355-0E14-447A-8299-4DA29E16046E}" type="presParOf" srcId="{4D131AF8-0CE0-428C-9FD6-F69CDDC247EC}" destId="{B8D7DC07-BE42-42EF-80F0-889359CC9200}" srcOrd="0" destOrd="0" presId="urn:microsoft.com/office/officeart/2005/8/layout/process4"/>
    <dgm:cxn modelId="{E1697653-196E-4586-A44C-A0E63291E575}" type="presParOf" srcId="{B8D7DC07-BE42-42EF-80F0-889359CC9200}" destId="{BE36513C-AB45-4C60-9E7D-037BD7A6AACD}" srcOrd="0" destOrd="0" presId="urn:microsoft.com/office/officeart/2005/8/layout/process4"/>
    <dgm:cxn modelId="{10FC60F6-763D-4760-A751-C65120CB0EBE}" type="presParOf" srcId="{B8D7DC07-BE42-42EF-80F0-889359CC9200}" destId="{F3427CC8-91BC-4ACE-8FA0-1A7B282B21B8}" srcOrd="1" destOrd="0" presId="urn:microsoft.com/office/officeart/2005/8/layout/process4"/>
    <dgm:cxn modelId="{9F0EF9F4-421C-4F5A-ADF7-FE26F0D4B89E}" type="presParOf" srcId="{B8D7DC07-BE42-42EF-80F0-889359CC9200}" destId="{E5FCF8ED-9903-46B1-BB0D-938BC21480A4}" srcOrd="2" destOrd="0" presId="urn:microsoft.com/office/officeart/2005/8/layout/process4"/>
    <dgm:cxn modelId="{B534FF37-2CB5-493B-AE94-83BEFA487255}" type="presParOf" srcId="{E5FCF8ED-9903-46B1-BB0D-938BC21480A4}" destId="{F99B21D2-4838-4BF5-BA0C-8C1340463E40}" srcOrd="0" destOrd="0" presId="urn:microsoft.com/office/officeart/2005/8/layout/process4"/>
    <dgm:cxn modelId="{94EE69CB-46F3-4694-9299-638D7CFD8A18}" type="presParOf" srcId="{E5FCF8ED-9903-46B1-BB0D-938BC21480A4}" destId="{50032D9B-8EA5-4A79-81F6-D8B946421796}" srcOrd="1" destOrd="0" presId="urn:microsoft.com/office/officeart/2005/8/layout/process4"/>
    <dgm:cxn modelId="{A1EC3F92-3D1E-481A-847A-42809AE67335}" type="presParOf" srcId="{E5FCF8ED-9903-46B1-BB0D-938BC21480A4}" destId="{76346543-77C7-4E84-BF95-91D8BCE800DE}" srcOrd="2" destOrd="0" presId="urn:microsoft.com/office/officeart/2005/8/layout/process4"/>
    <dgm:cxn modelId="{45240B41-230D-4930-A3B7-B5646A4FCBAE}" type="presParOf" srcId="{E5FCF8ED-9903-46B1-BB0D-938BC21480A4}" destId="{9AE8710A-35B0-4FA0-8693-9A474D68E097}" srcOrd="3" destOrd="0" presId="urn:microsoft.com/office/officeart/2005/8/layout/process4"/>
    <dgm:cxn modelId="{C873FDAA-7979-4C51-9AC8-DD9DE3720683}" type="presParOf" srcId="{4D131AF8-0CE0-428C-9FD6-F69CDDC247EC}" destId="{4BF1B733-090B-4A1A-A906-C8464D4BE3AB}" srcOrd="1" destOrd="0" presId="urn:microsoft.com/office/officeart/2005/8/layout/process4"/>
    <dgm:cxn modelId="{C37F9E74-6ED7-4DCA-8686-4FEE7B29851F}" type="presParOf" srcId="{4D131AF8-0CE0-428C-9FD6-F69CDDC247EC}" destId="{362AAEA2-A6C4-4440-975A-8B2D333C5253}" srcOrd="2" destOrd="0" presId="urn:microsoft.com/office/officeart/2005/8/layout/process4"/>
    <dgm:cxn modelId="{7795EDE7-BBBB-4516-ACD0-5C69A441B7A7}" type="presParOf" srcId="{362AAEA2-A6C4-4440-975A-8B2D333C5253}" destId="{9E3E13D0-8A65-430A-BF21-30A8B5B93FF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033DCD-ACCE-4C90-A891-B23CDFE75E2B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018879B-0D0F-4312-AAF8-0F6EB4EB570F}">
      <dgm:prSet/>
      <dgm:spPr/>
      <dgm:t>
        <a:bodyPr/>
        <a:lstStyle/>
        <a:p>
          <a:r>
            <a:rPr lang="en-US" b="1"/>
            <a:t>HFT (High Frequency Trading)</a:t>
          </a:r>
          <a:r>
            <a:rPr lang="en-US"/>
            <a:t>: algoritma dengan kecepatan tinggi.</a:t>
          </a:r>
        </a:p>
      </dgm:t>
    </dgm:pt>
    <dgm:pt modelId="{EE5DDDFA-D278-4C4B-ACB3-4A2841904F7D}" type="parTrans" cxnId="{91A7B834-FC2D-4E66-AC3A-F0DF982FF94F}">
      <dgm:prSet/>
      <dgm:spPr/>
      <dgm:t>
        <a:bodyPr/>
        <a:lstStyle/>
        <a:p>
          <a:endParaRPr lang="en-US"/>
        </a:p>
      </dgm:t>
    </dgm:pt>
    <dgm:pt modelId="{175EC97A-F535-43FC-B057-AE1FCB5A95C5}" type="sibTrans" cxnId="{91A7B834-FC2D-4E66-AC3A-F0DF982FF94F}">
      <dgm:prSet/>
      <dgm:spPr/>
      <dgm:t>
        <a:bodyPr/>
        <a:lstStyle/>
        <a:p>
          <a:endParaRPr lang="en-US"/>
        </a:p>
      </dgm:t>
    </dgm:pt>
    <dgm:pt modelId="{8D46CC6C-52A0-48F1-A79A-AA519DBFC215}">
      <dgm:prSet/>
      <dgm:spPr/>
      <dgm:t>
        <a:bodyPr/>
        <a:lstStyle/>
        <a:p>
          <a:r>
            <a:rPr lang="en-US" b="1"/>
            <a:t>Dark Pools</a:t>
          </a:r>
          <a:r>
            <a:rPr lang="en-US"/>
            <a:t>: platform perdagangan privat untuk transaksi besar.</a:t>
          </a:r>
        </a:p>
      </dgm:t>
    </dgm:pt>
    <dgm:pt modelId="{381253EA-068A-40FF-B797-2AD6D889DD39}" type="parTrans" cxnId="{892CA3CC-3313-497B-9361-44E5B21B594A}">
      <dgm:prSet/>
      <dgm:spPr/>
      <dgm:t>
        <a:bodyPr/>
        <a:lstStyle/>
        <a:p>
          <a:endParaRPr lang="en-US"/>
        </a:p>
      </dgm:t>
    </dgm:pt>
    <dgm:pt modelId="{914B9A63-C95F-4A89-B566-893B5FEEC0B3}" type="sibTrans" cxnId="{892CA3CC-3313-497B-9361-44E5B21B594A}">
      <dgm:prSet/>
      <dgm:spPr/>
      <dgm:t>
        <a:bodyPr/>
        <a:lstStyle/>
        <a:p>
          <a:endParaRPr lang="en-US"/>
        </a:p>
      </dgm:t>
    </dgm:pt>
    <dgm:pt modelId="{101DCA8A-63C6-4A6E-8D89-539372918E1C}">
      <dgm:prSet/>
      <dgm:spPr/>
      <dgm:t>
        <a:bodyPr/>
        <a:lstStyle/>
        <a:p>
          <a:r>
            <a:rPr lang="en-US" b="1"/>
            <a:t>Auto-Matching</a:t>
          </a:r>
          <a:r>
            <a:rPr lang="en-US"/>
            <a:t>: sistem otomatis mencocokkan order.</a:t>
          </a:r>
        </a:p>
      </dgm:t>
    </dgm:pt>
    <dgm:pt modelId="{367C364E-36DA-4994-A6A1-BD3F3BD16B50}" type="parTrans" cxnId="{ADC94FA7-2702-4FC5-8DD7-74DA3FA6F987}">
      <dgm:prSet/>
      <dgm:spPr/>
      <dgm:t>
        <a:bodyPr/>
        <a:lstStyle/>
        <a:p>
          <a:endParaRPr lang="en-US"/>
        </a:p>
      </dgm:t>
    </dgm:pt>
    <dgm:pt modelId="{C58312A0-B184-4013-B060-96CC86822952}" type="sibTrans" cxnId="{ADC94FA7-2702-4FC5-8DD7-74DA3FA6F987}">
      <dgm:prSet/>
      <dgm:spPr/>
      <dgm:t>
        <a:bodyPr/>
        <a:lstStyle/>
        <a:p>
          <a:endParaRPr lang="en-US"/>
        </a:p>
      </dgm:t>
    </dgm:pt>
    <dgm:pt modelId="{65D09C58-36C6-452C-BF84-F64BA282BFBA}">
      <dgm:prSet/>
      <dgm:spPr/>
      <dgm:t>
        <a:bodyPr/>
        <a:lstStyle/>
        <a:p>
          <a:r>
            <a:rPr lang="en-US"/>
            <a:t>Teknologi membuat market lebih cepat dan efisien.</a:t>
          </a:r>
          <a:br>
            <a:rPr lang="en-US"/>
          </a:br>
          <a:endParaRPr lang="en-US"/>
        </a:p>
      </dgm:t>
    </dgm:pt>
    <dgm:pt modelId="{E91F50B6-7281-4933-831B-F884597ABAB4}" type="parTrans" cxnId="{1982A985-5497-45E0-AA99-F27E60029A7F}">
      <dgm:prSet/>
      <dgm:spPr/>
      <dgm:t>
        <a:bodyPr/>
        <a:lstStyle/>
        <a:p>
          <a:endParaRPr lang="en-US"/>
        </a:p>
      </dgm:t>
    </dgm:pt>
    <dgm:pt modelId="{CCAC237E-9EEF-43A4-A480-8A805600BF28}" type="sibTrans" cxnId="{1982A985-5497-45E0-AA99-F27E60029A7F}">
      <dgm:prSet/>
      <dgm:spPr/>
      <dgm:t>
        <a:bodyPr/>
        <a:lstStyle/>
        <a:p>
          <a:endParaRPr lang="en-US"/>
        </a:p>
      </dgm:t>
    </dgm:pt>
    <dgm:pt modelId="{3F8AC203-20CA-4EEE-82BE-7C8640C3B8CF}" type="pres">
      <dgm:prSet presAssocID="{17033DCD-ACCE-4C90-A891-B23CDFE75E2B}" presName="matrix" presStyleCnt="0">
        <dgm:presLayoutVars>
          <dgm:chMax val="1"/>
          <dgm:dir/>
          <dgm:resizeHandles val="exact"/>
        </dgm:presLayoutVars>
      </dgm:prSet>
      <dgm:spPr/>
    </dgm:pt>
    <dgm:pt modelId="{BAF33EB3-9D06-4E2A-BECD-F17EC4EC267B}" type="pres">
      <dgm:prSet presAssocID="{17033DCD-ACCE-4C90-A891-B23CDFE75E2B}" presName="diamond" presStyleLbl="bgShp" presStyleIdx="0" presStyleCnt="1"/>
      <dgm:spPr/>
    </dgm:pt>
    <dgm:pt modelId="{317F46D6-8EA1-4601-9DCC-E640F886DA2A}" type="pres">
      <dgm:prSet presAssocID="{17033DCD-ACCE-4C90-A891-B23CDFE75E2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BD37349-23BA-42EE-B0E4-20FA118A62BE}" type="pres">
      <dgm:prSet presAssocID="{17033DCD-ACCE-4C90-A891-B23CDFE75E2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1F7631-874F-454A-BAEE-FC2AAA485B35}" type="pres">
      <dgm:prSet presAssocID="{17033DCD-ACCE-4C90-A891-B23CDFE75E2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727B1DB-7351-403D-A636-0086DE87D617}" type="pres">
      <dgm:prSet presAssocID="{17033DCD-ACCE-4C90-A891-B23CDFE75E2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CEDD12B-8346-4045-92BC-895035244510}" type="presOf" srcId="{A018879B-0D0F-4312-AAF8-0F6EB4EB570F}" destId="{317F46D6-8EA1-4601-9DCC-E640F886DA2A}" srcOrd="0" destOrd="0" presId="urn:microsoft.com/office/officeart/2005/8/layout/matrix3"/>
    <dgm:cxn modelId="{91A7B834-FC2D-4E66-AC3A-F0DF982FF94F}" srcId="{17033DCD-ACCE-4C90-A891-B23CDFE75E2B}" destId="{A018879B-0D0F-4312-AAF8-0F6EB4EB570F}" srcOrd="0" destOrd="0" parTransId="{EE5DDDFA-D278-4C4B-ACB3-4A2841904F7D}" sibTransId="{175EC97A-F535-43FC-B057-AE1FCB5A95C5}"/>
    <dgm:cxn modelId="{324D7E4C-EA9C-4BDF-9714-14B34FAED4B3}" type="presOf" srcId="{65D09C58-36C6-452C-BF84-F64BA282BFBA}" destId="{4727B1DB-7351-403D-A636-0086DE87D617}" srcOrd="0" destOrd="0" presId="urn:microsoft.com/office/officeart/2005/8/layout/matrix3"/>
    <dgm:cxn modelId="{1982A985-5497-45E0-AA99-F27E60029A7F}" srcId="{17033DCD-ACCE-4C90-A891-B23CDFE75E2B}" destId="{65D09C58-36C6-452C-BF84-F64BA282BFBA}" srcOrd="3" destOrd="0" parTransId="{E91F50B6-7281-4933-831B-F884597ABAB4}" sibTransId="{CCAC237E-9EEF-43A4-A480-8A805600BF28}"/>
    <dgm:cxn modelId="{4F56A98C-C3C9-4E3E-8247-166DA9FB2A20}" type="presOf" srcId="{101DCA8A-63C6-4A6E-8D89-539372918E1C}" destId="{721F7631-874F-454A-BAEE-FC2AAA485B35}" srcOrd="0" destOrd="0" presId="urn:microsoft.com/office/officeart/2005/8/layout/matrix3"/>
    <dgm:cxn modelId="{D95F0AA7-0DED-4B9B-8F4A-0BA27BCDD81B}" type="presOf" srcId="{8D46CC6C-52A0-48F1-A79A-AA519DBFC215}" destId="{FBD37349-23BA-42EE-B0E4-20FA118A62BE}" srcOrd="0" destOrd="0" presId="urn:microsoft.com/office/officeart/2005/8/layout/matrix3"/>
    <dgm:cxn modelId="{ADC94FA7-2702-4FC5-8DD7-74DA3FA6F987}" srcId="{17033DCD-ACCE-4C90-A891-B23CDFE75E2B}" destId="{101DCA8A-63C6-4A6E-8D89-539372918E1C}" srcOrd="2" destOrd="0" parTransId="{367C364E-36DA-4994-A6A1-BD3F3BD16B50}" sibTransId="{C58312A0-B184-4013-B060-96CC86822952}"/>
    <dgm:cxn modelId="{892CA3CC-3313-497B-9361-44E5B21B594A}" srcId="{17033DCD-ACCE-4C90-A891-B23CDFE75E2B}" destId="{8D46CC6C-52A0-48F1-A79A-AA519DBFC215}" srcOrd="1" destOrd="0" parTransId="{381253EA-068A-40FF-B797-2AD6D889DD39}" sibTransId="{914B9A63-C95F-4A89-B566-893B5FEEC0B3}"/>
    <dgm:cxn modelId="{608420DA-61DA-4BD3-B7DD-F49935316117}" type="presOf" srcId="{17033DCD-ACCE-4C90-A891-B23CDFE75E2B}" destId="{3F8AC203-20CA-4EEE-82BE-7C8640C3B8CF}" srcOrd="0" destOrd="0" presId="urn:microsoft.com/office/officeart/2005/8/layout/matrix3"/>
    <dgm:cxn modelId="{02392282-1D39-4A3F-B6A5-3D15E4E3BF03}" type="presParOf" srcId="{3F8AC203-20CA-4EEE-82BE-7C8640C3B8CF}" destId="{BAF33EB3-9D06-4E2A-BECD-F17EC4EC267B}" srcOrd="0" destOrd="0" presId="urn:microsoft.com/office/officeart/2005/8/layout/matrix3"/>
    <dgm:cxn modelId="{9F322A12-2686-43B7-A4C5-315823C8376A}" type="presParOf" srcId="{3F8AC203-20CA-4EEE-82BE-7C8640C3B8CF}" destId="{317F46D6-8EA1-4601-9DCC-E640F886DA2A}" srcOrd="1" destOrd="0" presId="urn:microsoft.com/office/officeart/2005/8/layout/matrix3"/>
    <dgm:cxn modelId="{672EC505-AB00-4059-BE0E-ADE01FE07616}" type="presParOf" srcId="{3F8AC203-20CA-4EEE-82BE-7C8640C3B8CF}" destId="{FBD37349-23BA-42EE-B0E4-20FA118A62BE}" srcOrd="2" destOrd="0" presId="urn:microsoft.com/office/officeart/2005/8/layout/matrix3"/>
    <dgm:cxn modelId="{B71AF3AC-94C4-4472-99AA-4BD79D619BD3}" type="presParOf" srcId="{3F8AC203-20CA-4EEE-82BE-7C8640C3B8CF}" destId="{721F7631-874F-454A-BAEE-FC2AAA485B35}" srcOrd="3" destOrd="0" presId="urn:microsoft.com/office/officeart/2005/8/layout/matrix3"/>
    <dgm:cxn modelId="{7B3B6BA6-9007-4BCD-99C0-74E4CA5D9302}" type="presParOf" srcId="{3F8AC203-20CA-4EEE-82BE-7C8640C3B8CF}" destId="{4727B1DB-7351-403D-A636-0086DE87D61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9069209-7C44-49A8-AD45-2AA4C4ABF2F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7C365E-DE73-46D9-938A-2A9B59C0B26C}">
      <dgm:prSet/>
      <dgm:spPr/>
      <dgm:t>
        <a:bodyPr/>
        <a:lstStyle/>
        <a:p>
          <a:r>
            <a:rPr lang="en-US" b="1"/>
            <a:t>1. Overconfidence</a:t>
          </a:r>
          <a:endParaRPr lang="en-US"/>
        </a:p>
      </dgm:t>
    </dgm:pt>
    <dgm:pt modelId="{2B047457-4B02-4C72-87C8-F8F745719772}" type="parTrans" cxnId="{EE395E3A-E678-4D61-97FE-A6C8F3EEC3D8}">
      <dgm:prSet/>
      <dgm:spPr/>
      <dgm:t>
        <a:bodyPr/>
        <a:lstStyle/>
        <a:p>
          <a:endParaRPr lang="en-US"/>
        </a:p>
      </dgm:t>
    </dgm:pt>
    <dgm:pt modelId="{5CC8FF46-9D33-42D4-B124-258AA7288DE2}" type="sibTrans" cxnId="{EE395E3A-E678-4D61-97FE-A6C8F3EEC3D8}">
      <dgm:prSet/>
      <dgm:spPr/>
      <dgm:t>
        <a:bodyPr/>
        <a:lstStyle/>
        <a:p>
          <a:endParaRPr lang="en-US"/>
        </a:p>
      </dgm:t>
    </dgm:pt>
    <dgm:pt modelId="{C6375531-F8F3-48C2-A41B-E9C65C91C424}">
      <dgm:prSet/>
      <dgm:spPr/>
      <dgm:t>
        <a:bodyPr/>
        <a:lstStyle/>
        <a:p>
          <a:r>
            <a:rPr lang="en-US"/>
            <a:t>Investor terlalu percaya diri → overtrading.</a:t>
          </a:r>
        </a:p>
      </dgm:t>
    </dgm:pt>
    <dgm:pt modelId="{8EB09C89-B6E1-4776-9164-DEFEAC16B9F9}" type="parTrans" cxnId="{8CC731AF-A7CA-487C-999A-7AD99A50E3C7}">
      <dgm:prSet/>
      <dgm:spPr/>
      <dgm:t>
        <a:bodyPr/>
        <a:lstStyle/>
        <a:p>
          <a:endParaRPr lang="en-US"/>
        </a:p>
      </dgm:t>
    </dgm:pt>
    <dgm:pt modelId="{D28709C0-0772-442A-B648-37B1AF72D37B}" type="sibTrans" cxnId="{8CC731AF-A7CA-487C-999A-7AD99A50E3C7}">
      <dgm:prSet/>
      <dgm:spPr/>
      <dgm:t>
        <a:bodyPr/>
        <a:lstStyle/>
        <a:p>
          <a:endParaRPr lang="en-US"/>
        </a:p>
      </dgm:t>
    </dgm:pt>
    <dgm:pt modelId="{3AE28875-DA21-4EC5-84B8-04CD3F21A1D5}">
      <dgm:prSet/>
      <dgm:spPr/>
      <dgm:t>
        <a:bodyPr/>
        <a:lstStyle/>
        <a:p>
          <a:r>
            <a:rPr lang="en-US" b="1"/>
            <a:t>2. Herding</a:t>
          </a:r>
          <a:endParaRPr lang="en-US"/>
        </a:p>
      </dgm:t>
    </dgm:pt>
    <dgm:pt modelId="{DE57A7F8-765E-4CCA-BD96-FFFF3118A1D3}" type="parTrans" cxnId="{86A77FAA-E39D-447C-ACB8-9BCD4000E7E7}">
      <dgm:prSet/>
      <dgm:spPr/>
      <dgm:t>
        <a:bodyPr/>
        <a:lstStyle/>
        <a:p>
          <a:endParaRPr lang="en-US"/>
        </a:p>
      </dgm:t>
    </dgm:pt>
    <dgm:pt modelId="{4F75E481-68FC-4109-AFBC-BBD7157598C8}" type="sibTrans" cxnId="{86A77FAA-E39D-447C-ACB8-9BCD4000E7E7}">
      <dgm:prSet/>
      <dgm:spPr/>
      <dgm:t>
        <a:bodyPr/>
        <a:lstStyle/>
        <a:p>
          <a:endParaRPr lang="en-US"/>
        </a:p>
      </dgm:t>
    </dgm:pt>
    <dgm:pt modelId="{69DB9542-78B4-46E5-B15D-94FBC3BF10A7}">
      <dgm:prSet/>
      <dgm:spPr/>
      <dgm:t>
        <a:bodyPr/>
        <a:lstStyle/>
        <a:p>
          <a:r>
            <a:rPr lang="en-US"/>
            <a:t>Mengikuti mayoritas tanpa analisis → bubble market.</a:t>
          </a:r>
        </a:p>
      </dgm:t>
    </dgm:pt>
    <dgm:pt modelId="{804E35A4-F290-4A90-8FC5-D53A8A0E9ABD}" type="parTrans" cxnId="{3F1B6E1C-1542-4DDE-B777-C962547976F3}">
      <dgm:prSet/>
      <dgm:spPr/>
      <dgm:t>
        <a:bodyPr/>
        <a:lstStyle/>
        <a:p>
          <a:endParaRPr lang="en-US"/>
        </a:p>
      </dgm:t>
    </dgm:pt>
    <dgm:pt modelId="{7E4A2C5E-71A7-40C5-915A-1D3B8D4F2034}" type="sibTrans" cxnId="{3F1B6E1C-1542-4DDE-B777-C962547976F3}">
      <dgm:prSet/>
      <dgm:spPr/>
      <dgm:t>
        <a:bodyPr/>
        <a:lstStyle/>
        <a:p>
          <a:endParaRPr lang="en-US"/>
        </a:p>
      </dgm:t>
    </dgm:pt>
    <dgm:pt modelId="{596B3A3A-DE38-41E9-93B7-0FE163D3A350}">
      <dgm:prSet/>
      <dgm:spPr/>
      <dgm:t>
        <a:bodyPr/>
        <a:lstStyle/>
        <a:p>
          <a:r>
            <a:rPr lang="en-US" b="1"/>
            <a:t>3. Anchoring</a:t>
          </a:r>
          <a:endParaRPr lang="en-US"/>
        </a:p>
      </dgm:t>
    </dgm:pt>
    <dgm:pt modelId="{D846CFE0-3D6B-40DA-B7CE-23B37D945AC1}" type="parTrans" cxnId="{6A55CAA3-9D74-4C6E-88DE-20A164608EBD}">
      <dgm:prSet/>
      <dgm:spPr/>
      <dgm:t>
        <a:bodyPr/>
        <a:lstStyle/>
        <a:p>
          <a:endParaRPr lang="en-US"/>
        </a:p>
      </dgm:t>
    </dgm:pt>
    <dgm:pt modelId="{9E2C7500-CED2-4A42-945C-B3ADF02AEDCF}" type="sibTrans" cxnId="{6A55CAA3-9D74-4C6E-88DE-20A164608EBD}">
      <dgm:prSet/>
      <dgm:spPr/>
      <dgm:t>
        <a:bodyPr/>
        <a:lstStyle/>
        <a:p>
          <a:endParaRPr lang="en-US"/>
        </a:p>
      </dgm:t>
    </dgm:pt>
    <dgm:pt modelId="{17B569B2-1AB0-4557-8B2C-DEA5567393C2}">
      <dgm:prSet/>
      <dgm:spPr/>
      <dgm:t>
        <a:bodyPr/>
        <a:lstStyle/>
        <a:p>
          <a:r>
            <a:rPr lang="en-US"/>
            <a:t>Terlalu terpaku pada harga awal.</a:t>
          </a:r>
        </a:p>
      </dgm:t>
    </dgm:pt>
    <dgm:pt modelId="{A4122482-7B7C-4171-8FFE-5FE8F04AE10A}" type="parTrans" cxnId="{7FFA2063-0913-4C82-845E-EEDED95655F4}">
      <dgm:prSet/>
      <dgm:spPr/>
      <dgm:t>
        <a:bodyPr/>
        <a:lstStyle/>
        <a:p>
          <a:endParaRPr lang="en-US"/>
        </a:p>
      </dgm:t>
    </dgm:pt>
    <dgm:pt modelId="{DA8E21B9-FE06-424E-BD06-9CC977819735}" type="sibTrans" cxnId="{7FFA2063-0913-4C82-845E-EEDED95655F4}">
      <dgm:prSet/>
      <dgm:spPr/>
      <dgm:t>
        <a:bodyPr/>
        <a:lstStyle/>
        <a:p>
          <a:endParaRPr lang="en-US"/>
        </a:p>
      </dgm:t>
    </dgm:pt>
    <dgm:pt modelId="{ED947A8E-408E-4942-8739-02B8AD05C275}">
      <dgm:prSet/>
      <dgm:spPr/>
      <dgm:t>
        <a:bodyPr/>
        <a:lstStyle/>
        <a:p>
          <a:r>
            <a:rPr lang="en-US" b="1"/>
            <a:t>4. Loss Aversion</a:t>
          </a:r>
          <a:endParaRPr lang="en-US"/>
        </a:p>
      </dgm:t>
    </dgm:pt>
    <dgm:pt modelId="{638DE2CE-4BA1-40F8-9726-077A0D148713}" type="parTrans" cxnId="{43642684-F26D-4063-8975-1598F1A1A2B5}">
      <dgm:prSet/>
      <dgm:spPr/>
      <dgm:t>
        <a:bodyPr/>
        <a:lstStyle/>
        <a:p>
          <a:endParaRPr lang="en-US"/>
        </a:p>
      </dgm:t>
    </dgm:pt>
    <dgm:pt modelId="{2D425C50-00E4-404F-BB63-1A355FC02B68}" type="sibTrans" cxnId="{43642684-F26D-4063-8975-1598F1A1A2B5}">
      <dgm:prSet/>
      <dgm:spPr/>
      <dgm:t>
        <a:bodyPr/>
        <a:lstStyle/>
        <a:p>
          <a:endParaRPr lang="en-US"/>
        </a:p>
      </dgm:t>
    </dgm:pt>
    <dgm:pt modelId="{0D8AE935-A8D0-45D2-AEB2-2171BAC970EF}">
      <dgm:prSet/>
      <dgm:spPr/>
      <dgm:t>
        <a:bodyPr/>
        <a:lstStyle/>
        <a:p>
          <a:r>
            <a:rPr lang="en-US"/>
            <a:t>Takut rugi lebih besar daripada keinginan untung → menahan kerugian terlalu lama.</a:t>
          </a:r>
        </a:p>
      </dgm:t>
    </dgm:pt>
    <dgm:pt modelId="{3DBA9C22-7B04-4042-B0C0-BCAEF2829675}" type="parTrans" cxnId="{60F74139-D7F7-4375-8725-A690DCE2EB20}">
      <dgm:prSet/>
      <dgm:spPr/>
      <dgm:t>
        <a:bodyPr/>
        <a:lstStyle/>
        <a:p>
          <a:endParaRPr lang="en-US"/>
        </a:p>
      </dgm:t>
    </dgm:pt>
    <dgm:pt modelId="{1869E3B5-E147-4652-A645-9DA1A8360B35}" type="sibTrans" cxnId="{60F74139-D7F7-4375-8725-A690DCE2EB20}">
      <dgm:prSet/>
      <dgm:spPr/>
      <dgm:t>
        <a:bodyPr/>
        <a:lstStyle/>
        <a:p>
          <a:endParaRPr lang="en-US"/>
        </a:p>
      </dgm:t>
    </dgm:pt>
    <dgm:pt modelId="{9109FD6E-AA4C-4A8F-AEB5-113DEBB44223}" type="pres">
      <dgm:prSet presAssocID="{A9069209-7C44-49A8-AD45-2AA4C4ABF2F9}" presName="linear" presStyleCnt="0">
        <dgm:presLayoutVars>
          <dgm:animLvl val="lvl"/>
          <dgm:resizeHandles val="exact"/>
        </dgm:presLayoutVars>
      </dgm:prSet>
      <dgm:spPr/>
    </dgm:pt>
    <dgm:pt modelId="{B9A50C67-E5B8-4AAC-B7E6-7978689484B4}" type="pres">
      <dgm:prSet presAssocID="{A47C365E-DE73-46D9-938A-2A9B59C0B26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3C91989-D79F-40AD-A706-60602BBD9BE0}" type="pres">
      <dgm:prSet presAssocID="{A47C365E-DE73-46D9-938A-2A9B59C0B26C}" presName="childText" presStyleLbl="revTx" presStyleIdx="0" presStyleCnt="4">
        <dgm:presLayoutVars>
          <dgm:bulletEnabled val="1"/>
        </dgm:presLayoutVars>
      </dgm:prSet>
      <dgm:spPr/>
    </dgm:pt>
    <dgm:pt modelId="{38606677-3E73-4043-B55B-7798FDC47D54}" type="pres">
      <dgm:prSet presAssocID="{3AE28875-DA21-4EC5-84B8-04CD3F21A1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036B0B-7B4E-4C9E-9326-941F3F6EFE03}" type="pres">
      <dgm:prSet presAssocID="{3AE28875-DA21-4EC5-84B8-04CD3F21A1D5}" presName="childText" presStyleLbl="revTx" presStyleIdx="1" presStyleCnt="4">
        <dgm:presLayoutVars>
          <dgm:bulletEnabled val="1"/>
        </dgm:presLayoutVars>
      </dgm:prSet>
      <dgm:spPr/>
    </dgm:pt>
    <dgm:pt modelId="{B0D959A3-7043-4EC2-8232-CCA690B2B82E}" type="pres">
      <dgm:prSet presAssocID="{596B3A3A-DE38-41E9-93B7-0FE163D3A3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5700A08-F1ED-4369-844E-FE058A04389C}" type="pres">
      <dgm:prSet presAssocID="{596B3A3A-DE38-41E9-93B7-0FE163D3A350}" presName="childText" presStyleLbl="revTx" presStyleIdx="2" presStyleCnt="4">
        <dgm:presLayoutVars>
          <dgm:bulletEnabled val="1"/>
        </dgm:presLayoutVars>
      </dgm:prSet>
      <dgm:spPr/>
    </dgm:pt>
    <dgm:pt modelId="{FC921A65-03C4-46BE-9572-B5BFE9DD5CDB}" type="pres">
      <dgm:prSet presAssocID="{ED947A8E-408E-4942-8739-02B8AD05C27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8B89A03-7978-407A-A0C7-84723041AB99}" type="pres">
      <dgm:prSet presAssocID="{ED947A8E-408E-4942-8739-02B8AD05C275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F1B6E1C-1542-4DDE-B777-C962547976F3}" srcId="{3AE28875-DA21-4EC5-84B8-04CD3F21A1D5}" destId="{69DB9542-78B4-46E5-B15D-94FBC3BF10A7}" srcOrd="0" destOrd="0" parTransId="{804E35A4-F290-4A90-8FC5-D53A8A0E9ABD}" sibTransId="{7E4A2C5E-71A7-40C5-915A-1D3B8D4F2034}"/>
    <dgm:cxn modelId="{88915831-86F2-4A73-B728-58B408B3490F}" type="presOf" srcId="{A47C365E-DE73-46D9-938A-2A9B59C0B26C}" destId="{B9A50C67-E5B8-4AAC-B7E6-7978689484B4}" srcOrd="0" destOrd="0" presId="urn:microsoft.com/office/officeart/2005/8/layout/vList2"/>
    <dgm:cxn modelId="{2BF3D637-F68C-4DE0-A95E-7943C47B78CF}" type="presOf" srcId="{3AE28875-DA21-4EC5-84B8-04CD3F21A1D5}" destId="{38606677-3E73-4043-B55B-7798FDC47D54}" srcOrd="0" destOrd="0" presId="urn:microsoft.com/office/officeart/2005/8/layout/vList2"/>
    <dgm:cxn modelId="{60F74139-D7F7-4375-8725-A690DCE2EB20}" srcId="{ED947A8E-408E-4942-8739-02B8AD05C275}" destId="{0D8AE935-A8D0-45D2-AEB2-2171BAC970EF}" srcOrd="0" destOrd="0" parTransId="{3DBA9C22-7B04-4042-B0C0-BCAEF2829675}" sibTransId="{1869E3B5-E147-4652-A645-9DA1A8360B35}"/>
    <dgm:cxn modelId="{EE395E3A-E678-4D61-97FE-A6C8F3EEC3D8}" srcId="{A9069209-7C44-49A8-AD45-2AA4C4ABF2F9}" destId="{A47C365E-DE73-46D9-938A-2A9B59C0B26C}" srcOrd="0" destOrd="0" parTransId="{2B047457-4B02-4C72-87C8-F8F745719772}" sibTransId="{5CC8FF46-9D33-42D4-B124-258AA7288DE2}"/>
    <dgm:cxn modelId="{5BC9673D-7F20-4A20-AAC4-FF9ACBEF774B}" type="presOf" srcId="{17B569B2-1AB0-4557-8B2C-DEA5567393C2}" destId="{75700A08-F1ED-4369-844E-FE058A04389C}" srcOrd="0" destOrd="0" presId="urn:microsoft.com/office/officeart/2005/8/layout/vList2"/>
    <dgm:cxn modelId="{7FFA2063-0913-4C82-845E-EEDED95655F4}" srcId="{596B3A3A-DE38-41E9-93B7-0FE163D3A350}" destId="{17B569B2-1AB0-4557-8B2C-DEA5567393C2}" srcOrd="0" destOrd="0" parTransId="{A4122482-7B7C-4171-8FFE-5FE8F04AE10A}" sibTransId="{DA8E21B9-FE06-424E-BD06-9CC977819735}"/>
    <dgm:cxn modelId="{3940426E-1239-4F79-8239-BCA05DB1E0CD}" type="presOf" srcId="{596B3A3A-DE38-41E9-93B7-0FE163D3A350}" destId="{B0D959A3-7043-4EC2-8232-CCA690B2B82E}" srcOrd="0" destOrd="0" presId="urn:microsoft.com/office/officeart/2005/8/layout/vList2"/>
    <dgm:cxn modelId="{B39DD754-CBEA-4185-831B-E6FE2790D84D}" type="presOf" srcId="{C6375531-F8F3-48C2-A41B-E9C65C91C424}" destId="{63C91989-D79F-40AD-A706-60602BBD9BE0}" srcOrd="0" destOrd="0" presId="urn:microsoft.com/office/officeart/2005/8/layout/vList2"/>
    <dgm:cxn modelId="{B8CE4B77-68D6-4ECE-AF76-4B3B277E0343}" type="presOf" srcId="{0D8AE935-A8D0-45D2-AEB2-2171BAC970EF}" destId="{C8B89A03-7978-407A-A0C7-84723041AB99}" srcOrd="0" destOrd="0" presId="urn:microsoft.com/office/officeart/2005/8/layout/vList2"/>
    <dgm:cxn modelId="{43642684-F26D-4063-8975-1598F1A1A2B5}" srcId="{A9069209-7C44-49A8-AD45-2AA4C4ABF2F9}" destId="{ED947A8E-408E-4942-8739-02B8AD05C275}" srcOrd="3" destOrd="0" parTransId="{638DE2CE-4BA1-40F8-9726-077A0D148713}" sibTransId="{2D425C50-00E4-404F-BB63-1A355FC02B68}"/>
    <dgm:cxn modelId="{2BF5E88E-2121-426F-934B-4BB94B8666F0}" type="presOf" srcId="{A9069209-7C44-49A8-AD45-2AA4C4ABF2F9}" destId="{9109FD6E-AA4C-4A8F-AEB5-113DEBB44223}" srcOrd="0" destOrd="0" presId="urn:microsoft.com/office/officeart/2005/8/layout/vList2"/>
    <dgm:cxn modelId="{6A55CAA3-9D74-4C6E-88DE-20A164608EBD}" srcId="{A9069209-7C44-49A8-AD45-2AA4C4ABF2F9}" destId="{596B3A3A-DE38-41E9-93B7-0FE163D3A350}" srcOrd="2" destOrd="0" parTransId="{D846CFE0-3D6B-40DA-B7CE-23B37D945AC1}" sibTransId="{9E2C7500-CED2-4A42-945C-B3ADF02AEDCF}"/>
    <dgm:cxn modelId="{86A77FAA-E39D-447C-ACB8-9BCD4000E7E7}" srcId="{A9069209-7C44-49A8-AD45-2AA4C4ABF2F9}" destId="{3AE28875-DA21-4EC5-84B8-04CD3F21A1D5}" srcOrd="1" destOrd="0" parTransId="{DE57A7F8-765E-4CCA-BD96-FFFF3118A1D3}" sibTransId="{4F75E481-68FC-4109-AFBC-BBD7157598C8}"/>
    <dgm:cxn modelId="{8CC731AF-A7CA-487C-999A-7AD99A50E3C7}" srcId="{A47C365E-DE73-46D9-938A-2A9B59C0B26C}" destId="{C6375531-F8F3-48C2-A41B-E9C65C91C424}" srcOrd="0" destOrd="0" parTransId="{8EB09C89-B6E1-4776-9164-DEFEAC16B9F9}" sibTransId="{D28709C0-0772-442A-B648-37B1AF72D37B}"/>
    <dgm:cxn modelId="{80C878CA-4245-4053-94E1-251984F71139}" type="presOf" srcId="{ED947A8E-408E-4942-8739-02B8AD05C275}" destId="{FC921A65-03C4-46BE-9572-B5BFE9DD5CDB}" srcOrd="0" destOrd="0" presId="urn:microsoft.com/office/officeart/2005/8/layout/vList2"/>
    <dgm:cxn modelId="{D5E012CE-E215-42EB-8F8E-15566E69B836}" type="presOf" srcId="{69DB9542-78B4-46E5-B15D-94FBC3BF10A7}" destId="{15036B0B-7B4E-4C9E-9326-941F3F6EFE03}" srcOrd="0" destOrd="0" presId="urn:microsoft.com/office/officeart/2005/8/layout/vList2"/>
    <dgm:cxn modelId="{263DD92B-CB37-43FB-9696-678B1C9D4F84}" type="presParOf" srcId="{9109FD6E-AA4C-4A8F-AEB5-113DEBB44223}" destId="{B9A50C67-E5B8-4AAC-B7E6-7978689484B4}" srcOrd="0" destOrd="0" presId="urn:microsoft.com/office/officeart/2005/8/layout/vList2"/>
    <dgm:cxn modelId="{907486E6-1A28-4673-A435-94236493D4A2}" type="presParOf" srcId="{9109FD6E-AA4C-4A8F-AEB5-113DEBB44223}" destId="{63C91989-D79F-40AD-A706-60602BBD9BE0}" srcOrd="1" destOrd="0" presId="urn:microsoft.com/office/officeart/2005/8/layout/vList2"/>
    <dgm:cxn modelId="{1B0BD542-ADFE-4315-93DD-73DACB7BB495}" type="presParOf" srcId="{9109FD6E-AA4C-4A8F-AEB5-113DEBB44223}" destId="{38606677-3E73-4043-B55B-7798FDC47D54}" srcOrd="2" destOrd="0" presId="urn:microsoft.com/office/officeart/2005/8/layout/vList2"/>
    <dgm:cxn modelId="{29366F70-EA6F-4D80-BAB9-5D649941BF1D}" type="presParOf" srcId="{9109FD6E-AA4C-4A8F-AEB5-113DEBB44223}" destId="{15036B0B-7B4E-4C9E-9326-941F3F6EFE03}" srcOrd="3" destOrd="0" presId="urn:microsoft.com/office/officeart/2005/8/layout/vList2"/>
    <dgm:cxn modelId="{1ABFB44E-8141-40B1-BF2F-312567D5CD93}" type="presParOf" srcId="{9109FD6E-AA4C-4A8F-AEB5-113DEBB44223}" destId="{B0D959A3-7043-4EC2-8232-CCA690B2B82E}" srcOrd="4" destOrd="0" presId="urn:microsoft.com/office/officeart/2005/8/layout/vList2"/>
    <dgm:cxn modelId="{4811B456-5C9D-4160-93DE-F02D7487307A}" type="presParOf" srcId="{9109FD6E-AA4C-4A8F-AEB5-113DEBB44223}" destId="{75700A08-F1ED-4369-844E-FE058A04389C}" srcOrd="5" destOrd="0" presId="urn:microsoft.com/office/officeart/2005/8/layout/vList2"/>
    <dgm:cxn modelId="{960241E0-AAC3-4EB2-8720-35AE990C30B5}" type="presParOf" srcId="{9109FD6E-AA4C-4A8F-AEB5-113DEBB44223}" destId="{FC921A65-03C4-46BE-9572-B5BFE9DD5CDB}" srcOrd="6" destOrd="0" presId="urn:microsoft.com/office/officeart/2005/8/layout/vList2"/>
    <dgm:cxn modelId="{78F1F37E-620A-425B-98D8-C1E4CA2F601C}" type="presParOf" srcId="{9109FD6E-AA4C-4A8F-AEB5-113DEBB44223}" destId="{C8B89A03-7978-407A-A0C7-84723041AB9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F9A7723-4712-4CE0-87EB-683AD31D7979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6FDB2EA-CF70-478C-907D-6C29593CDF90}">
      <dgm:prSet/>
      <dgm:spPr/>
      <dgm:t>
        <a:bodyPr/>
        <a:lstStyle/>
        <a:p>
          <a:r>
            <a:rPr lang="en-US" b="1"/>
            <a:t>CAPM Portofolio</a:t>
          </a:r>
          <a:endParaRPr lang="en-US"/>
        </a:p>
      </dgm:t>
    </dgm:pt>
    <dgm:pt modelId="{A3F60250-6AF0-4A45-ABE2-EA520A584FFA}" type="parTrans" cxnId="{058BC83E-8B08-42DF-8DA4-2620DDD72390}">
      <dgm:prSet/>
      <dgm:spPr/>
      <dgm:t>
        <a:bodyPr/>
        <a:lstStyle/>
        <a:p>
          <a:endParaRPr lang="en-US"/>
        </a:p>
      </dgm:t>
    </dgm:pt>
    <dgm:pt modelId="{071323AB-E9D3-4B53-BF9F-F390C5993E0A}" type="sibTrans" cxnId="{058BC83E-8B08-42DF-8DA4-2620DDD72390}">
      <dgm:prSet/>
      <dgm:spPr/>
      <dgm:t>
        <a:bodyPr/>
        <a:lstStyle/>
        <a:p>
          <a:endParaRPr lang="en-US"/>
        </a:p>
      </dgm:t>
    </dgm:pt>
    <dgm:pt modelId="{3A369D66-BFA5-48E3-B818-ADAD60E23343}">
      <dgm:prSet/>
      <dgm:spPr/>
      <dgm:t>
        <a:bodyPr/>
        <a:lstStyle/>
        <a:p>
          <a:r>
            <a:rPr lang="en-US" dirty="0"/>
            <a:t>βp = 0,96</a:t>
          </a:r>
          <a:br>
            <a:rPr lang="en-US" dirty="0"/>
          </a:br>
          <a:r>
            <a:rPr lang="en-US" dirty="0"/>
            <a:t>Rm = 12%, </a:t>
          </a:r>
        </a:p>
        <a:p>
          <a:r>
            <a:rPr lang="en-US" dirty="0"/>
            <a:t>Rf = 5%</a:t>
          </a:r>
        </a:p>
      </dgm:t>
    </dgm:pt>
    <dgm:pt modelId="{795D39DF-2AFF-422A-81B9-27C62D8E68BE}" type="parTrans" cxnId="{41C41169-3DCD-4083-933B-C03302400889}">
      <dgm:prSet/>
      <dgm:spPr/>
      <dgm:t>
        <a:bodyPr/>
        <a:lstStyle/>
        <a:p>
          <a:endParaRPr lang="en-US"/>
        </a:p>
      </dgm:t>
    </dgm:pt>
    <dgm:pt modelId="{BEBCE5AB-291A-49DF-A82B-58D3C35B21DC}" type="sibTrans" cxnId="{41C41169-3DCD-4083-933B-C03302400889}">
      <dgm:prSet/>
      <dgm:spPr/>
      <dgm:t>
        <a:bodyPr/>
        <a:lstStyle/>
        <a:p>
          <a:endParaRPr lang="en-US"/>
        </a:p>
      </dgm:t>
    </dgm:pt>
    <dgm:pt modelId="{E47A6958-895B-4411-A0E4-29B58C5F2009}">
      <dgm:prSet/>
      <dgm:spPr/>
      <dgm:t>
        <a:bodyPr/>
        <a:lstStyle/>
        <a:p>
          <a:r>
            <a:rPr lang="en-US"/>
            <a:t>Berapa Return portofolio?</a:t>
          </a:r>
        </a:p>
      </dgm:t>
    </dgm:pt>
    <dgm:pt modelId="{28D8CDDC-0529-4412-8C01-2ABF477A62D9}" type="parTrans" cxnId="{4F5B9317-F2CE-4EE7-9C51-B5EA1C82947E}">
      <dgm:prSet/>
      <dgm:spPr/>
      <dgm:t>
        <a:bodyPr/>
        <a:lstStyle/>
        <a:p>
          <a:endParaRPr lang="en-US"/>
        </a:p>
      </dgm:t>
    </dgm:pt>
    <dgm:pt modelId="{5187BD0C-DDF8-41ED-B291-2777184196F0}" type="sibTrans" cxnId="{4F5B9317-F2CE-4EE7-9C51-B5EA1C82947E}">
      <dgm:prSet/>
      <dgm:spPr/>
      <dgm:t>
        <a:bodyPr/>
        <a:lstStyle/>
        <a:p>
          <a:endParaRPr lang="en-US"/>
        </a:p>
      </dgm:t>
    </dgm:pt>
    <dgm:pt modelId="{44C38BA0-35B2-4642-9026-BF140C693D4D}" type="pres">
      <dgm:prSet presAssocID="{3F9A7723-4712-4CE0-87EB-683AD31D7979}" presName="vert0" presStyleCnt="0">
        <dgm:presLayoutVars>
          <dgm:dir/>
          <dgm:animOne val="branch"/>
          <dgm:animLvl val="lvl"/>
        </dgm:presLayoutVars>
      </dgm:prSet>
      <dgm:spPr/>
    </dgm:pt>
    <dgm:pt modelId="{587295CD-281D-457B-B030-9DB77980EF08}" type="pres">
      <dgm:prSet presAssocID="{A6FDB2EA-CF70-478C-907D-6C29593CDF90}" presName="thickLine" presStyleLbl="alignNode1" presStyleIdx="0" presStyleCnt="1"/>
      <dgm:spPr/>
    </dgm:pt>
    <dgm:pt modelId="{7547C7F7-8D66-4E65-9504-C5D5F32A3CA2}" type="pres">
      <dgm:prSet presAssocID="{A6FDB2EA-CF70-478C-907D-6C29593CDF90}" presName="horz1" presStyleCnt="0"/>
      <dgm:spPr/>
    </dgm:pt>
    <dgm:pt modelId="{9489759C-CB34-444E-B38E-CB50F5504A3D}" type="pres">
      <dgm:prSet presAssocID="{A6FDB2EA-CF70-478C-907D-6C29593CDF90}" presName="tx1" presStyleLbl="revTx" presStyleIdx="0" presStyleCnt="3"/>
      <dgm:spPr/>
    </dgm:pt>
    <dgm:pt modelId="{5B4FB648-7BF7-463B-8CB0-066BFE296106}" type="pres">
      <dgm:prSet presAssocID="{A6FDB2EA-CF70-478C-907D-6C29593CDF90}" presName="vert1" presStyleCnt="0"/>
      <dgm:spPr/>
    </dgm:pt>
    <dgm:pt modelId="{1A2D40F7-7D3F-4B6C-8764-0EA40051ED21}" type="pres">
      <dgm:prSet presAssocID="{3A369D66-BFA5-48E3-B818-ADAD60E23343}" presName="vertSpace2a" presStyleCnt="0"/>
      <dgm:spPr/>
    </dgm:pt>
    <dgm:pt modelId="{1AC8A7E6-D593-444B-B8F6-4B3FA4E1F1DE}" type="pres">
      <dgm:prSet presAssocID="{3A369D66-BFA5-48E3-B818-ADAD60E23343}" presName="horz2" presStyleCnt="0"/>
      <dgm:spPr/>
    </dgm:pt>
    <dgm:pt modelId="{E3624932-2D63-4CCC-944A-FF8FF1C42316}" type="pres">
      <dgm:prSet presAssocID="{3A369D66-BFA5-48E3-B818-ADAD60E23343}" presName="horzSpace2" presStyleCnt="0"/>
      <dgm:spPr/>
    </dgm:pt>
    <dgm:pt modelId="{A6EDCDD4-CA37-4DF4-9EB1-AFDAADDD4665}" type="pres">
      <dgm:prSet presAssocID="{3A369D66-BFA5-48E3-B818-ADAD60E23343}" presName="tx2" presStyleLbl="revTx" presStyleIdx="1" presStyleCnt="3"/>
      <dgm:spPr/>
    </dgm:pt>
    <dgm:pt modelId="{C6AC3BB5-16AC-44C0-83FC-174E0DEB2DCE}" type="pres">
      <dgm:prSet presAssocID="{3A369D66-BFA5-48E3-B818-ADAD60E23343}" presName="vert2" presStyleCnt="0"/>
      <dgm:spPr/>
    </dgm:pt>
    <dgm:pt modelId="{76EA29B7-8826-4C86-9033-5E361F90FB0E}" type="pres">
      <dgm:prSet presAssocID="{3A369D66-BFA5-48E3-B818-ADAD60E23343}" presName="thinLine2b" presStyleLbl="callout" presStyleIdx="0" presStyleCnt="2"/>
      <dgm:spPr/>
    </dgm:pt>
    <dgm:pt modelId="{CEDAA846-7AE1-4093-9BDB-5DF1D86342EE}" type="pres">
      <dgm:prSet presAssocID="{3A369D66-BFA5-48E3-B818-ADAD60E23343}" presName="vertSpace2b" presStyleCnt="0"/>
      <dgm:spPr/>
    </dgm:pt>
    <dgm:pt modelId="{78840A5F-1021-4B65-ABEF-14DEB6D13696}" type="pres">
      <dgm:prSet presAssocID="{E47A6958-895B-4411-A0E4-29B58C5F2009}" presName="horz2" presStyleCnt="0"/>
      <dgm:spPr/>
    </dgm:pt>
    <dgm:pt modelId="{04A53811-5D02-46C8-AD0B-D2DB95921BA4}" type="pres">
      <dgm:prSet presAssocID="{E47A6958-895B-4411-A0E4-29B58C5F2009}" presName="horzSpace2" presStyleCnt="0"/>
      <dgm:spPr/>
    </dgm:pt>
    <dgm:pt modelId="{05B22900-55F1-45DC-A4BC-B8020FDFBFB1}" type="pres">
      <dgm:prSet presAssocID="{E47A6958-895B-4411-A0E4-29B58C5F2009}" presName="tx2" presStyleLbl="revTx" presStyleIdx="2" presStyleCnt="3"/>
      <dgm:spPr/>
    </dgm:pt>
    <dgm:pt modelId="{BBF1D0DC-C89F-477F-BE10-5B08B2FBF127}" type="pres">
      <dgm:prSet presAssocID="{E47A6958-895B-4411-A0E4-29B58C5F2009}" presName="vert2" presStyleCnt="0"/>
      <dgm:spPr/>
    </dgm:pt>
    <dgm:pt modelId="{2E79CD24-7700-4F1F-9893-768E2BB2EF55}" type="pres">
      <dgm:prSet presAssocID="{E47A6958-895B-4411-A0E4-29B58C5F2009}" presName="thinLine2b" presStyleLbl="callout" presStyleIdx="1" presStyleCnt="2"/>
      <dgm:spPr/>
    </dgm:pt>
    <dgm:pt modelId="{3022D260-30B2-41BF-B19F-D4AAF3B69DF4}" type="pres">
      <dgm:prSet presAssocID="{E47A6958-895B-4411-A0E4-29B58C5F2009}" presName="vertSpace2b" presStyleCnt="0"/>
      <dgm:spPr/>
    </dgm:pt>
  </dgm:ptLst>
  <dgm:cxnLst>
    <dgm:cxn modelId="{136C000E-FD7D-497D-B712-B85DF27E314C}" type="presOf" srcId="{A6FDB2EA-CF70-478C-907D-6C29593CDF90}" destId="{9489759C-CB34-444E-B38E-CB50F5504A3D}" srcOrd="0" destOrd="0" presId="urn:microsoft.com/office/officeart/2008/layout/LinedList"/>
    <dgm:cxn modelId="{37966D16-0FCF-4175-8846-09594CC41711}" type="presOf" srcId="{E47A6958-895B-4411-A0E4-29B58C5F2009}" destId="{05B22900-55F1-45DC-A4BC-B8020FDFBFB1}" srcOrd="0" destOrd="0" presId="urn:microsoft.com/office/officeart/2008/layout/LinedList"/>
    <dgm:cxn modelId="{4F5B9317-F2CE-4EE7-9C51-B5EA1C82947E}" srcId="{A6FDB2EA-CF70-478C-907D-6C29593CDF90}" destId="{E47A6958-895B-4411-A0E4-29B58C5F2009}" srcOrd="1" destOrd="0" parTransId="{28D8CDDC-0529-4412-8C01-2ABF477A62D9}" sibTransId="{5187BD0C-DDF8-41ED-B291-2777184196F0}"/>
    <dgm:cxn modelId="{058BC83E-8B08-42DF-8DA4-2620DDD72390}" srcId="{3F9A7723-4712-4CE0-87EB-683AD31D7979}" destId="{A6FDB2EA-CF70-478C-907D-6C29593CDF90}" srcOrd="0" destOrd="0" parTransId="{A3F60250-6AF0-4A45-ABE2-EA520A584FFA}" sibTransId="{071323AB-E9D3-4B53-BF9F-F390C5993E0A}"/>
    <dgm:cxn modelId="{41C41169-3DCD-4083-933B-C03302400889}" srcId="{A6FDB2EA-CF70-478C-907D-6C29593CDF90}" destId="{3A369D66-BFA5-48E3-B818-ADAD60E23343}" srcOrd="0" destOrd="0" parTransId="{795D39DF-2AFF-422A-81B9-27C62D8E68BE}" sibTransId="{BEBCE5AB-291A-49DF-A82B-58D3C35B21DC}"/>
    <dgm:cxn modelId="{D5236AD9-85D4-4D23-98B6-A5CA025BE54F}" type="presOf" srcId="{3F9A7723-4712-4CE0-87EB-683AD31D7979}" destId="{44C38BA0-35B2-4642-9026-BF140C693D4D}" srcOrd="0" destOrd="0" presId="urn:microsoft.com/office/officeart/2008/layout/LinedList"/>
    <dgm:cxn modelId="{F9E6B5FA-D30A-45E9-B364-ACB1D24E23ED}" type="presOf" srcId="{3A369D66-BFA5-48E3-B818-ADAD60E23343}" destId="{A6EDCDD4-CA37-4DF4-9EB1-AFDAADDD4665}" srcOrd="0" destOrd="0" presId="urn:microsoft.com/office/officeart/2008/layout/LinedList"/>
    <dgm:cxn modelId="{3FF64687-670E-4B26-B494-36A993B3B283}" type="presParOf" srcId="{44C38BA0-35B2-4642-9026-BF140C693D4D}" destId="{587295CD-281D-457B-B030-9DB77980EF08}" srcOrd="0" destOrd="0" presId="urn:microsoft.com/office/officeart/2008/layout/LinedList"/>
    <dgm:cxn modelId="{C2C05893-E8C7-4D5D-9CAD-7845F8384CEF}" type="presParOf" srcId="{44C38BA0-35B2-4642-9026-BF140C693D4D}" destId="{7547C7F7-8D66-4E65-9504-C5D5F32A3CA2}" srcOrd="1" destOrd="0" presId="urn:microsoft.com/office/officeart/2008/layout/LinedList"/>
    <dgm:cxn modelId="{2E8A3458-DADF-4917-9C54-6618008FE575}" type="presParOf" srcId="{7547C7F7-8D66-4E65-9504-C5D5F32A3CA2}" destId="{9489759C-CB34-444E-B38E-CB50F5504A3D}" srcOrd="0" destOrd="0" presId="urn:microsoft.com/office/officeart/2008/layout/LinedList"/>
    <dgm:cxn modelId="{22D289EF-1CCD-43C9-A4F5-008A1F09AB9C}" type="presParOf" srcId="{7547C7F7-8D66-4E65-9504-C5D5F32A3CA2}" destId="{5B4FB648-7BF7-463B-8CB0-066BFE296106}" srcOrd="1" destOrd="0" presId="urn:microsoft.com/office/officeart/2008/layout/LinedList"/>
    <dgm:cxn modelId="{8A8C4DE5-FEC5-4752-AAA1-8BE4A9342925}" type="presParOf" srcId="{5B4FB648-7BF7-463B-8CB0-066BFE296106}" destId="{1A2D40F7-7D3F-4B6C-8764-0EA40051ED21}" srcOrd="0" destOrd="0" presId="urn:microsoft.com/office/officeart/2008/layout/LinedList"/>
    <dgm:cxn modelId="{E9B8A364-CBBB-4EBF-8FA1-4B71740F869C}" type="presParOf" srcId="{5B4FB648-7BF7-463B-8CB0-066BFE296106}" destId="{1AC8A7E6-D593-444B-B8F6-4B3FA4E1F1DE}" srcOrd="1" destOrd="0" presId="urn:microsoft.com/office/officeart/2008/layout/LinedList"/>
    <dgm:cxn modelId="{F884DDF1-39A5-49A2-B25A-8B86A3D10269}" type="presParOf" srcId="{1AC8A7E6-D593-444B-B8F6-4B3FA4E1F1DE}" destId="{E3624932-2D63-4CCC-944A-FF8FF1C42316}" srcOrd="0" destOrd="0" presId="urn:microsoft.com/office/officeart/2008/layout/LinedList"/>
    <dgm:cxn modelId="{0D7E6B3F-3820-4948-98C6-B1199C84FE25}" type="presParOf" srcId="{1AC8A7E6-D593-444B-B8F6-4B3FA4E1F1DE}" destId="{A6EDCDD4-CA37-4DF4-9EB1-AFDAADDD4665}" srcOrd="1" destOrd="0" presId="urn:microsoft.com/office/officeart/2008/layout/LinedList"/>
    <dgm:cxn modelId="{54CA5142-1FA2-4AF3-B5A9-6C1C68B30C8B}" type="presParOf" srcId="{1AC8A7E6-D593-444B-B8F6-4B3FA4E1F1DE}" destId="{C6AC3BB5-16AC-44C0-83FC-174E0DEB2DCE}" srcOrd="2" destOrd="0" presId="urn:microsoft.com/office/officeart/2008/layout/LinedList"/>
    <dgm:cxn modelId="{46433E41-B9AA-4A7A-BA4B-18F916A90082}" type="presParOf" srcId="{5B4FB648-7BF7-463B-8CB0-066BFE296106}" destId="{76EA29B7-8826-4C86-9033-5E361F90FB0E}" srcOrd="2" destOrd="0" presId="urn:microsoft.com/office/officeart/2008/layout/LinedList"/>
    <dgm:cxn modelId="{7800ECA6-9581-44E5-AEEC-18B460C3080E}" type="presParOf" srcId="{5B4FB648-7BF7-463B-8CB0-066BFE296106}" destId="{CEDAA846-7AE1-4093-9BDB-5DF1D86342EE}" srcOrd="3" destOrd="0" presId="urn:microsoft.com/office/officeart/2008/layout/LinedList"/>
    <dgm:cxn modelId="{B64207D1-016C-48CD-B70E-BB30D23C70E4}" type="presParOf" srcId="{5B4FB648-7BF7-463B-8CB0-066BFE296106}" destId="{78840A5F-1021-4B65-ABEF-14DEB6D13696}" srcOrd="4" destOrd="0" presId="urn:microsoft.com/office/officeart/2008/layout/LinedList"/>
    <dgm:cxn modelId="{647D7807-BE7B-47EC-B00D-30B6AF5965EA}" type="presParOf" srcId="{78840A5F-1021-4B65-ABEF-14DEB6D13696}" destId="{04A53811-5D02-46C8-AD0B-D2DB95921BA4}" srcOrd="0" destOrd="0" presId="urn:microsoft.com/office/officeart/2008/layout/LinedList"/>
    <dgm:cxn modelId="{5F5DDE6A-FF5E-40BE-A743-B3AEDAA2115C}" type="presParOf" srcId="{78840A5F-1021-4B65-ABEF-14DEB6D13696}" destId="{05B22900-55F1-45DC-A4BC-B8020FDFBFB1}" srcOrd="1" destOrd="0" presId="urn:microsoft.com/office/officeart/2008/layout/LinedList"/>
    <dgm:cxn modelId="{852EE9FE-9DE7-4F95-B9E8-930CC32B81F1}" type="presParOf" srcId="{78840A5F-1021-4B65-ABEF-14DEB6D13696}" destId="{BBF1D0DC-C89F-477F-BE10-5B08B2FBF127}" srcOrd="2" destOrd="0" presId="urn:microsoft.com/office/officeart/2008/layout/LinedList"/>
    <dgm:cxn modelId="{68488E16-0C0F-493A-9673-FBB8A50FE9E3}" type="presParOf" srcId="{5B4FB648-7BF7-463B-8CB0-066BFE296106}" destId="{2E79CD24-7700-4F1F-9893-768E2BB2EF55}" srcOrd="5" destOrd="0" presId="urn:microsoft.com/office/officeart/2008/layout/LinedList"/>
    <dgm:cxn modelId="{C03F1264-07B8-4C29-A753-56653E159566}" type="presParOf" srcId="{5B4FB648-7BF7-463B-8CB0-066BFE296106}" destId="{3022D260-30B2-41BF-B19F-D4AAF3B69DF4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558E5-2D79-4433-8391-5C2637FEF3D5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F782D17-179F-4662-858E-140AFB969A5E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Pasar modal</a:t>
          </a:r>
          <a:r>
            <a:rPr lang="en-US" sz="1600" kern="1200"/>
            <a:t>: tempat diperdagangkannya sekuritas jangka panjang (&gt; 1 tahun), seperti saham, obligasi, dan instrumen derivatif.</a:t>
          </a:r>
        </a:p>
      </dsp:txBody>
      <dsp:txXfrm>
        <a:off x="1228411" y="621955"/>
        <a:ext cx="1919362" cy="1919362"/>
      </dsp:txXfrm>
    </dsp:sp>
    <dsp:sp modelId="{16DB7C3D-06C0-488A-B270-97BA5D024C49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Berfungsi menyediakan </a:t>
          </a:r>
          <a:r>
            <a:rPr lang="en-US" sz="1600" b="1" kern="1200"/>
            <a:t>pendanaan jangka panjang</a:t>
          </a:r>
          <a:r>
            <a:rPr lang="en-US" sz="1600" kern="1200"/>
            <a:t> bagi perusahaan untuk investasi dan ekspansi.</a:t>
          </a:r>
        </a:p>
      </dsp:txBody>
      <dsp:txXfrm>
        <a:off x="3519058" y="621955"/>
        <a:ext cx="1919362" cy="1919362"/>
      </dsp:txXfrm>
    </dsp:sp>
    <dsp:sp modelId="{C0C050A3-5311-47FB-AF1E-3F7E760B8ADB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Memberikan </a:t>
          </a:r>
          <a:r>
            <a:rPr lang="en-US" sz="1600" b="1" kern="1200"/>
            <a:t>kesempatan investasi</a:t>
          </a:r>
          <a:r>
            <a:rPr lang="en-US" sz="1600" kern="1200"/>
            <a:t> bagi investor dengan potensi return lebih tinggi dibandingkan money market.</a:t>
          </a:r>
        </a:p>
      </dsp:txBody>
      <dsp:txXfrm>
        <a:off x="1228411" y="2912601"/>
        <a:ext cx="1919362" cy="1919362"/>
      </dsp:txXfrm>
    </dsp:sp>
    <dsp:sp modelId="{B4C5F289-1BE2-4364-87B8-736C17C80E16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Menjadi bagian penting dari sistem keuangan modern.</a:t>
          </a:r>
          <a:br>
            <a:rPr lang="en-US" sz="1600" kern="1200"/>
          </a:br>
          <a:endParaRPr lang="en-US" sz="1600" kern="1200"/>
        </a:p>
      </dsp:txBody>
      <dsp:txXfrm>
        <a:off x="3519058" y="2912601"/>
        <a:ext cx="1919362" cy="1919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1E23A-7D88-418C-8502-A40CD55A52DE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FD0B3-C714-4CA9-A7F1-122F4535BC8D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43101-D882-4D39-961B-C2F4503C7B26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Menyalurkan dana</a:t>
          </a:r>
          <a:r>
            <a:rPr lang="en-US" sz="1700" kern="1200"/>
            <a:t> dari pihak surplus (investor, institusi keuangan) ke pihak yang membutuhkan modal (perusahaan, pemerintah).</a:t>
          </a:r>
        </a:p>
      </dsp:txBody>
      <dsp:txXfrm>
        <a:off x="1357965" y="2319"/>
        <a:ext cx="4887299" cy="1175727"/>
      </dsp:txXfrm>
    </dsp:sp>
    <dsp:sp modelId="{713E3F00-8FE1-4290-8CE8-A79C82383625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B11F1A-1A8E-4F19-8F00-801A67C7ECFF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DF2B0-B634-4717-9B15-EE292753559C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Price Discovery</a:t>
          </a:r>
          <a:r>
            <a:rPr lang="en-US" sz="1700" kern="1200"/>
            <a:t>: pasar menentukan harga wajar sekuritas berdasarkan informasi dan ekspektasi investor.</a:t>
          </a:r>
        </a:p>
      </dsp:txBody>
      <dsp:txXfrm>
        <a:off x="1357965" y="1471979"/>
        <a:ext cx="4887299" cy="1175727"/>
      </dsp:txXfrm>
    </dsp:sp>
    <dsp:sp modelId="{26D829C5-D129-4ADF-BC73-B56C29AC1698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07B79-EF5D-464F-808A-55FD606C42E1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2A72E-77CD-4F70-8DD8-C50E6E0E0A6B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Menyediakan </a:t>
          </a:r>
          <a:r>
            <a:rPr lang="en-US" sz="1700" b="1" kern="1200"/>
            <a:t>akses pendanaan jangka panjang</a:t>
          </a:r>
          <a:r>
            <a:rPr lang="en-US" sz="1700" kern="1200"/>
            <a:t> melalui saham &amp; obligasi.</a:t>
          </a:r>
        </a:p>
      </dsp:txBody>
      <dsp:txXfrm>
        <a:off x="1357965" y="2941639"/>
        <a:ext cx="4887299" cy="1175727"/>
      </dsp:txXfrm>
    </dsp:sp>
    <dsp:sp modelId="{20D9C571-8294-4193-897E-3F8AECF95826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CCA3D-EFB7-4097-8760-E637983F0D79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FF70D-E218-4942-B120-9B36D35857B8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Meningkatkan </a:t>
          </a:r>
          <a:r>
            <a:rPr lang="en-US" sz="1700" b="1" kern="1200"/>
            <a:t>likuiditas</a:t>
          </a:r>
          <a:r>
            <a:rPr lang="en-US" sz="1700" kern="1200"/>
            <a:t>, memudahkan investor menjual aset kapan saja.</a:t>
          </a:r>
          <a:br>
            <a:rPr lang="en-US" sz="1700" kern="1200"/>
          </a:br>
          <a:endParaRPr lang="en-US" sz="1700" kern="1200"/>
        </a:p>
      </dsp:txBody>
      <dsp:txXfrm>
        <a:off x="1357965" y="4411299"/>
        <a:ext cx="4887299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36665-5DC0-4264-A37B-F81927C096B8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FDFEB-12FC-437A-A5D8-BEA0B8346FD7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Sekuritas diterbitkan pertama kali kepada publik.</a:t>
          </a:r>
        </a:p>
      </dsp:txBody>
      <dsp:txXfrm>
        <a:off x="3845652" y="478140"/>
        <a:ext cx="1475545" cy="1475545"/>
      </dsp:txXfrm>
    </dsp:sp>
    <dsp:sp modelId="{822019DE-0F55-4670-A777-C398DEEB88E9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Dana dari penjualan masuk ke </a:t>
          </a:r>
          <a:r>
            <a:rPr lang="en-US" sz="1400" b="1" kern="1200"/>
            <a:t>emiten</a:t>
          </a:r>
          <a:r>
            <a:rPr lang="en-US" sz="1400" kern="1200"/>
            <a:t>.</a:t>
          </a:r>
        </a:p>
      </dsp:txBody>
      <dsp:txXfrm>
        <a:off x="5606630" y="478140"/>
        <a:ext cx="1475545" cy="1475545"/>
      </dsp:txXfrm>
    </dsp:sp>
    <dsp:sp modelId="{CD2CC59C-7539-48FB-A5B8-ADC4899D5D7B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IPO</a:t>
          </a:r>
          <a:r>
            <a:rPr lang="en-US" sz="1400" kern="1200"/>
            <a:t>: proses perusahaan menjual saham untuk pertama kali.</a:t>
          </a:r>
        </a:p>
      </dsp:txBody>
      <dsp:txXfrm>
        <a:off x="3845652" y="2239118"/>
        <a:ext cx="1475545" cy="1475545"/>
      </dsp:txXfrm>
    </dsp:sp>
    <dsp:sp modelId="{474598B1-36F0-4F0C-92EE-65165A804C34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Private Placement</a:t>
          </a:r>
          <a:r>
            <a:rPr lang="en-US" sz="1400" kern="1200"/>
            <a:t>: penjualan sekuritas kepada investor terbatas.</a:t>
          </a:r>
          <a:br>
            <a:rPr lang="en-US" sz="1400" kern="1200"/>
          </a:br>
          <a:endParaRPr lang="en-US" sz="1400" kern="1200"/>
        </a:p>
      </dsp:txBody>
      <dsp:txXfrm>
        <a:off x="5606630" y="2239118"/>
        <a:ext cx="1475545" cy="14755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FD3F5-90F6-4618-A9F2-BD69863E0BA7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3E8E83-B76D-44A9-AF47-80864AE9EB5B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Perdagangan sekuritas setelah IPO.</a:t>
          </a:r>
        </a:p>
      </dsp:txBody>
      <dsp:txXfrm>
        <a:off x="3845652" y="478140"/>
        <a:ext cx="1475545" cy="1475545"/>
      </dsp:txXfrm>
    </dsp:sp>
    <dsp:sp modelId="{F4601F2B-0729-4651-BE77-EE50F6B340B1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Tidak menambah dana bagi emiten.</a:t>
          </a:r>
        </a:p>
      </dsp:txBody>
      <dsp:txXfrm>
        <a:off x="5606630" y="478140"/>
        <a:ext cx="1475545" cy="1475545"/>
      </dsp:txXfrm>
    </dsp:sp>
    <dsp:sp modelId="{FEEB80A1-F3FB-4510-97E5-F1F0D825BC54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Harga pada pasar sekunder mencerminkan penilaian pasar terhadap nilai perusahaan.</a:t>
          </a:r>
        </a:p>
      </dsp:txBody>
      <dsp:txXfrm>
        <a:off x="3845652" y="2239118"/>
        <a:ext cx="1475545" cy="1475545"/>
      </dsp:txXfrm>
    </dsp:sp>
    <dsp:sp modelId="{160ADD56-7986-428F-B39B-53ADD3AE542C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Likuiditas memungkinkan investor masuk/keluar kapan saja.</a:t>
          </a:r>
          <a:br>
            <a:rPr lang="en-US" sz="1500" kern="1200"/>
          </a:br>
          <a:endParaRPr lang="en-US" sz="1500" kern="1200"/>
        </a:p>
      </dsp:txBody>
      <dsp:txXfrm>
        <a:off x="5606630" y="2239118"/>
        <a:ext cx="1475545" cy="14755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50A0BE-BFE1-4B68-989D-A6CB1835EAAB}">
      <dsp:nvSpPr>
        <dsp:cNvPr id="0" name=""/>
        <dsp:cNvSpPr/>
      </dsp:nvSpPr>
      <dsp:spPr>
        <a:xfrm>
          <a:off x="853" y="0"/>
          <a:ext cx="3457633" cy="36894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Indeks harga saham</a:t>
          </a:r>
          <a:r>
            <a:rPr lang="en-US" sz="2400" kern="1200"/>
            <a:t>: ukuran kinerja pasar secara keseluruhan.</a:t>
          </a:r>
        </a:p>
      </dsp:txBody>
      <dsp:txXfrm>
        <a:off x="853" y="1475762"/>
        <a:ext cx="3457633" cy="2213643"/>
      </dsp:txXfrm>
    </dsp:sp>
    <dsp:sp modelId="{AE8E1E38-244C-4CFF-8FB5-F465B9D760E0}">
      <dsp:nvSpPr>
        <dsp:cNvPr id="0" name=""/>
        <dsp:cNvSpPr/>
      </dsp:nvSpPr>
      <dsp:spPr>
        <a:xfrm>
          <a:off x="853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0"/>
        <a:ext cx="3457633" cy="1475762"/>
      </dsp:txXfrm>
    </dsp:sp>
    <dsp:sp modelId="{70F585E4-D4DF-4B41-9D3B-AEFCFEBEF40A}">
      <dsp:nvSpPr>
        <dsp:cNvPr id="0" name=""/>
        <dsp:cNvSpPr/>
      </dsp:nvSpPr>
      <dsp:spPr>
        <a:xfrm>
          <a:off x="3735097" y="0"/>
          <a:ext cx="3457633" cy="36894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Digunakan untuk: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Benchmark investasi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Analisis tren pasar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Penilaian kinerja portofolio</a:t>
          </a:r>
        </a:p>
      </dsp:txBody>
      <dsp:txXfrm>
        <a:off x="3735097" y="1475762"/>
        <a:ext cx="3457633" cy="2213643"/>
      </dsp:txXfrm>
    </dsp:sp>
    <dsp:sp modelId="{B02E5A3A-2D86-4B9C-A7E3-CB95D9CD9797}">
      <dsp:nvSpPr>
        <dsp:cNvPr id="0" name=""/>
        <dsp:cNvSpPr/>
      </dsp:nvSpPr>
      <dsp:spPr>
        <a:xfrm>
          <a:off x="3735097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0"/>
        <a:ext cx="3457633" cy="1475762"/>
      </dsp:txXfrm>
    </dsp:sp>
    <dsp:sp modelId="{E4626C82-75B0-42AF-A919-5FD896CF7FF6}">
      <dsp:nvSpPr>
        <dsp:cNvPr id="0" name=""/>
        <dsp:cNvSpPr/>
      </dsp:nvSpPr>
      <dsp:spPr>
        <a:xfrm>
          <a:off x="7469341" y="0"/>
          <a:ext cx="3457633" cy="36894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Jenis </a:t>
          </a:r>
          <a:r>
            <a:rPr lang="en-US" sz="2400" b="1" kern="1200" dirty="0" err="1"/>
            <a:t>indeks</a:t>
          </a:r>
          <a:r>
            <a:rPr lang="en-US" sz="2400" b="1" kern="1200" dirty="0"/>
            <a:t>:</a:t>
          </a:r>
          <a:endParaRPr lang="en-US" sz="24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/>
            <a:t>Price-weighted</a:t>
          </a:r>
          <a:r>
            <a:rPr lang="en-US" sz="1900" kern="1200"/>
            <a:t>: Dow Jones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Value-weighted</a:t>
          </a:r>
          <a:r>
            <a:rPr lang="en-US" sz="1900" kern="1200" dirty="0"/>
            <a:t>: S&amp;P 500, IDX Composite</a:t>
          </a:r>
          <a:br>
            <a:rPr lang="en-US" sz="1900" kern="1200" dirty="0"/>
          </a:br>
          <a:endParaRPr lang="en-US" sz="1900" kern="1200" dirty="0"/>
        </a:p>
      </dsp:txBody>
      <dsp:txXfrm>
        <a:off x="7469341" y="1475762"/>
        <a:ext cx="3457633" cy="2213643"/>
      </dsp:txXfrm>
    </dsp:sp>
    <dsp:sp modelId="{C5692B89-BAEB-4FE2-93F7-711AA6537F42}">
      <dsp:nvSpPr>
        <dsp:cNvPr id="0" name=""/>
        <dsp:cNvSpPr/>
      </dsp:nvSpPr>
      <dsp:spPr>
        <a:xfrm>
          <a:off x="7469341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0"/>
        <a:ext cx="3457633" cy="14757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8DF64-113B-4C7F-83D0-6B7BDACAC574}">
      <dsp:nvSpPr>
        <dsp:cNvPr id="0" name=""/>
        <dsp:cNvSpPr/>
      </dsp:nvSpPr>
      <dsp:spPr>
        <a:xfrm>
          <a:off x="0" y="135679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Tujuan regulasi:</a:t>
          </a:r>
        </a:p>
      </dsp:txBody>
      <dsp:txXfrm>
        <a:off x="38381" y="174060"/>
        <a:ext cx="6590071" cy="709478"/>
      </dsp:txXfrm>
    </dsp:sp>
    <dsp:sp modelId="{814AF1C1-1ED3-4321-A1A1-094CBCB675BB}">
      <dsp:nvSpPr>
        <dsp:cNvPr id="0" name=""/>
        <dsp:cNvSpPr/>
      </dsp:nvSpPr>
      <dsp:spPr>
        <a:xfrm>
          <a:off x="0" y="921919"/>
          <a:ext cx="6666833" cy="238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Menciptakan pasar yang </a:t>
          </a:r>
          <a:r>
            <a:rPr lang="en-US" sz="2500" b="1" kern="1200"/>
            <a:t>fair, transparan, dan efisien</a:t>
          </a:r>
          <a:r>
            <a:rPr lang="en-US" sz="2500" kern="1200"/>
            <a:t>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Melindungi investor dari praktik manipulasi (market manipulation).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Mengatur peran bursa, perusahaan sekuritas, lembaga kliring.</a:t>
          </a:r>
        </a:p>
      </dsp:txBody>
      <dsp:txXfrm>
        <a:off x="0" y="921919"/>
        <a:ext cx="6666833" cy="2384640"/>
      </dsp:txXfrm>
    </dsp:sp>
    <dsp:sp modelId="{703DAD64-CB1E-4AAF-9A84-6389A9A229AC}">
      <dsp:nvSpPr>
        <dsp:cNvPr id="0" name=""/>
        <dsp:cNvSpPr/>
      </dsp:nvSpPr>
      <dsp:spPr>
        <a:xfrm>
          <a:off x="0" y="3306559"/>
          <a:ext cx="6666833" cy="7862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Istilah penting:</a:t>
          </a:r>
          <a:endParaRPr lang="en-US" sz="3200" kern="1200"/>
        </a:p>
      </dsp:txBody>
      <dsp:txXfrm>
        <a:off x="38381" y="3344940"/>
        <a:ext cx="6590071" cy="709478"/>
      </dsp:txXfrm>
    </dsp:sp>
    <dsp:sp modelId="{D7B1B8A4-34B7-436C-BAFF-E3DD79575C1A}">
      <dsp:nvSpPr>
        <dsp:cNvPr id="0" name=""/>
        <dsp:cNvSpPr/>
      </dsp:nvSpPr>
      <dsp:spPr>
        <a:xfrm>
          <a:off x="0" y="4092800"/>
          <a:ext cx="6666833" cy="1225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Disclosure</a:t>
          </a:r>
          <a:r>
            <a:rPr lang="en-US" sz="2500" kern="1200"/>
            <a:t> → kewajiban pelaporan terbuka.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/>
            <a:t>Material information</a:t>
          </a:r>
          <a:r>
            <a:rPr lang="en-US" sz="2500" kern="1200"/>
            <a:t> → informasi yang memengaruhi keputusan investor.</a:t>
          </a:r>
        </a:p>
      </dsp:txBody>
      <dsp:txXfrm>
        <a:off x="0" y="4092800"/>
        <a:ext cx="6666833" cy="12254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BAD07-21F6-4257-8863-398235DE5068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92BA1C-FA36-4126-BE65-26367D1B1856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Insider Trading</a:t>
          </a:r>
          <a:r>
            <a:rPr lang="en-US" sz="3500" kern="1200"/>
            <a:t>: transaksi berdasarkan informasi material non-publik.</a:t>
          </a:r>
        </a:p>
      </dsp:txBody>
      <dsp:txXfrm>
        <a:off x="0" y="2663"/>
        <a:ext cx="6666833" cy="1816197"/>
      </dsp:txXfrm>
    </dsp:sp>
    <dsp:sp modelId="{800F3C36-EC7F-4D96-9C0D-4833C471A2E0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B3C387-5C1A-46CA-8DF0-692647D6297A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Dilarang karena merugikan investor lain.</a:t>
          </a:r>
        </a:p>
      </dsp:txBody>
      <dsp:txXfrm>
        <a:off x="0" y="1818861"/>
        <a:ext cx="6666833" cy="1816197"/>
      </dsp:txXfrm>
    </dsp:sp>
    <dsp:sp modelId="{5539062D-AD5C-4276-8340-8614F9B38752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3BE410-1CAB-4E88-A782-DEBF5683A963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Contoh: manajer menjual saham sebelum laporan buruk dirilis.</a:t>
          </a:r>
          <a:br>
            <a:rPr lang="en-US" sz="3500" kern="1200"/>
          </a:br>
          <a:endParaRPr lang="en-US" sz="3500" kern="1200"/>
        </a:p>
      </dsp:txBody>
      <dsp:txXfrm>
        <a:off x="0" y="3635058"/>
        <a:ext cx="6666833" cy="181619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A04B8-0FC5-4EE2-845D-D20D3BA6BDC7}">
      <dsp:nvSpPr>
        <dsp:cNvPr id="0" name=""/>
        <dsp:cNvSpPr/>
      </dsp:nvSpPr>
      <dsp:spPr>
        <a:xfrm>
          <a:off x="0" y="4105454"/>
          <a:ext cx="6666833" cy="13475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Penyebab:</a:t>
          </a:r>
        </a:p>
      </dsp:txBody>
      <dsp:txXfrm>
        <a:off x="0" y="4105454"/>
        <a:ext cx="6666833" cy="727650"/>
      </dsp:txXfrm>
    </dsp:sp>
    <dsp:sp modelId="{09317F6B-2B44-48BC-858C-18F4735D8D02}">
      <dsp:nvSpPr>
        <dsp:cNvPr id="0" name=""/>
        <dsp:cNvSpPr/>
      </dsp:nvSpPr>
      <dsp:spPr>
        <a:xfrm>
          <a:off x="0" y="4806155"/>
          <a:ext cx="1666708" cy="6198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Berita mendadak</a:t>
          </a:r>
        </a:p>
      </dsp:txBody>
      <dsp:txXfrm>
        <a:off x="0" y="4806155"/>
        <a:ext cx="1666708" cy="619850"/>
      </dsp:txXfrm>
    </dsp:sp>
    <dsp:sp modelId="{79BCB8CD-1AFD-4ED2-8F08-E331F63FB818}">
      <dsp:nvSpPr>
        <dsp:cNvPr id="0" name=""/>
        <dsp:cNvSpPr/>
      </dsp:nvSpPr>
      <dsp:spPr>
        <a:xfrm>
          <a:off x="1666708" y="4806155"/>
          <a:ext cx="1666708" cy="619850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Perubahan suku bunga</a:t>
          </a:r>
        </a:p>
      </dsp:txBody>
      <dsp:txXfrm>
        <a:off x="1666708" y="4806155"/>
        <a:ext cx="1666708" cy="619850"/>
      </dsp:txXfrm>
    </dsp:sp>
    <dsp:sp modelId="{56D63BC1-4F70-4A54-AB2B-446245740B61}">
      <dsp:nvSpPr>
        <dsp:cNvPr id="0" name=""/>
        <dsp:cNvSpPr/>
      </dsp:nvSpPr>
      <dsp:spPr>
        <a:xfrm>
          <a:off x="3333416" y="4806155"/>
          <a:ext cx="1666708" cy="619850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Geopolitik</a:t>
          </a:r>
        </a:p>
      </dsp:txBody>
      <dsp:txXfrm>
        <a:off x="3333416" y="4806155"/>
        <a:ext cx="1666708" cy="619850"/>
      </dsp:txXfrm>
    </dsp:sp>
    <dsp:sp modelId="{01B658BF-5EF4-46A1-84E5-CB60C39B389C}">
      <dsp:nvSpPr>
        <dsp:cNvPr id="0" name=""/>
        <dsp:cNvSpPr/>
      </dsp:nvSpPr>
      <dsp:spPr>
        <a:xfrm>
          <a:off x="5000124" y="4806155"/>
          <a:ext cx="1666708" cy="61985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Overreaction investor</a:t>
          </a:r>
        </a:p>
      </dsp:txBody>
      <dsp:txXfrm>
        <a:off x="5000124" y="4806155"/>
        <a:ext cx="1666708" cy="619850"/>
      </dsp:txXfrm>
    </dsp:sp>
    <dsp:sp modelId="{72A80988-02EA-4101-A884-59EB8CC7A40B}">
      <dsp:nvSpPr>
        <dsp:cNvPr id="0" name=""/>
        <dsp:cNvSpPr/>
      </dsp:nvSpPr>
      <dsp:spPr>
        <a:xfrm rot="10800000">
          <a:off x="0" y="2053209"/>
          <a:ext cx="6666833" cy="2072457"/>
        </a:xfrm>
        <a:prstGeom prst="upArrowCallou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Tinggi → risiko tinggi.</a:t>
          </a:r>
        </a:p>
      </dsp:txBody>
      <dsp:txXfrm rot="10800000">
        <a:off x="0" y="2053209"/>
        <a:ext cx="6666833" cy="1346620"/>
      </dsp:txXfrm>
    </dsp:sp>
    <dsp:sp modelId="{EE19A225-30EF-4CE6-B709-82A7F5CD538C}">
      <dsp:nvSpPr>
        <dsp:cNvPr id="0" name=""/>
        <dsp:cNvSpPr/>
      </dsp:nvSpPr>
      <dsp:spPr>
        <a:xfrm rot="10800000">
          <a:off x="0" y="964"/>
          <a:ext cx="6666833" cy="2072457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Volatilitas</a:t>
          </a:r>
          <a:r>
            <a:rPr lang="en-US" sz="2500" kern="1200"/>
            <a:t>: tingkat fluktuasi harga sekuritas.</a:t>
          </a:r>
        </a:p>
      </dsp:txBody>
      <dsp:txXfrm rot="10800000">
        <a:off x="0" y="964"/>
        <a:ext cx="6666833" cy="13466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662A9-5C3E-4515-8146-52773825070B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5830C-F065-47C2-ACB1-0795FB9B9A9E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1. Market Order</a:t>
          </a:r>
          <a:endParaRPr lang="en-US" sz="3300" kern="1200"/>
        </a:p>
      </dsp:txBody>
      <dsp:txXfrm>
        <a:off x="0" y="2124"/>
        <a:ext cx="10515600" cy="724514"/>
      </dsp:txXfrm>
    </dsp:sp>
    <dsp:sp modelId="{77B77919-C7B4-4EE5-A24F-74A3DAABC438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F2AD1-8EC9-41D2-A27C-E337DF82F2DF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Eksekusi cepat pada harga terbaik yang tersedia.</a:t>
          </a:r>
        </a:p>
      </dsp:txBody>
      <dsp:txXfrm>
        <a:off x="0" y="726639"/>
        <a:ext cx="10515600" cy="724514"/>
      </dsp:txXfrm>
    </dsp:sp>
    <dsp:sp modelId="{40EE44A2-50AC-4FF5-8AB8-E028A1E3C66A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33A80-16CE-425C-A5E2-702F69772802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2. Limit Order</a:t>
          </a:r>
          <a:endParaRPr lang="en-US" sz="3300" kern="1200"/>
        </a:p>
      </dsp:txBody>
      <dsp:txXfrm>
        <a:off x="0" y="1451154"/>
        <a:ext cx="10515600" cy="724514"/>
      </dsp:txXfrm>
    </dsp:sp>
    <dsp:sp modelId="{C392EED4-AEAE-4D58-A700-27AF4CD9C03D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1A474-D993-4AD9-90CD-5F40587508A0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Eksekusi hanya pada harga tertentu atau lebih baik.</a:t>
          </a:r>
        </a:p>
      </dsp:txBody>
      <dsp:txXfrm>
        <a:off x="0" y="2175669"/>
        <a:ext cx="10515600" cy="724514"/>
      </dsp:txXfrm>
    </dsp:sp>
    <dsp:sp modelId="{3E4EE141-20F6-4EB6-99FE-379802B28CC2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2A686-E686-43FD-B7C8-20356BEA31AA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3. Stop Order</a:t>
          </a:r>
          <a:endParaRPr lang="en-US" sz="3300" kern="1200"/>
        </a:p>
      </dsp:txBody>
      <dsp:txXfrm>
        <a:off x="0" y="2900183"/>
        <a:ext cx="10515600" cy="724514"/>
      </dsp:txXfrm>
    </dsp:sp>
    <dsp:sp modelId="{7C114A9B-90C9-4F6C-A253-E31893BF03A1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88ED3-EF84-499C-93F0-C73C6021CA1C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Menjadi market order setelah harga pemicu tercapai.</a:t>
          </a:r>
        </a:p>
      </dsp:txBody>
      <dsp:txXfrm>
        <a:off x="0" y="3624698"/>
        <a:ext cx="10515600" cy="7245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50432-7BA2-4112-9BB3-C3501DFBE9A8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F76EBC4-A6EB-47A3-BF68-9BD658959ADF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Contoh:</a:t>
          </a:r>
          <a:endParaRPr lang="en-US" sz="2000" kern="1200"/>
        </a:p>
      </dsp:txBody>
      <dsp:txXfrm>
        <a:off x="1228411" y="621955"/>
        <a:ext cx="1919362" cy="1919362"/>
      </dsp:txXfrm>
    </dsp:sp>
    <dsp:sp modelId="{C8F38075-503A-406F-B5D2-319A71BA58B3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Buy Limit 4.800</a:t>
          </a:r>
          <a:r>
            <a:rPr lang="en-US" sz="2000" kern="1200"/>
            <a:t> → hanya tereksekusi bila harga </a:t>
          </a:r>
          <a:r>
            <a:rPr lang="en-US" sz="2000" b="1" kern="1200"/>
            <a:t>≤ 4.800</a:t>
          </a:r>
          <a:endParaRPr lang="en-US" sz="2000" kern="1200"/>
        </a:p>
      </dsp:txBody>
      <dsp:txXfrm>
        <a:off x="3519058" y="621955"/>
        <a:ext cx="1919362" cy="1919362"/>
      </dsp:txXfrm>
    </dsp:sp>
    <dsp:sp modelId="{26874488-A5E1-4A54-9000-E1596F274C66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Sell Limit 5.200</a:t>
          </a:r>
          <a:r>
            <a:rPr lang="en-US" sz="2000" kern="1200"/>
            <a:t> → hanya tereksekusi bila harga </a:t>
          </a:r>
          <a:r>
            <a:rPr lang="en-US" sz="2000" b="1" kern="1200"/>
            <a:t>≥ 5.200</a:t>
          </a:r>
          <a:endParaRPr lang="en-US" sz="2000" kern="1200"/>
        </a:p>
      </dsp:txBody>
      <dsp:txXfrm>
        <a:off x="1228411" y="2912601"/>
        <a:ext cx="1919362" cy="1919362"/>
      </dsp:txXfrm>
    </dsp:sp>
    <dsp:sp modelId="{761CFBB7-DE96-413F-8C77-ABE0643CCDA9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Makna:</a:t>
          </a:r>
          <a:r>
            <a:rPr lang="en-US" sz="2000" kern="1200"/>
            <a:t> membantu investor mendapatkan harga yang diinginkan.</a:t>
          </a:r>
        </a:p>
      </dsp:txBody>
      <dsp:txXfrm>
        <a:off x="3519058" y="2912601"/>
        <a:ext cx="1919362" cy="19193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27CC8-91BC-4ACE-8FA0-1A7B282B21B8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Elemen:</a:t>
          </a:r>
        </a:p>
      </dsp:txBody>
      <dsp:txXfrm>
        <a:off x="0" y="3291729"/>
        <a:ext cx="6666833" cy="1166254"/>
      </dsp:txXfrm>
    </dsp:sp>
    <dsp:sp modelId="{F99B21D2-4838-4BF5-BA0C-8C1340463E40}">
      <dsp:nvSpPr>
        <dsp:cNvPr id="0" name=""/>
        <dsp:cNvSpPr/>
      </dsp:nvSpPr>
      <dsp:spPr>
        <a:xfrm>
          <a:off x="0" y="4414789"/>
          <a:ext cx="1666708" cy="9934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Order Book</a:t>
          </a:r>
          <a:endParaRPr lang="en-US" sz="2400" kern="1200"/>
        </a:p>
      </dsp:txBody>
      <dsp:txXfrm>
        <a:off x="0" y="4414789"/>
        <a:ext cx="1666708" cy="993476"/>
      </dsp:txXfrm>
    </dsp:sp>
    <dsp:sp modelId="{50032D9B-8EA5-4A79-81F6-D8B946421796}">
      <dsp:nvSpPr>
        <dsp:cNvPr id="0" name=""/>
        <dsp:cNvSpPr/>
      </dsp:nvSpPr>
      <dsp:spPr>
        <a:xfrm>
          <a:off x="1666708" y="4414789"/>
          <a:ext cx="1666708" cy="993476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Matching Engine</a:t>
          </a:r>
          <a:endParaRPr lang="en-US" sz="2400" kern="1200"/>
        </a:p>
      </dsp:txBody>
      <dsp:txXfrm>
        <a:off x="1666708" y="4414789"/>
        <a:ext cx="1666708" cy="993476"/>
      </dsp:txXfrm>
    </dsp:sp>
    <dsp:sp modelId="{76346543-77C7-4E84-BF95-91D8BCE800DE}">
      <dsp:nvSpPr>
        <dsp:cNvPr id="0" name=""/>
        <dsp:cNvSpPr/>
      </dsp:nvSpPr>
      <dsp:spPr>
        <a:xfrm>
          <a:off x="3333416" y="4414789"/>
          <a:ext cx="1666708" cy="993476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Market Maker</a:t>
          </a:r>
          <a:endParaRPr lang="en-US" sz="2400" kern="1200"/>
        </a:p>
      </dsp:txBody>
      <dsp:txXfrm>
        <a:off x="3333416" y="4414789"/>
        <a:ext cx="1666708" cy="993476"/>
      </dsp:txXfrm>
    </dsp:sp>
    <dsp:sp modelId="{9AE8710A-35B0-4FA0-8693-9A474D68E097}">
      <dsp:nvSpPr>
        <dsp:cNvPr id="0" name=""/>
        <dsp:cNvSpPr/>
      </dsp:nvSpPr>
      <dsp:spPr>
        <a:xfrm>
          <a:off x="5000124" y="4414789"/>
          <a:ext cx="1666708" cy="99347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Liquidity Provider</a:t>
          </a:r>
          <a:endParaRPr lang="en-US" sz="2400" kern="1200"/>
        </a:p>
      </dsp:txBody>
      <dsp:txXfrm>
        <a:off x="5000124" y="4414789"/>
        <a:ext cx="1666708" cy="993476"/>
      </dsp:txXfrm>
    </dsp:sp>
    <dsp:sp modelId="{9E3E13D0-8A65-430A-BF21-30A8B5B93FF3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Market microstructure</a:t>
          </a:r>
          <a:r>
            <a:rPr lang="en-US" sz="3800" kern="1200"/>
            <a:t>: bagaimana order masuk, diproses, dan dicocokkan.</a:t>
          </a:r>
        </a:p>
      </dsp:txBody>
      <dsp:txXfrm rot="10800000">
        <a:off x="0" y="2459"/>
        <a:ext cx="6666833" cy="215831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33EB3-9D06-4E2A-BECD-F17EC4EC267B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17F46D6-8EA1-4601-9DCC-E640F886DA2A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HFT (High Frequency Trading)</a:t>
          </a:r>
          <a:r>
            <a:rPr lang="en-US" sz="1900" kern="1200"/>
            <a:t>: algoritma dengan kecepatan tinggi.</a:t>
          </a:r>
        </a:p>
      </dsp:txBody>
      <dsp:txXfrm>
        <a:off x="1228411" y="621955"/>
        <a:ext cx="1919362" cy="1919362"/>
      </dsp:txXfrm>
    </dsp:sp>
    <dsp:sp modelId="{FBD37349-23BA-42EE-B0E4-20FA118A62BE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Dark Pools</a:t>
          </a:r>
          <a:r>
            <a:rPr lang="en-US" sz="1900" kern="1200"/>
            <a:t>: platform perdagangan privat untuk transaksi besar.</a:t>
          </a:r>
        </a:p>
      </dsp:txBody>
      <dsp:txXfrm>
        <a:off x="3519058" y="621955"/>
        <a:ext cx="1919362" cy="1919362"/>
      </dsp:txXfrm>
    </dsp:sp>
    <dsp:sp modelId="{721F7631-874F-454A-BAEE-FC2AAA485B35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Auto-Matching</a:t>
          </a:r>
          <a:r>
            <a:rPr lang="en-US" sz="1900" kern="1200"/>
            <a:t>: sistem otomatis mencocokkan order.</a:t>
          </a:r>
        </a:p>
      </dsp:txBody>
      <dsp:txXfrm>
        <a:off x="1228411" y="2912601"/>
        <a:ext cx="1919362" cy="1919362"/>
      </dsp:txXfrm>
    </dsp:sp>
    <dsp:sp modelId="{4727B1DB-7351-403D-A636-0086DE87D617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Teknologi membuat market lebih cepat dan efisien.</a:t>
          </a:r>
          <a:br>
            <a:rPr lang="en-US" sz="1900" kern="1200"/>
          </a:br>
          <a:endParaRPr lang="en-US" sz="1900" kern="1200"/>
        </a:p>
      </dsp:txBody>
      <dsp:txXfrm>
        <a:off x="3519058" y="2912601"/>
        <a:ext cx="1919362" cy="191936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50C67-E5B8-4AAC-B7E6-7978689484B4}">
      <dsp:nvSpPr>
        <dsp:cNvPr id="0" name=""/>
        <dsp:cNvSpPr/>
      </dsp:nvSpPr>
      <dsp:spPr>
        <a:xfrm>
          <a:off x="0" y="26284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1. Overconfidence</a:t>
          </a:r>
          <a:endParaRPr lang="en-US" sz="3000" kern="1200"/>
        </a:p>
      </dsp:txBody>
      <dsp:txXfrm>
        <a:off x="35982" y="62266"/>
        <a:ext cx="6594869" cy="665135"/>
      </dsp:txXfrm>
    </dsp:sp>
    <dsp:sp modelId="{63C91989-D79F-40AD-A706-60602BBD9BE0}">
      <dsp:nvSpPr>
        <dsp:cNvPr id="0" name=""/>
        <dsp:cNvSpPr/>
      </dsp:nvSpPr>
      <dsp:spPr>
        <a:xfrm>
          <a:off x="0" y="763384"/>
          <a:ext cx="6666833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Investor terlalu percaya diri → overtrading.</a:t>
          </a:r>
        </a:p>
      </dsp:txBody>
      <dsp:txXfrm>
        <a:off x="0" y="763384"/>
        <a:ext cx="6666833" cy="496800"/>
      </dsp:txXfrm>
    </dsp:sp>
    <dsp:sp modelId="{38606677-3E73-4043-B55B-7798FDC47D54}">
      <dsp:nvSpPr>
        <dsp:cNvPr id="0" name=""/>
        <dsp:cNvSpPr/>
      </dsp:nvSpPr>
      <dsp:spPr>
        <a:xfrm>
          <a:off x="0" y="1260184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2. Herding</a:t>
          </a:r>
          <a:endParaRPr lang="en-US" sz="3000" kern="1200"/>
        </a:p>
      </dsp:txBody>
      <dsp:txXfrm>
        <a:off x="35982" y="1296166"/>
        <a:ext cx="6594869" cy="665135"/>
      </dsp:txXfrm>
    </dsp:sp>
    <dsp:sp modelId="{15036B0B-7B4E-4C9E-9326-941F3F6EFE03}">
      <dsp:nvSpPr>
        <dsp:cNvPr id="0" name=""/>
        <dsp:cNvSpPr/>
      </dsp:nvSpPr>
      <dsp:spPr>
        <a:xfrm>
          <a:off x="0" y="1997284"/>
          <a:ext cx="6666833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Mengikuti mayoritas tanpa analisis → bubble market.</a:t>
          </a:r>
        </a:p>
      </dsp:txBody>
      <dsp:txXfrm>
        <a:off x="0" y="1997284"/>
        <a:ext cx="6666833" cy="729675"/>
      </dsp:txXfrm>
    </dsp:sp>
    <dsp:sp modelId="{B0D959A3-7043-4EC2-8232-CCA690B2B82E}">
      <dsp:nvSpPr>
        <dsp:cNvPr id="0" name=""/>
        <dsp:cNvSpPr/>
      </dsp:nvSpPr>
      <dsp:spPr>
        <a:xfrm>
          <a:off x="0" y="2726960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3. Anchoring</a:t>
          </a:r>
          <a:endParaRPr lang="en-US" sz="3000" kern="1200"/>
        </a:p>
      </dsp:txBody>
      <dsp:txXfrm>
        <a:off x="35982" y="2762942"/>
        <a:ext cx="6594869" cy="665135"/>
      </dsp:txXfrm>
    </dsp:sp>
    <dsp:sp modelId="{75700A08-F1ED-4369-844E-FE058A04389C}">
      <dsp:nvSpPr>
        <dsp:cNvPr id="0" name=""/>
        <dsp:cNvSpPr/>
      </dsp:nvSpPr>
      <dsp:spPr>
        <a:xfrm>
          <a:off x="0" y="3464060"/>
          <a:ext cx="6666833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Terlalu terpaku pada harga awal.</a:t>
          </a:r>
        </a:p>
      </dsp:txBody>
      <dsp:txXfrm>
        <a:off x="0" y="3464060"/>
        <a:ext cx="6666833" cy="496800"/>
      </dsp:txXfrm>
    </dsp:sp>
    <dsp:sp modelId="{FC921A65-03C4-46BE-9572-B5BFE9DD5CDB}">
      <dsp:nvSpPr>
        <dsp:cNvPr id="0" name=""/>
        <dsp:cNvSpPr/>
      </dsp:nvSpPr>
      <dsp:spPr>
        <a:xfrm>
          <a:off x="0" y="3960859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4. Loss Aversion</a:t>
          </a:r>
          <a:endParaRPr lang="en-US" sz="3000" kern="1200"/>
        </a:p>
      </dsp:txBody>
      <dsp:txXfrm>
        <a:off x="35982" y="3996841"/>
        <a:ext cx="6594869" cy="665135"/>
      </dsp:txXfrm>
    </dsp:sp>
    <dsp:sp modelId="{C8B89A03-7978-407A-A0C7-84723041AB99}">
      <dsp:nvSpPr>
        <dsp:cNvPr id="0" name=""/>
        <dsp:cNvSpPr/>
      </dsp:nvSpPr>
      <dsp:spPr>
        <a:xfrm>
          <a:off x="0" y="4697959"/>
          <a:ext cx="6666833" cy="729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Takut rugi lebih besar daripada keinginan untung → menahan kerugian terlalu lama.</a:t>
          </a:r>
        </a:p>
      </dsp:txBody>
      <dsp:txXfrm>
        <a:off x="0" y="4697959"/>
        <a:ext cx="6666833" cy="72967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295CD-281D-457B-B030-9DB77980EF08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89759C-CB34-444E-B38E-CB50F5504A3D}">
      <dsp:nvSpPr>
        <dsp:cNvPr id="0" name=""/>
        <dsp:cNvSpPr/>
      </dsp:nvSpPr>
      <dsp:spPr>
        <a:xfrm>
          <a:off x="0" y="0"/>
          <a:ext cx="1333366" cy="54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CAPM Portofolio</a:t>
          </a:r>
          <a:endParaRPr lang="en-US" sz="2000" kern="1200"/>
        </a:p>
      </dsp:txBody>
      <dsp:txXfrm>
        <a:off x="0" y="0"/>
        <a:ext cx="1333366" cy="5453920"/>
      </dsp:txXfrm>
    </dsp:sp>
    <dsp:sp modelId="{A6EDCDD4-CA37-4DF4-9EB1-AFDAADDD4665}">
      <dsp:nvSpPr>
        <dsp:cNvPr id="0" name=""/>
        <dsp:cNvSpPr/>
      </dsp:nvSpPr>
      <dsp:spPr>
        <a:xfrm>
          <a:off x="1433369" y="126761"/>
          <a:ext cx="5233463" cy="2535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βp = 0,96</a:t>
          </a:r>
          <a:br>
            <a:rPr lang="en-US" sz="4600" kern="1200" dirty="0"/>
          </a:br>
          <a:r>
            <a:rPr lang="en-US" sz="4600" kern="1200" dirty="0"/>
            <a:t>Rm = 12%, </a:t>
          </a:r>
        </a:p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Rf = 5%</a:t>
          </a:r>
        </a:p>
      </dsp:txBody>
      <dsp:txXfrm>
        <a:off x="1433369" y="126761"/>
        <a:ext cx="5233463" cy="2535220"/>
      </dsp:txXfrm>
    </dsp:sp>
    <dsp:sp modelId="{76EA29B7-8826-4C86-9033-5E361F90FB0E}">
      <dsp:nvSpPr>
        <dsp:cNvPr id="0" name=""/>
        <dsp:cNvSpPr/>
      </dsp:nvSpPr>
      <dsp:spPr>
        <a:xfrm>
          <a:off x="1333366" y="2661981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5B22900-55F1-45DC-A4BC-B8020FDFBFB1}">
      <dsp:nvSpPr>
        <dsp:cNvPr id="0" name=""/>
        <dsp:cNvSpPr/>
      </dsp:nvSpPr>
      <dsp:spPr>
        <a:xfrm>
          <a:off x="1433369" y="2788742"/>
          <a:ext cx="5233463" cy="2535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Berapa Return portofolio?</a:t>
          </a:r>
        </a:p>
      </dsp:txBody>
      <dsp:txXfrm>
        <a:off x="1433369" y="2788742"/>
        <a:ext cx="5233463" cy="2535220"/>
      </dsp:txXfrm>
    </dsp:sp>
    <dsp:sp modelId="{2E79CD24-7700-4F1F-9893-768E2BB2EF55}">
      <dsp:nvSpPr>
        <dsp:cNvPr id="0" name=""/>
        <dsp:cNvSpPr/>
      </dsp:nvSpPr>
      <dsp:spPr>
        <a:xfrm>
          <a:off x="1333366" y="5323963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CA28-5F16-3A68-BB0E-0DDD7467E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F1B9B-3A6E-4F60-FF4E-81857220A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661F2-3028-0E41-8714-B8AD9C927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E7280-C75E-798C-66A6-5CCB0EC8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E63D0-B429-14DC-49C4-BEE8F16D9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9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D0E1B-25F2-D324-1351-66F854A64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0BEE7-B36A-5D93-C222-664F2B936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BF77E-5494-98B8-70E7-1F002453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0CA71-74A0-19A4-1816-3A1FAF20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33555-7101-19A5-AD58-2CD9C66E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4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DF2E-2694-D032-75A0-A4266DC5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32472-6633-A559-6F50-B186E5BAD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A4BC5-1C3C-F108-9F0D-AF80A7C0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F76BF-3A20-6A71-3458-7B320E60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105C7-6049-36BD-1197-33C68F95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1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E899-E615-8846-6104-395D8D86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5DA71-3038-B9B4-9445-3120CE647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4BAB9-8E4D-9143-1B12-3DCE490BE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E6ED2-080F-BC06-C7C1-071D3B97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EAAA0-4619-0BEA-CE5B-F6B04851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5B506-0728-9C67-0E13-5D539EDB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0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69F72-BD67-C47F-5D81-0D50E839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FFB8E-FFFD-D0DB-B8E3-BA40282BD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CDC6A-63A1-A7B0-15BF-1855C91B5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157DD-ECAE-2936-F2F4-0B10642B3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25040-309F-0393-A382-F63E604D3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11164-D525-F7BF-C9B2-31AF3877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DB8FE-262B-523B-3251-EDA23336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B2121A-DB86-BD97-96DC-B603F9E0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6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B933-C459-1DE2-06D9-3BB198AA9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F6564-EBDC-5117-10E9-F244173D4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9CE91-5991-34EB-F064-A00D1B05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ACE11-2F7A-A281-DB56-B94B44F3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3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7952D8-6048-EB47-E04D-C09B0EB0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832FC8-2F6C-03AF-5538-EE5E5C7D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2DA73-FA7D-214B-A302-C7EBCEAB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9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E514-FDF9-2582-E2D4-E882D55D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0D683-465A-74BD-DC63-CBBF07E01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EC6A3-5D85-5447-7AFA-8661BF607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5B2E8-2947-0DEB-28BA-80B59318E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35055-D77F-6CD4-DBDA-D0D34A97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5ED38-C9B8-A7FE-6795-5D2F3078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2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820D-7DE9-02E2-4F58-DDFA4246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C4F89E-2A48-7C4F-E54B-628E0F56B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32089-62B8-404D-5FFF-F7016A5A9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1A56E-D274-E46F-949C-BAE1B09A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FBBA4-D5E6-148E-CBD7-D8901C34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1C489-A777-E5BB-BE68-F0D9641E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0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DFBC-EA17-BC33-BE97-D7B9589B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18A44-0D79-0286-CFF8-BB98E8E3A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F61F6-09B1-6F16-F801-0951EEE1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1F710-945D-CDBD-15ED-6DDA9EB7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DB698-CC50-7C7E-CA73-0792890A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8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65C7F3-2E10-38EB-F868-6CE002B63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0EA92-22E9-7CD9-053A-244FCCED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29EA7-DEB7-BF1F-2ED2-93DF180F8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1551-2B08-6E87-0831-9D9425ABB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5DEE2-60E2-73A1-99C7-01C65DD4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6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0FCB-9CF0-AEA2-28A6-0FF9314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7ED92-CC1A-39DE-5B89-D8C57111B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65EA-BDD3-E884-AA44-DEE98CF6C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97365-36DA-47E6-B993-0E5020308313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C9ABA-3E70-203A-C107-1875A699D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2D874-D47C-8DBC-59AC-D5121C747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2B487-AAC3-4A14-9B59-D683F396F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1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DA9E3-A172-09DC-FBFB-808A340D8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1803" y="1201002"/>
            <a:ext cx="7208197" cy="2779619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Bab 19 Pasar Modal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012CB-D59F-DF5A-0A10-4040C0A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803" y="4940490"/>
            <a:ext cx="7208197" cy="1265112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Astiwi Indriani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90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5CAB0-4FDA-C427-0138-D97635FA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Pasar Modal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08405B95-0F0D-AA1B-DFDC-5B0ADACE3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328327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575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7269F-454F-5A1B-1A07-A34DF28FB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 b="1"/>
              <a:t>Fungsi Utama Pasar Modal </a:t>
            </a:r>
            <a:endParaRPr lang="en-US" sz="8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3C0B49-AFB5-F8F5-7F75-DED56CE88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923164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382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24B77-D46D-C2A6-0162-40EF7AFE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Money Market vs Capital Market 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2045F-BBF7-FCFA-441E-1E98FB381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Money Market</a:t>
            </a:r>
            <a:endParaRPr lang="en-US" sz="2000" dirty="0"/>
          </a:p>
          <a:p>
            <a:pPr lvl="0"/>
            <a:r>
              <a:rPr lang="en-US" sz="2000" dirty="0" err="1"/>
              <a:t>Instrumen</a:t>
            </a:r>
            <a:r>
              <a:rPr lang="en-US" sz="2000" dirty="0"/>
              <a:t>: Treasury Bills, Commercial Paper, </a:t>
            </a:r>
            <a:r>
              <a:rPr lang="en-US" sz="2000" dirty="0" err="1"/>
              <a:t>Sertifikat</a:t>
            </a:r>
            <a:r>
              <a:rPr lang="en-US" sz="2000" dirty="0"/>
              <a:t> Bank.</a:t>
            </a:r>
          </a:p>
          <a:p>
            <a:pPr lvl="0"/>
            <a:r>
              <a:rPr lang="en-US" sz="2000" dirty="0"/>
              <a:t>Tujuan: </a:t>
            </a:r>
            <a:r>
              <a:rPr lang="en-US" sz="2000" dirty="0" err="1"/>
              <a:t>memenuhi</a:t>
            </a:r>
            <a:r>
              <a:rPr lang="en-US" sz="2000" dirty="0"/>
              <a:t> </a:t>
            </a:r>
            <a:r>
              <a:rPr lang="en-US" sz="2000" dirty="0" err="1"/>
              <a:t>kebutuhan</a:t>
            </a:r>
            <a:r>
              <a:rPr lang="en-US" sz="2000" dirty="0"/>
              <a:t> </a:t>
            </a:r>
            <a:r>
              <a:rPr lang="en-US" sz="2000" dirty="0" err="1"/>
              <a:t>likuiditas</a:t>
            </a:r>
            <a:r>
              <a:rPr lang="en-US" sz="2000" dirty="0"/>
              <a:t> </a:t>
            </a:r>
            <a:r>
              <a:rPr lang="en-US" sz="2000" dirty="0" err="1"/>
              <a:t>jangka</a:t>
            </a:r>
            <a:r>
              <a:rPr lang="en-US" sz="2000" dirty="0"/>
              <a:t> </a:t>
            </a:r>
            <a:r>
              <a:rPr lang="en-US" sz="2000" dirty="0" err="1"/>
              <a:t>pendek</a:t>
            </a:r>
            <a:r>
              <a:rPr lang="en-US" sz="2000" dirty="0"/>
              <a:t>.</a:t>
            </a:r>
          </a:p>
          <a:p>
            <a:pPr lvl="0"/>
            <a:r>
              <a:rPr lang="en-US" sz="2000" dirty="0" err="1"/>
              <a:t>Karakteristik</a:t>
            </a:r>
            <a:r>
              <a:rPr lang="en-US" sz="2000" dirty="0"/>
              <a:t>: </a:t>
            </a:r>
            <a:r>
              <a:rPr lang="en-US" sz="2000" dirty="0" err="1"/>
              <a:t>risiko</a:t>
            </a:r>
            <a:r>
              <a:rPr lang="en-US" sz="2000" dirty="0"/>
              <a:t> </a:t>
            </a:r>
            <a:r>
              <a:rPr lang="en-US" sz="2000" dirty="0" err="1"/>
              <a:t>rendah</a:t>
            </a:r>
            <a:r>
              <a:rPr lang="en-US" sz="2000" dirty="0"/>
              <a:t>, </a:t>
            </a:r>
            <a:r>
              <a:rPr lang="en-US" sz="2000" dirty="0" err="1"/>
              <a:t>imbal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dirty="0" err="1"/>
              <a:t>rendah</a:t>
            </a:r>
            <a:r>
              <a:rPr lang="en-US" sz="2000" dirty="0"/>
              <a:t>, </a:t>
            </a:r>
            <a:r>
              <a:rPr lang="en-US" sz="2000" dirty="0" err="1"/>
              <a:t>likuid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Capital Market</a:t>
            </a:r>
            <a:endParaRPr lang="en-US" sz="2000" dirty="0"/>
          </a:p>
          <a:p>
            <a:pPr lvl="0"/>
            <a:r>
              <a:rPr lang="en-US" sz="2000" dirty="0" err="1"/>
              <a:t>Instrumen</a:t>
            </a:r>
            <a:r>
              <a:rPr lang="en-US" sz="2000" dirty="0"/>
              <a:t>: Saham, </a:t>
            </a:r>
            <a:r>
              <a:rPr lang="en-US" sz="2000" dirty="0" err="1"/>
              <a:t>Obligasi</a:t>
            </a:r>
            <a:r>
              <a:rPr lang="en-US" sz="2000" dirty="0"/>
              <a:t>, Sukuk, Warrant.</a:t>
            </a:r>
          </a:p>
          <a:p>
            <a:pPr lvl="0"/>
            <a:r>
              <a:rPr lang="en-US" sz="2000" dirty="0"/>
              <a:t>Tujuan: </a:t>
            </a:r>
            <a:r>
              <a:rPr lang="en-US" sz="2000" dirty="0" err="1"/>
              <a:t>investasi</a:t>
            </a:r>
            <a:r>
              <a:rPr lang="en-US" sz="2000" dirty="0"/>
              <a:t> </a:t>
            </a:r>
            <a:r>
              <a:rPr lang="en-US" sz="2000" dirty="0" err="1"/>
              <a:t>jangka</a:t>
            </a:r>
            <a:r>
              <a:rPr lang="en-US" sz="2000" dirty="0"/>
              <a:t> </a:t>
            </a:r>
            <a:r>
              <a:rPr lang="en-US" sz="2000" dirty="0" err="1"/>
              <a:t>panjang</a:t>
            </a:r>
            <a:r>
              <a:rPr lang="en-US" sz="2000" dirty="0"/>
              <a:t> dan </a:t>
            </a:r>
            <a:r>
              <a:rPr lang="en-US" sz="2000" dirty="0" err="1"/>
              <a:t>pendanaan</a:t>
            </a:r>
            <a:r>
              <a:rPr lang="en-US" sz="2000" dirty="0"/>
              <a:t> </a:t>
            </a:r>
            <a:r>
              <a:rPr lang="en-US" sz="2000" dirty="0" err="1"/>
              <a:t>perusahaan</a:t>
            </a:r>
            <a:r>
              <a:rPr lang="en-US" sz="2000" dirty="0"/>
              <a:t>.</a:t>
            </a:r>
          </a:p>
          <a:p>
            <a:pPr lvl="0"/>
            <a:r>
              <a:rPr lang="en-US" sz="2000" dirty="0" err="1"/>
              <a:t>Karakteristik</a:t>
            </a:r>
            <a:r>
              <a:rPr lang="en-US" sz="2000" dirty="0"/>
              <a:t>: </a:t>
            </a:r>
            <a:r>
              <a:rPr lang="en-US" sz="2000" dirty="0" err="1"/>
              <a:t>risiko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, return </a:t>
            </a:r>
            <a:r>
              <a:rPr lang="en-US" sz="2000" dirty="0" err="1"/>
              <a:t>berpotensi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903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B4BB4-60BB-40D3-28C7-ABB22A5D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Instrumen Pasar Modal 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3401E-7BF4-457B-D244-A55F0A1F5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/>
              <a:t>Saham Biasa</a:t>
            </a:r>
            <a:r>
              <a:rPr lang="en-US" sz="2000"/>
              <a:t>: bukti kepemilikan; pemegang berhak atas dividen &amp; suara.</a:t>
            </a:r>
          </a:p>
          <a:p>
            <a:pPr lvl="0"/>
            <a:r>
              <a:rPr lang="en-US" sz="2000" b="1"/>
              <a:t>Saham Preferen</a:t>
            </a:r>
            <a:r>
              <a:rPr lang="en-US" sz="2000"/>
              <a:t>: dividen tetap; prioritas atas saham biasa.</a:t>
            </a:r>
          </a:p>
          <a:p>
            <a:pPr lvl="0"/>
            <a:r>
              <a:rPr lang="en-US" sz="2000" b="1"/>
              <a:t>Obligasi</a:t>
            </a:r>
            <a:r>
              <a:rPr lang="en-US" sz="2000"/>
              <a:t>: surat utang jangka panjang dengan pembayaran kupon periodik.</a:t>
            </a:r>
          </a:p>
          <a:p>
            <a:pPr lvl="0"/>
            <a:r>
              <a:rPr lang="en-US" sz="2000" b="1"/>
              <a:t>Rights</a:t>
            </a:r>
            <a:r>
              <a:rPr lang="en-US" sz="2000"/>
              <a:t>: hak membeli saham baru dengan harga khusus.</a:t>
            </a:r>
          </a:p>
          <a:p>
            <a:pPr lvl="0"/>
            <a:r>
              <a:rPr lang="en-US" sz="2000" b="1"/>
              <a:t>Warrants</a:t>
            </a:r>
            <a:r>
              <a:rPr lang="en-US" sz="2000"/>
              <a:t>: hak membeli saham dalam jangka panjang.</a:t>
            </a:r>
          </a:p>
          <a:p>
            <a:r>
              <a:rPr lang="en-US" sz="2000" b="1"/>
              <a:t>Derivatif</a:t>
            </a:r>
            <a:r>
              <a:rPr lang="en-US" sz="2000"/>
              <a:t>: kontrak turunan seperti opsi dan futures untuk lindung nilai.</a:t>
            </a: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4195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8FADB-3307-17B5-DDF4-F09981459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Pasar Perdana (Primary Market)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AF1D1B-BD5A-1358-05DB-1A9543F1E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41719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964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95FEB-3B1C-92F4-9CEE-804E44FCE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Pasar Sekunder (Secondary Market)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493ACC1-BC95-FF88-2CEE-99C5D5CCC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1283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3404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342FD-8203-2A1C-AFFC-EBD47AE6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Mekanisme Price Discovery 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2D71B-62AD-C07A-0CF6-22BD59AF2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sz="2000"/>
              <a:t>Harga saham terbentuk dari interaksi </a:t>
            </a:r>
            <a:r>
              <a:rPr lang="en-US" sz="2000" b="1"/>
              <a:t>permintaan–penawaran</a:t>
            </a:r>
            <a:r>
              <a:rPr lang="en-US" sz="2000"/>
              <a:t>.</a:t>
            </a:r>
          </a:p>
          <a:p>
            <a:pPr lvl="0"/>
            <a:r>
              <a:rPr lang="en-US" sz="2000"/>
              <a:t>Dipengaruhi informasi publik, laba perusahaan, suku bunga, prospek industri.</a:t>
            </a:r>
          </a:p>
          <a:p>
            <a:pPr lvl="0"/>
            <a:r>
              <a:rPr lang="en-US" sz="2000"/>
              <a:t>Volume tinggi → price discovery lebih efisien.</a:t>
            </a:r>
          </a:p>
          <a:p>
            <a:r>
              <a:rPr lang="en-US" sz="2000"/>
              <a:t>Pasar modal modern menggunakan sistem elektronik cepat (auto-matching).</a:t>
            </a: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9902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A59F3-5041-A442-F352-5DC81E6F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Proses IPO 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71D13-2FA0-6B6E-E962-852517CC3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/>
              <a:t>Underwriter</a:t>
            </a:r>
            <a:r>
              <a:rPr lang="en-US" sz="2000"/>
              <a:t>: penjamin emisi efek yang menilai harga dan membantu penjualan.</a:t>
            </a:r>
          </a:p>
          <a:p>
            <a:pPr lvl="0"/>
            <a:r>
              <a:rPr lang="en-US" sz="2000" b="1"/>
              <a:t>Due Diligence</a:t>
            </a:r>
            <a:r>
              <a:rPr lang="en-US" sz="2000"/>
              <a:t>: pemeriksaan menyeluruh laporan keuangan &amp; legalitas.</a:t>
            </a:r>
          </a:p>
          <a:p>
            <a:pPr lvl="0"/>
            <a:r>
              <a:rPr lang="en-US" sz="2000" b="1"/>
              <a:t>Prospektus</a:t>
            </a:r>
            <a:r>
              <a:rPr lang="en-US" sz="2000"/>
              <a:t>: dokumen resmi untuk calon investor.</a:t>
            </a:r>
          </a:p>
          <a:p>
            <a:pPr lvl="0"/>
            <a:r>
              <a:rPr lang="en-US" sz="2000" b="1"/>
              <a:t>Book Building</a:t>
            </a:r>
            <a:r>
              <a:rPr lang="en-US" sz="2000"/>
              <a:t>: pengumpulan minat &amp; permintaan investor institusi.</a:t>
            </a:r>
          </a:p>
          <a:p>
            <a:pPr lvl="0"/>
            <a:r>
              <a:rPr lang="en-US" sz="2000" b="1"/>
              <a:t>Pricing</a:t>
            </a:r>
            <a:r>
              <a:rPr lang="en-US" sz="2000"/>
              <a:t>: menentukan harga penawaran awal.</a:t>
            </a:r>
          </a:p>
          <a:p>
            <a:r>
              <a:rPr lang="en-US" sz="2000" b="1"/>
              <a:t>Listing</a:t>
            </a:r>
            <a:r>
              <a:rPr lang="en-US" sz="2000"/>
              <a:t>: saham tercatat di bursa.</a:t>
            </a:r>
            <a:br>
              <a:rPr lang="en-US" sz="2000"/>
            </a:b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3938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BC38A-CFB5-8E6F-6859-880473F7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Underwriting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F2C48-61E8-0DFA-BD34-DADD623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/>
              <a:t>Firm Commitment</a:t>
            </a:r>
            <a:r>
              <a:rPr lang="en-US" sz="2000"/>
              <a:t>: underwriter membeli seluruh saham dari emiten → risiko ada pada underwriter.</a:t>
            </a:r>
          </a:p>
          <a:p>
            <a:pPr lvl="0"/>
            <a:r>
              <a:rPr lang="en-US" sz="2000" b="1"/>
              <a:t>Best Effort</a:t>
            </a:r>
            <a:r>
              <a:rPr lang="en-US" sz="2000"/>
              <a:t>: underwriter hanya berusaha menjual tanpa menjamin jumlah tertentu → risiko pada emiten.</a:t>
            </a:r>
          </a:p>
          <a:p>
            <a:r>
              <a:rPr lang="en-US" sz="2000"/>
              <a:t>Underwriting mengurangi risiko kegagalan penjualan saham.</a:t>
            </a: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5214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6BB7F7-E974-E6EC-7742-2B6F9818B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Efisiensi Pasar (EMH)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87A04-FD7B-BB81-FEB2-757F15B29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/>
              <a:t>Weak-form</a:t>
            </a:r>
            <a:r>
              <a:rPr lang="en-US" sz="2000"/>
              <a:t>: harga mencerminkan data historis → analisis teknikal tidak efektif.</a:t>
            </a:r>
          </a:p>
          <a:p>
            <a:pPr lvl="0"/>
            <a:r>
              <a:rPr lang="en-US" sz="2000" b="1"/>
              <a:t>Semi-strong</a:t>
            </a:r>
            <a:r>
              <a:rPr lang="en-US" sz="2000"/>
              <a:t>: harga mencerminkan seluruh informasi publik → analisis fundamental tidak memberikan kelebihan signifikan.</a:t>
            </a:r>
          </a:p>
          <a:p>
            <a:r>
              <a:rPr lang="en-US" sz="2000" b="1"/>
              <a:t>Strong-form</a:t>
            </a:r>
            <a:r>
              <a:rPr lang="en-US" sz="2000"/>
              <a:t>: harga mencerminkan semua informasi, termasuk yang privat</a:t>
            </a:r>
          </a:p>
        </p:txBody>
      </p:sp>
    </p:spTree>
    <p:extLst>
      <p:ext uri="{BB962C8B-B14F-4D97-AF65-F5344CB8AC3E}">
        <p14:creationId xmlns:p14="http://schemas.microsoft.com/office/powerpoint/2010/main" val="236235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41450-FC21-3247-7639-E98CAD78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Risiko Sistematis &amp; Tidak Sistematis 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53C5C-F930-3B2B-7190-E7BC62DA8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Risiko</a:t>
            </a:r>
            <a:r>
              <a:rPr lang="en-US" sz="2000" b="1" dirty="0"/>
              <a:t> </a:t>
            </a:r>
            <a:r>
              <a:rPr lang="en-US" sz="2000" b="1" dirty="0" err="1"/>
              <a:t>Sistematis</a:t>
            </a:r>
            <a:endParaRPr lang="en-US" sz="2000" dirty="0"/>
          </a:p>
          <a:p>
            <a:pPr lvl="0"/>
            <a:r>
              <a:rPr lang="en-US" sz="2000" dirty="0" err="1"/>
              <a:t>Disebabkan</a:t>
            </a:r>
            <a:r>
              <a:rPr lang="en-US" sz="2000" dirty="0"/>
              <a:t> </a:t>
            </a:r>
            <a:r>
              <a:rPr lang="en-US" sz="2000" dirty="0" err="1"/>
              <a:t>faktor</a:t>
            </a:r>
            <a:r>
              <a:rPr lang="en-US" sz="2000" dirty="0"/>
              <a:t> </a:t>
            </a:r>
            <a:r>
              <a:rPr lang="en-US" sz="2000" dirty="0" err="1"/>
              <a:t>makro</a:t>
            </a:r>
            <a:r>
              <a:rPr lang="en-US" sz="2000" dirty="0"/>
              <a:t>: </a:t>
            </a:r>
            <a:r>
              <a:rPr lang="en-US" sz="2000" dirty="0" err="1"/>
              <a:t>resesi</a:t>
            </a:r>
            <a:r>
              <a:rPr lang="en-US" sz="2000" dirty="0"/>
              <a:t>, </a:t>
            </a:r>
            <a:r>
              <a:rPr lang="en-US" sz="2000" dirty="0" err="1"/>
              <a:t>inflasi</a:t>
            </a:r>
            <a:r>
              <a:rPr lang="en-US" sz="2000" dirty="0"/>
              <a:t>, </a:t>
            </a:r>
            <a:r>
              <a:rPr lang="en-US" sz="2000" dirty="0" err="1"/>
              <a:t>geopolitik</a:t>
            </a:r>
            <a:r>
              <a:rPr lang="en-US" sz="2000" dirty="0"/>
              <a:t>.</a:t>
            </a:r>
          </a:p>
          <a:p>
            <a:pPr lvl="0"/>
            <a:r>
              <a:rPr lang="en-US" sz="2000" dirty="0"/>
              <a:t>Tidak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dihilangkan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diversifikasi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 err="1"/>
              <a:t>Risiko</a:t>
            </a:r>
            <a:r>
              <a:rPr lang="en-US" sz="2000" b="1" dirty="0"/>
              <a:t> Tidak </a:t>
            </a:r>
            <a:r>
              <a:rPr lang="en-US" sz="2000" b="1" dirty="0" err="1"/>
              <a:t>Sistematis</a:t>
            </a:r>
            <a:endParaRPr lang="en-US" sz="2000" dirty="0"/>
          </a:p>
          <a:p>
            <a:pPr lvl="0"/>
            <a:r>
              <a:rPr lang="en-US" sz="2000" dirty="0" err="1"/>
              <a:t>Disebabkan</a:t>
            </a:r>
            <a:r>
              <a:rPr lang="en-US" sz="2000" dirty="0"/>
              <a:t> </a:t>
            </a:r>
            <a:r>
              <a:rPr lang="en-US" sz="2000" dirty="0" err="1"/>
              <a:t>faktor</a:t>
            </a:r>
            <a:r>
              <a:rPr lang="en-US" sz="2000" dirty="0"/>
              <a:t> internal </a:t>
            </a:r>
            <a:r>
              <a:rPr lang="en-US" sz="2000" dirty="0" err="1"/>
              <a:t>perusahaan</a:t>
            </a:r>
            <a:r>
              <a:rPr lang="en-US" sz="2000" dirty="0"/>
              <a:t>: </a:t>
            </a:r>
            <a:r>
              <a:rPr lang="en-US" sz="2000" dirty="0" err="1"/>
              <a:t>manajemen</a:t>
            </a:r>
            <a:r>
              <a:rPr lang="en-US" sz="2000" dirty="0"/>
              <a:t>, </a:t>
            </a:r>
            <a:r>
              <a:rPr lang="en-US" sz="2000" dirty="0" err="1"/>
              <a:t>gagal</a:t>
            </a:r>
            <a:r>
              <a:rPr lang="en-US" sz="2000" dirty="0"/>
              <a:t> </a:t>
            </a:r>
            <a:r>
              <a:rPr lang="en-US" sz="2000" dirty="0" err="1"/>
              <a:t>bayar</a:t>
            </a:r>
            <a:r>
              <a:rPr lang="en-US" sz="2000" dirty="0"/>
              <a:t>, </a:t>
            </a:r>
            <a:r>
              <a:rPr lang="en-US" sz="2000" dirty="0" err="1"/>
              <a:t>penjualan</a:t>
            </a:r>
            <a:r>
              <a:rPr lang="en-US" sz="2000" dirty="0"/>
              <a:t> </a:t>
            </a:r>
            <a:r>
              <a:rPr lang="en-US" sz="2000" dirty="0" err="1"/>
              <a:t>menurun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dikurangi</a:t>
            </a:r>
            <a:r>
              <a:rPr lang="en-US" sz="2000" dirty="0"/>
              <a:t> </a:t>
            </a:r>
            <a:r>
              <a:rPr lang="en-US" sz="2000" dirty="0" err="1"/>
              <a:t>lewat</a:t>
            </a:r>
            <a:r>
              <a:rPr lang="en-US" sz="2000" dirty="0"/>
              <a:t> </a:t>
            </a:r>
            <a:r>
              <a:rPr lang="en-US" sz="2000" dirty="0" err="1"/>
              <a:t>diversifikasi</a:t>
            </a:r>
            <a:r>
              <a:rPr lang="en-US" sz="2000" dirty="0"/>
              <a:t> </a:t>
            </a:r>
            <a:r>
              <a:rPr lang="en-US" sz="2000" dirty="0" err="1"/>
              <a:t>portofolio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13579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D3AE4-0324-7CF4-2EE3-50204A16B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/>
              <a:t>Return Saham </a:t>
            </a:r>
            <a:br>
              <a:rPr lang="en-US" dirty="0"/>
            </a:br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1C95E-D698-9247-5275-659843056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17" y="4119377"/>
            <a:ext cx="3836894" cy="1323066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C0BDE-5110-0CE4-2AC0-022E80451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pPr lvl="0"/>
            <a:r>
              <a:rPr lang="en-US" sz="1400"/>
              <a:t>Return saham terdiri dari:</a:t>
            </a:r>
          </a:p>
          <a:p>
            <a:pPr lvl="1"/>
            <a:r>
              <a:rPr lang="en-US" sz="1400" b="1"/>
              <a:t>Dividend Yield</a:t>
            </a:r>
            <a:r>
              <a:rPr lang="en-US" sz="1400"/>
              <a:t> = D/P0</a:t>
            </a:r>
          </a:p>
          <a:p>
            <a:pPr lvl="1"/>
            <a:r>
              <a:rPr lang="en-US" sz="1400" b="1"/>
              <a:t>Capital Gain</a:t>
            </a:r>
            <a:r>
              <a:rPr lang="en-US" sz="1400"/>
              <a:t> = (P1 − P0)/P0</a:t>
            </a:r>
          </a:p>
          <a:p>
            <a:r>
              <a:rPr lang="en-US" sz="1400" b="1"/>
              <a:t>P₀ (Price at time 0) </a:t>
            </a:r>
            <a:r>
              <a:rPr lang="en-US" sz="1400"/>
              <a:t>= </a:t>
            </a:r>
            <a:r>
              <a:rPr lang="en-US" sz="1400" b="1"/>
              <a:t>Harga saham pada awal periode investasi.</a:t>
            </a:r>
            <a:endParaRPr lang="en-US" sz="1400"/>
          </a:p>
          <a:p>
            <a:pPr lvl="1"/>
            <a:r>
              <a:rPr lang="en-US" sz="1400"/>
              <a:t>Biasanya:</a:t>
            </a:r>
          </a:p>
          <a:p>
            <a:pPr lvl="2"/>
            <a:r>
              <a:rPr lang="en-US" sz="1400"/>
              <a:t>harga pada saat </a:t>
            </a:r>
            <a:r>
              <a:rPr lang="en-US" sz="1400" b="1"/>
              <a:t>membeli</a:t>
            </a:r>
            <a:r>
              <a:rPr lang="en-US" sz="1400"/>
              <a:t> saham, atau</a:t>
            </a:r>
          </a:p>
          <a:p>
            <a:pPr lvl="2"/>
            <a:r>
              <a:rPr lang="en-US" sz="1400"/>
              <a:t>harga pada </a:t>
            </a:r>
            <a:r>
              <a:rPr lang="en-US" sz="1400" b="1"/>
              <a:t>awal tahun/periode</a:t>
            </a:r>
            <a:r>
              <a:rPr lang="en-US" sz="1400"/>
              <a:t> yang sedang dianalisis.</a:t>
            </a:r>
          </a:p>
          <a:p>
            <a:pPr lvl="1"/>
            <a:r>
              <a:rPr lang="en-US" sz="1400"/>
              <a:t>Contoh: Jika Anda membeli saham seharga Rp 10.000, maka </a:t>
            </a:r>
            <a:r>
              <a:rPr lang="en-US" sz="1400" b="1"/>
              <a:t>P₀ = 10.000</a:t>
            </a:r>
            <a:r>
              <a:rPr lang="en-US" sz="1400"/>
              <a:t>.</a:t>
            </a:r>
          </a:p>
          <a:p>
            <a:r>
              <a:rPr lang="en-US" sz="1400" b="1"/>
              <a:t>P₁ (Price at time 1) </a:t>
            </a:r>
            <a:r>
              <a:rPr lang="en-US" sz="1400"/>
              <a:t>= </a:t>
            </a:r>
            <a:r>
              <a:rPr lang="en-US" sz="1400" b="1"/>
              <a:t>Harga saham pada akhir periode investasi</a:t>
            </a:r>
            <a:r>
              <a:rPr lang="en-US" sz="1400"/>
              <a:t>.</a:t>
            </a:r>
          </a:p>
          <a:p>
            <a:pPr lvl="1"/>
            <a:r>
              <a:rPr lang="en-US" sz="1400"/>
              <a:t>Biasanya:</a:t>
            </a:r>
          </a:p>
          <a:p>
            <a:pPr lvl="2"/>
            <a:r>
              <a:rPr lang="en-US" sz="1400"/>
              <a:t>harga pada saat </a:t>
            </a:r>
            <a:r>
              <a:rPr lang="en-US" sz="1400" b="1"/>
              <a:t>menjual</a:t>
            </a:r>
            <a:r>
              <a:rPr lang="en-US" sz="1400"/>
              <a:t> saham, atau</a:t>
            </a:r>
          </a:p>
          <a:p>
            <a:pPr lvl="2"/>
            <a:r>
              <a:rPr lang="en-US" sz="1400"/>
              <a:t>harga pada </a:t>
            </a:r>
            <a:r>
              <a:rPr lang="en-US" sz="1400" b="1"/>
              <a:t>akhir tahun/periode</a:t>
            </a:r>
            <a:r>
              <a:rPr lang="en-US" sz="1400"/>
              <a:t> yang sedang dianalisis.</a:t>
            </a:r>
          </a:p>
          <a:p>
            <a:pPr lvl="1"/>
            <a:r>
              <a:rPr lang="en-US" sz="1400"/>
              <a:t>Contoh: Jika setahun kemudian harga saham naik menjadi Rp 12.000, maka </a:t>
            </a:r>
            <a:r>
              <a:rPr lang="en-US" sz="1400" b="1"/>
              <a:t>P₁ = 12.000</a:t>
            </a:r>
            <a:r>
              <a:rPr lang="en-US" sz="1400"/>
              <a:t>.</a:t>
            </a:r>
          </a:p>
          <a:p>
            <a:pPr marL="457200" lvl="1" indent="0">
              <a:buNone/>
            </a:pPr>
            <a:endParaRPr lang="en-US" sz="1400" b="1"/>
          </a:p>
          <a:p>
            <a:pPr marL="457200" lvl="1" indent="0">
              <a:buNone/>
            </a:pPr>
            <a:r>
              <a:rPr lang="en-US" sz="1400" b="1"/>
              <a:t>Rumus Return Saham:</a:t>
            </a:r>
            <a:br>
              <a:rPr lang="en-US" sz="1400"/>
            </a:b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40464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6DA16-A50C-C5A3-7483-6DDA4342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b="1" dirty="0" err="1"/>
              <a:t>Contoh</a:t>
            </a:r>
            <a:r>
              <a:rPr lang="en-US" b="1" dirty="0"/>
              <a:t> Return Saham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9E1D0-36F0-907A-6D5A-9BA3E13A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1294331"/>
            <a:ext cx="9875259" cy="9875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5797-EB60-2F5B-2431-741ADD920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/>
          </a:bodyPr>
          <a:lstStyle/>
          <a:p>
            <a:r>
              <a:rPr lang="en-US" sz="2000" b="1"/>
              <a:t>Diketahui:</a:t>
            </a:r>
            <a:endParaRPr lang="en-US" sz="2000"/>
          </a:p>
          <a:p>
            <a:r>
              <a:rPr lang="en-US" sz="2000"/>
              <a:t>P0 = 10.000</a:t>
            </a:r>
            <a:br>
              <a:rPr lang="en-US" sz="2000"/>
            </a:br>
            <a:r>
              <a:rPr lang="en-US" sz="2000"/>
              <a:t>P1 = 12.000</a:t>
            </a:r>
            <a:br>
              <a:rPr lang="en-US" sz="2000"/>
            </a:br>
            <a:r>
              <a:rPr lang="en-US" sz="2000"/>
              <a:t>D = 500</a:t>
            </a:r>
          </a:p>
          <a:p>
            <a:r>
              <a:rPr lang="en-US" sz="2000" b="1"/>
              <a:t>Hitung return saham?</a:t>
            </a:r>
          </a:p>
          <a:p>
            <a:r>
              <a:rPr lang="en-US" sz="2000" b="1"/>
              <a:t>Jawaban: 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87413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4094D-72CA-FF10-5891-5A1B77AC8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Expected Return Portofolio (E(Rₚ))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EC891-7835-349C-4315-4F28F5135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Expected Return Portofolio (E(Rₚ))</a:t>
            </a:r>
            <a:r>
              <a:rPr lang="en-US" sz="2000"/>
              <a:t> adalah tingkat pengembalian yang </a:t>
            </a:r>
            <a:r>
              <a:rPr lang="en-US" sz="2000" i="1"/>
              <a:t>diharapkan</a:t>
            </a:r>
            <a:r>
              <a:rPr lang="en-US" sz="2000"/>
              <a:t> (expected) dari suatu portofolio yang terdiri dari beberapa aset/saham.</a:t>
            </a:r>
          </a:p>
          <a:p>
            <a:r>
              <a:rPr lang="en-US" sz="2000"/>
              <a:t>Return portofolio merupakan </a:t>
            </a:r>
            <a:r>
              <a:rPr lang="en-US" sz="2000" b="1"/>
              <a:t>rata-rata tertimbang (weighted average)</a:t>
            </a:r>
            <a:r>
              <a:rPr lang="en-US" sz="2000"/>
              <a:t> dari return masing-masing aset dalam portofolio.</a:t>
            </a:r>
          </a:p>
          <a:p>
            <a:r>
              <a:rPr lang="en-US" sz="2000"/>
              <a:t>Artinya: Return portofolio ditentukan oleh besarnya porsi (bobot) setiap saham dan return saham tersebut.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64676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ABF7E1-A05D-7307-ACD9-BBDD8F440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3353906"/>
              </p:ext>
            </p:extLst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507649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61563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Simbol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Arti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795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E(Rₚ)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Expected return </a:t>
                      </a:r>
                      <a:r>
                        <a:rPr lang="en-US" dirty="0" err="1"/>
                        <a:t>portofolio</a:t>
                      </a:r>
                      <a:r>
                        <a:rPr lang="en-US" dirty="0"/>
                        <a:t> (return yang </a:t>
                      </a:r>
                      <a:r>
                        <a:rPr lang="en-US" dirty="0" err="1"/>
                        <a:t>diharapkan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861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Wᵢ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Bobot investasi pada aset i (persentase dana ditempatkan pada saham 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87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Rᵢ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Expected return </a:t>
                      </a:r>
                      <a:r>
                        <a:rPr lang="en-US" dirty="0" err="1"/>
                        <a:t>aset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94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aset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portofolio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1146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/>
                        <a:t>Σ (</a:t>
                      </a:r>
                      <a:r>
                        <a:rPr lang="en-US" b="1"/>
                        <a:t>Wᵢ Rᵢ)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Penjumlahan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semua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bobot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dikali</a:t>
                      </a:r>
                      <a:r>
                        <a:rPr lang="en-US" dirty="0"/>
                        <a:t> return masing-masing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11469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BFCAF4B-C829-1A02-A484-0122D66A0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735" y="634657"/>
            <a:ext cx="5942261" cy="147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25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E00B-DE86-C9F6-4BDF-DFDCF7AA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 </a:t>
            </a:r>
            <a:r>
              <a:rPr lang="en-US" dirty="0" err="1"/>
              <a:t>soal</a:t>
            </a:r>
            <a:r>
              <a:rPr lang="en-US" dirty="0"/>
              <a:t>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CDD153-76E4-5C73-F724-854A13990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0105959"/>
              </p:ext>
            </p:extLst>
          </p:nvPr>
        </p:nvGraphicFramePr>
        <p:xfrm>
          <a:off x="838200" y="1690688"/>
          <a:ext cx="10515600" cy="14630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045637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438530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460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Bobot</a:t>
                      </a:r>
                      <a:r>
                        <a:rPr lang="en-US" dirty="0"/>
                        <a:t> (Wᵢ)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Expected Return (Rᵢ)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023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9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32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65094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AB57048-A97F-33AA-DEA1-68BCAE77F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679" y="3704273"/>
            <a:ext cx="8078327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14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66493-9F75-22CF-C122-AE98F879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b="1" dirty="0"/>
              <a:t>Beta (β) 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24CF5-1A30-8C79-6A55-0C8ED2BC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800568"/>
            <a:ext cx="9875259" cy="19750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5F7B6-792F-AFBD-2070-3BEF448FE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/>
              <a:t>Beta</a:t>
            </a:r>
            <a:r>
              <a:rPr lang="en-US" sz="2000"/>
              <a:t>: ukuran sensitivitas return saham terhadap pergerakan pasar.</a:t>
            </a:r>
          </a:p>
          <a:p>
            <a:pPr lvl="0"/>
            <a:r>
              <a:rPr lang="en-US" sz="2000"/>
              <a:t>β = 1 → mengikuti pasar</a:t>
            </a:r>
          </a:p>
          <a:p>
            <a:pPr lvl="0"/>
            <a:r>
              <a:rPr lang="en-US" sz="2000"/>
              <a:t>β &gt; 1 → lebih volatil dari pasar</a:t>
            </a:r>
          </a:p>
          <a:p>
            <a:r>
              <a:rPr lang="en-US" sz="2000"/>
              <a:t>β &lt; 1 → lebih defensif</a:t>
            </a:r>
            <a:br>
              <a:rPr lang="en-US" sz="2000"/>
            </a:br>
            <a:r>
              <a:rPr lang="en-US" sz="2000" b="1"/>
              <a:t>Rumus:</a:t>
            </a: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16680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0C507-6A03-474C-B7BA-19F41C6CA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b="1" dirty="0"/>
              <a:t>CAPM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6ABFD-2A48-ADCE-5402-6413AE049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158" y="553454"/>
            <a:ext cx="8818853" cy="2469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B9BD1-B87D-B02A-B931-9FA0D6C6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/>
          </a:bodyPr>
          <a:lstStyle/>
          <a:p>
            <a:pPr lvl="0"/>
            <a:r>
              <a:rPr lang="en-US" sz="2000"/>
              <a:t>CAPM memperkirakan </a:t>
            </a:r>
            <a:r>
              <a:rPr lang="en-US" sz="2000" b="1"/>
              <a:t>expected return</a:t>
            </a:r>
            <a:r>
              <a:rPr lang="en-US" sz="2000"/>
              <a:t> berdasarkan risiko sistematis (β).</a:t>
            </a:r>
          </a:p>
          <a:p>
            <a:r>
              <a:rPr lang="en-US" sz="2000"/>
              <a:t>Makin tinggi risiko pasar → makin tinggi return yang diminta investor.</a:t>
            </a:r>
            <a:br>
              <a:rPr lang="en-US" sz="2000"/>
            </a:br>
            <a:r>
              <a:rPr lang="en-US" sz="2000" b="1"/>
              <a:t>Rumus Expected return menggunakan CAPM:</a:t>
            </a: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04270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6900-5290-1228-7C1D-DFD44A4A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Soal CAPM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5D766-007E-CA01-59EC-F43B8E184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Diketahui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Rf = 5%</a:t>
            </a:r>
            <a:br>
              <a:rPr lang="en-US" dirty="0"/>
            </a:br>
            <a:r>
              <a:rPr lang="en-US" dirty="0"/>
              <a:t>Rm = 12%</a:t>
            </a:r>
            <a:br>
              <a:rPr lang="en-US" dirty="0"/>
            </a:br>
            <a:r>
              <a:rPr lang="en-US" dirty="0"/>
              <a:t>β = 1,3</a:t>
            </a:r>
          </a:p>
          <a:p>
            <a:r>
              <a:rPr lang="en-US" b="1" dirty="0" err="1"/>
              <a:t>Hitung</a:t>
            </a:r>
            <a:r>
              <a:rPr lang="en-US" b="1" dirty="0"/>
              <a:t> Return Aset </a:t>
            </a:r>
            <a:r>
              <a:rPr lang="en-US" b="1" dirty="0" err="1"/>
              <a:t>i</a:t>
            </a:r>
            <a:r>
              <a:rPr lang="en-US" b="1" dirty="0"/>
              <a:t>?</a:t>
            </a:r>
            <a:endParaRPr lang="en-US" dirty="0"/>
          </a:p>
          <a:p>
            <a:r>
              <a:rPr lang="en-US" b="1" dirty="0" err="1"/>
              <a:t>Jawaban</a:t>
            </a:r>
            <a:r>
              <a:rPr lang="en-US" b="1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64AEE-3642-9867-55CC-D60ED6059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03" y="5072262"/>
            <a:ext cx="962159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60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90B65C-52EE-08CC-9987-4CF2D62E9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CAPM Portofolio dan Beta Portofolio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EF8D90-C369-1EB3-564C-4A068598D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19" y="2801669"/>
            <a:ext cx="6316770" cy="232141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D8298-3A12-CEE7-9573-D6BE458E1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45165" y="2801669"/>
            <a:ext cx="5895101" cy="250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90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A1836-A441-EB56-E848-0F6964D4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Soal CAPM </a:t>
            </a:r>
            <a:r>
              <a:rPr lang="en-US" dirty="0" err="1"/>
              <a:t>Portofolio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FD236-5E3F-CC7D-2B44-006E9C9F7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1400"/>
              <a:t>Data portfolio:</a:t>
            </a:r>
          </a:p>
          <a:p>
            <a:r>
              <a:rPr lang="it-IT" sz="1400"/>
              <a:t>Sebuah portofolio terdiri dari tiga saham:</a:t>
            </a:r>
          </a:p>
          <a:p>
            <a:endParaRPr lang="it-IT" sz="1400"/>
          </a:p>
          <a:p>
            <a:endParaRPr lang="it-IT" sz="1400"/>
          </a:p>
          <a:p>
            <a:endParaRPr lang="it-IT" sz="1400"/>
          </a:p>
          <a:p>
            <a:endParaRPr lang="it-IT" sz="1400"/>
          </a:p>
          <a:p>
            <a:endParaRPr lang="it-IT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Diketahui juga:</a:t>
            </a:r>
          </a:p>
          <a:p>
            <a:r>
              <a:rPr lang="en-US" sz="1400" b="1"/>
              <a:t>Risk-Free Rate (Rf)</a:t>
            </a:r>
            <a:r>
              <a:rPr lang="en-US" sz="1400"/>
              <a:t> = 6%</a:t>
            </a:r>
          </a:p>
          <a:p>
            <a:r>
              <a:rPr lang="en-US" sz="1400" b="1"/>
              <a:t>Market Return (Rm)</a:t>
            </a:r>
            <a:r>
              <a:rPr lang="en-US" sz="1400"/>
              <a:t> = 14%</a:t>
            </a:r>
          </a:p>
          <a:p>
            <a:r>
              <a:rPr lang="en-US" sz="1400"/>
              <a:t>Hitung Expected Return Portofolio?</a:t>
            </a:r>
          </a:p>
          <a:p>
            <a:endParaRPr lang="en-US" sz="14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64A61D-5834-3629-779D-53281CA3D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25861"/>
              </p:ext>
            </p:extLst>
          </p:nvPr>
        </p:nvGraphicFramePr>
        <p:xfrm>
          <a:off x="6719367" y="2988986"/>
          <a:ext cx="4788506" cy="21477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86425">
                  <a:extLst>
                    <a:ext uri="{9D8B030D-6E8A-4147-A177-3AD203B41FA5}">
                      <a16:colId xmlns:a16="http://schemas.microsoft.com/office/drawing/2014/main" val="995095316"/>
                    </a:ext>
                  </a:extLst>
                </a:gridCol>
                <a:gridCol w="1841929">
                  <a:extLst>
                    <a:ext uri="{9D8B030D-6E8A-4147-A177-3AD203B41FA5}">
                      <a16:colId xmlns:a16="http://schemas.microsoft.com/office/drawing/2014/main" val="2843922802"/>
                    </a:ext>
                  </a:extLst>
                </a:gridCol>
                <a:gridCol w="1560152">
                  <a:extLst>
                    <a:ext uri="{9D8B030D-6E8A-4147-A177-3AD203B41FA5}">
                      <a16:colId xmlns:a16="http://schemas.microsoft.com/office/drawing/2014/main" val="4262587017"/>
                    </a:ext>
                  </a:extLst>
                </a:gridCol>
              </a:tblGrid>
              <a:tr h="536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Saham</a:t>
                      </a:r>
                    </a:p>
                  </a:txBody>
                  <a:tcPr marL="122032" marR="122032" marT="61016" marB="61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Bobot (Wᵢ)</a:t>
                      </a:r>
                    </a:p>
                  </a:txBody>
                  <a:tcPr marL="122032" marR="122032" marT="61016" marB="61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Beta (</a:t>
                      </a:r>
                      <a:r>
                        <a:rPr lang="el-GR" sz="2400"/>
                        <a:t>β</a:t>
                      </a:r>
                      <a:r>
                        <a:rPr lang="en-US" sz="2400"/>
                        <a:t>ᵢ)</a:t>
                      </a:r>
                    </a:p>
                  </a:txBody>
                  <a:tcPr marL="122032" marR="122032" marT="61016" marB="61016" anchor="ctr"/>
                </a:tc>
                <a:extLst>
                  <a:ext uri="{0D108BD9-81ED-4DB2-BD59-A6C34878D82A}">
                    <a16:rowId xmlns:a16="http://schemas.microsoft.com/office/drawing/2014/main" val="1205745733"/>
                  </a:ext>
                </a:extLst>
              </a:tr>
              <a:tr h="536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</a:t>
                      </a:r>
                    </a:p>
                  </a:txBody>
                  <a:tcPr marL="122032" marR="122032" marT="61016" marB="61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40%</a:t>
                      </a:r>
                    </a:p>
                  </a:txBody>
                  <a:tcPr marL="122032" marR="122032" marT="61016" marB="61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1,20</a:t>
                      </a:r>
                    </a:p>
                  </a:txBody>
                  <a:tcPr marL="122032" marR="122032" marT="61016" marB="61016" anchor="ctr"/>
                </a:tc>
                <a:extLst>
                  <a:ext uri="{0D108BD9-81ED-4DB2-BD59-A6C34878D82A}">
                    <a16:rowId xmlns:a16="http://schemas.microsoft.com/office/drawing/2014/main" val="1815873475"/>
                  </a:ext>
                </a:extLst>
              </a:tr>
              <a:tr h="536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</a:t>
                      </a:r>
                    </a:p>
                  </a:txBody>
                  <a:tcPr marL="122032" marR="122032" marT="61016" marB="61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35%</a:t>
                      </a:r>
                    </a:p>
                  </a:txBody>
                  <a:tcPr marL="122032" marR="122032" marT="61016" marB="61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0,80</a:t>
                      </a:r>
                    </a:p>
                  </a:txBody>
                  <a:tcPr marL="122032" marR="122032" marT="61016" marB="61016" anchor="ctr"/>
                </a:tc>
                <a:extLst>
                  <a:ext uri="{0D108BD9-81ED-4DB2-BD59-A6C34878D82A}">
                    <a16:rowId xmlns:a16="http://schemas.microsoft.com/office/drawing/2014/main" val="1692396142"/>
                  </a:ext>
                </a:extLst>
              </a:tr>
              <a:tr h="536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</a:t>
                      </a:r>
                    </a:p>
                  </a:txBody>
                  <a:tcPr marL="122032" marR="122032" marT="61016" marB="61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25%</a:t>
                      </a:r>
                    </a:p>
                  </a:txBody>
                  <a:tcPr marL="122032" marR="122032" marT="61016" marB="610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1,00</a:t>
                      </a:r>
                    </a:p>
                  </a:txBody>
                  <a:tcPr marL="122032" marR="122032" marT="61016" marB="61016" anchor="ctr"/>
                </a:tc>
                <a:extLst>
                  <a:ext uri="{0D108BD9-81ED-4DB2-BD59-A6C34878D82A}">
                    <a16:rowId xmlns:a16="http://schemas.microsoft.com/office/drawing/2014/main" val="782227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871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5A46A-3D4A-BF59-4DEA-7275F8CA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Jawaban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632EE-4BD2-EA9B-F98F-A0C5FF249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900" b="1"/>
                  <a:t>Hitung Beta Portofolio (</a:t>
                </a:r>
                <a:r>
                  <a:rPr lang="el-GR" sz="1900" b="1"/>
                  <a:t>β</a:t>
                </a:r>
                <a:r>
                  <a:rPr lang="en-US" sz="1900" b="1"/>
                  <a:t>p)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ar-AE" sz="19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80</m:t>
                        </m:r>
                      </m:e>
                    </m:d>
                    <m:r>
                      <a:rPr lang="ar-AE" sz="19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endParaRPr lang="ar-AE" sz="19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48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28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25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sz="1900"/>
              </a:p>
              <a:p>
                <a:pPr marL="0" indent="0">
                  <a:buNone/>
                </a:pPr>
                <a:r>
                  <a:rPr lang="en-US" sz="1900" b="1"/>
                  <a:t>Hitung Expected Return Portofolio (Rp) menggunakan CAPM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sz="19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ar-AE" sz="19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sz="19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ar-AE" sz="19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%+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01</m:t>
                    </m:r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%−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</m:oMath>
                </a14:m>
                <a:endParaRPr lang="ar-AE" sz="19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%+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01</m:t>
                    </m:r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AE" sz="190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</m:oMath>
                </a14:m>
                <a:endParaRPr lang="ar-AE" sz="19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19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%+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08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%=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14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08</m:t>
                    </m:r>
                    <m:r>
                      <a:rPr lang="ar-AE" sz="190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ar-AE" sz="1900"/>
              </a:p>
              <a:p>
                <a:pPr marL="0" indent="0">
                  <a:buNone/>
                </a:pPr>
                <a:r>
                  <a:rPr lang="en-US" sz="1900"/>
                  <a:t>Maka beta portfolio 1,01 dan expected return portfolio 14,08%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C632EE-4BD2-EA9B-F98F-A0C5FF249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  <a:blipFill>
                <a:blip r:embed="rId2"/>
                <a:stretch>
                  <a:fillRect l="-564" t="-331" b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33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7ACF4-9764-AD29-E316-3B15A792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 dirty="0" err="1"/>
              <a:t>Risiko</a:t>
            </a:r>
            <a:r>
              <a:rPr lang="en-US" b="1" dirty="0"/>
              <a:t>: </a:t>
            </a:r>
            <a:r>
              <a:rPr lang="en-US" b="1" dirty="0" err="1"/>
              <a:t>Varians</a:t>
            </a:r>
            <a:r>
              <a:rPr lang="en-US" b="1" dirty="0"/>
              <a:t> &amp; SD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F5CC2-A629-DCCE-75C7-8AD44846D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b="1"/>
              <a:t>Varians: mengukur penyimpangan return dari rata-rata.</a:t>
            </a:r>
            <a:endParaRPr lang="en-US" sz="2000"/>
          </a:p>
          <a:p>
            <a:r>
              <a:rPr lang="en-US" sz="2000" b="1"/>
              <a:t>Standar Deviasi: akar varians → semakin besar, semakin volatil.</a:t>
            </a:r>
            <a:endParaRPr lang="en-US" sz="2000"/>
          </a:p>
          <a:p>
            <a:r>
              <a:rPr lang="en-US" sz="2000" b="1"/>
              <a:t>Rumus:</a:t>
            </a:r>
          </a:p>
          <a:p>
            <a:endParaRPr lang="en-US" sz="2000" b="1"/>
          </a:p>
          <a:p>
            <a:endParaRPr lang="en-US" sz="2000" b="1"/>
          </a:p>
          <a:p>
            <a:endParaRPr lang="en-US" sz="2000" b="1"/>
          </a:p>
          <a:p>
            <a:pPr marL="0" indent="0">
              <a:buNone/>
            </a:pPr>
            <a:r>
              <a:rPr lang="en-US" sz="2000" b="1"/>
              <a:t>Makna:</a:t>
            </a:r>
            <a:r>
              <a:rPr lang="en-US" sz="2000"/>
              <a:t> investor menggunakan </a:t>
            </a:r>
            <a:r>
              <a:rPr lang="el-GR" sz="2000"/>
              <a:t>σ </a:t>
            </a:r>
            <a:r>
              <a:rPr lang="en-US" sz="2000"/>
              <a:t>sebagai indikator risiko portofolio.</a:t>
            </a:r>
            <a:br>
              <a:rPr lang="en-US" sz="2000"/>
            </a:b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CE556-3CA9-F3CC-DB8E-83740F6E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314668"/>
            <a:ext cx="4788505" cy="1496407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58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32298-4C9A-16CA-564E-1A2BDF89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en-US" sz="3700" b="1"/>
              <a:t>Contoh Perhitungan Risiko </a:t>
            </a:r>
            <a:br>
              <a:rPr lang="en-US" sz="3700"/>
            </a:b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1F226-CE4B-4937-40B4-08F579B53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en-US" sz="2000" b="1"/>
              <a:t>Diketahui return saham:</a:t>
            </a:r>
            <a:endParaRPr lang="en-US" sz="2000"/>
          </a:p>
          <a:p>
            <a:pPr lvl="0"/>
            <a:r>
              <a:rPr lang="en-US" sz="2000"/>
              <a:t>10% (probabilitas 0,3)</a:t>
            </a:r>
          </a:p>
          <a:p>
            <a:pPr lvl="0"/>
            <a:r>
              <a:rPr lang="en-US" sz="2000"/>
              <a:t>15% (probabilitas 0,5)</a:t>
            </a:r>
          </a:p>
          <a:p>
            <a:pPr lvl="0"/>
            <a:r>
              <a:rPr lang="en-US" sz="2000"/>
              <a:t>20% (probabilitas 0,2)</a:t>
            </a:r>
          </a:p>
          <a:p>
            <a:r>
              <a:rPr lang="en-US" sz="2000"/>
              <a:t>Hitung standar deviasinya?</a:t>
            </a:r>
          </a:p>
          <a:p>
            <a:r>
              <a:rPr lang="en-US" sz="2000"/>
              <a:t>Jawaban: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2E392-44DC-F6DD-34A8-677AECEAC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298" y="4716051"/>
            <a:ext cx="6716665" cy="1208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55038C-8C30-E8A2-22BB-EDAE83A7D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854" y="1870011"/>
            <a:ext cx="5962159" cy="250410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49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84270-0D7C-2D3A-7F5F-7F53E2E2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/>
              <a:t>Obligasi &amp; Harga Dasar </a:t>
            </a:r>
            <a:br>
              <a:rPr lang="en-US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60E11-7E93-9E1C-3190-5AA2B1CBE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lvl="0"/>
            <a:r>
              <a:rPr lang="en-US" sz="1400" b="1"/>
              <a:t>Obligasi</a:t>
            </a:r>
            <a:r>
              <a:rPr lang="en-US" sz="1400"/>
              <a:t>: surat utang jangka panjang dengan kupon dan nilai pari.</a:t>
            </a:r>
          </a:p>
          <a:p>
            <a:pPr lvl="0"/>
            <a:r>
              <a:rPr lang="en-US" sz="1400" b="1"/>
              <a:t>Kupon</a:t>
            </a:r>
            <a:r>
              <a:rPr lang="en-US" sz="1400"/>
              <a:t>: bunga tahunan/periodik yang diterima investor.</a:t>
            </a:r>
          </a:p>
          <a:p>
            <a:pPr lvl="0"/>
            <a:r>
              <a:rPr lang="en-US" sz="1400" b="1"/>
              <a:t>Nilai Pari (Face Value, F)</a:t>
            </a:r>
            <a:r>
              <a:rPr lang="en-US" sz="1400"/>
              <a:t>: jumlah pokok yang dibayar saat jatuh tempo.</a:t>
            </a:r>
          </a:p>
          <a:p>
            <a:pPr lvl="0"/>
            <a:r>
              <a:rPr lang="en-US" sz="1400" b="1"/>
              <a:t>Harga obligasi</a:t>
            </a:r>
            <a:r>
              <a:rPr lang="en-US" sz="1400"/>
              <a:t> = nilai kini semua arus kas.</a:t>
            </a:r>
          </a:p>
          <a:p>
            <a:r>
              <a:rPr lang="en-US" sz="1400" b="1"/>
              <a:t>Rumus:</a:t>
            </a:r>
          </a:p>
          <a:p>
            <a:endParaRPr lang="en-US" sz="1400" b="1"/>
          </a:p>
          <a:p>
            <a:r>
              <a:rPr lang="en-US" sz="1400" b="1"/>
              <a:t>Makna:</a:t>
            </a:r>
            <a:endParaRPr lang="en-US" sz="1400"/>
          </a:p>
          <a:p>
            <a:pPr lvl="0"/>
            <a:r>
              <a:rPr lang="en-US" sz="1400"/>
              <a:t>Harga obligasi sangat dipengaruhi suku bunga pasar.</a:t>
            </a:r>
          </a:p>
          <a:p>
            <a:r>
              <a:rPr lang="en-US" sz="1400"/>
              <a:t>Suku bunga naik → harga obligasi turun.</a:t>
            </a:r>
          </a:p>
          <a:p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AD5C0-2EBC-664C-27A2-8D016AA3B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374524"/>
            <a:ext cx="4788505" cy="1376695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05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99134-0D0D-8894-8EEF-A11889F0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Yield to Maturity (YTM) </a:t>
            </a:r>
            <a:br>
              <a:rPr lang="en-US" sz="3400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C7D1-79E8-0EC4-B59C-B007D89B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/>
              <a:t>YTM</a:t>
            </a:r>
            <a:r>
              <a:rPr lang="en-US" sz="2000"/>
              <a:t>: tingkat return yang diperoleh investor bila obligasi ditahan hingga jatuh tempo.</a:t>
            </a:r>
          </a:p>
          <a:p>
            <a:pPr lvl="0"/>
            <a:r>
              <a:rPr lang="en-US" sz="2000"/>
              <a:t>Mengasumsikan:</a:t>
            </a:r>
          </a:p>
          <a:p>
            <a:pPr lvl="1"/>
            <a:r>
              <a:rPr lang="en-US" sz="2000"/>
              <a:t>seluruh kupon dibayar tepat waktu,</a:t>
            </a:r>
          </a:p>
          <a:p>
            <a:pPr lvl="1"/>
            <a:r>
              <a:rPr lang="en-US" sz="2000"/>
              <a:t>kupon diinvestasikan kembali pada YTM yang sama,</a:t>
            </a:r>
          </a:p>
          <a:p>
            <a:pPr lvl="1"/>
            <a:r>
              <a:rPr lang="en-US" sz="2000"/>
              <a:t>obligasi tidak default.</a:t>
            </a:r>
          </a:p>
          <a:p>
            <a:r>
              <a:rPr lang="en-US" sz="2000"/>
              <a:t>YTM adalah </a:t>
            </a:r>
            <a:r>
              <a:rPr lang="en-US" sz="2000" b="1"/>
              <a:t>internal rate of return (IRR)</a:t>
            </a:r>
            <a:r>
              <a:rPr lang="en-US" sz="2000"/>
              <a:t> dari seluruh arus kas obligasi.</a:t>
            </a:r>
            <a:endParaRPr lang="en-US" sz="2000" b="1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81513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FDD7-D22D-B52E-6D01-39AA38AE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YTM-</a:t>
            </a:r>
            <a:r>
              <a:rPr lang="en-US" b="1" dirty="0" err="1"/>
              <a:t>Rumus</a:t>
            </a:r>
            <a:r>
              <a:rPr lang="en-US" b="1" dirty="0"/>
              <a:t> </a:t>
            </a:r>
            <a:r>
              <a:rPr lang="en-US" b="1" dirty="0" err="1"/>
              <a:t>pendekatan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C7882F-C1BB-85DC-5C49-663DC8C0DA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901909"/>
              </p:ext>
            </p:extLst>
          </p:nvPr>
        </p:nvGraphicFramePr>
        <p:xfrm>
          <a:off x="814944" y="1301637"/>
          <a:ext cx="6803572" cy="50292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401786">
                  <a:extLst>
                    <a:ext uri="{9D8B030D-6E8A-4147-A177-3AD203B41FA5}">
                      <a16:colId xmlns:a16="http://schemas.microsoft.com/office/drawing/2014/main" val="870627993"/>
                    </a:ext>
                  </a:extLst>
                </a:gridCol>
                <a:gridCol w="3401786">
                  <a:extLst>
                    <a:ext uri="{9D8B030D-6E8A-4147-A177-3AD203B41FA5}">
                      <a16:colId xmlns:a16="http://schemas.microsoft.com/office/drawing/2014/main" val="4074091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Keterangan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43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Kupon tahunan (coupon payment) yang diterima investor.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230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Nilai pari (face value / par value) obligasi, biasanya 1.000.000.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366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/>
                        <a:t>Harga obligasi saat ini (market price).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405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Sisa waktu hingga jatuh tempo (tahun).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02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(F − P)/n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Amortisasi diskonto atau premium per tahun. Jika P &lt; F → diskonto.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19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(F + P)/2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Harga rata-rata </a:t>
                      </a:r>
                      <a:r>
                        <a:rPr lang="en-US" dirty="0" err="1"/>
                        <a:t>obligasi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selama</a:t>
                      </a:r>
                      <a:r>
                        <a:rPr lang="en-US" dirty="0"/>
                        <a:t> masa </a:t>
                      </a:r>
                      <a:r>
                        <a:rPr lang="en-US" dirty="0" err="1"/>
                        <a:t>kepemilikan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Digunakan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sebagai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penyebut</a:t>
                      </a:r>
                      <a:r>
                        <a:rPr lang="en-US" dirty="0"/>
                        <a:t> return rata-rata.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3266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F6EDAF1-07A0-DDF8-24A2-02CCF30F6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605" y="2826943"/>
            <a:ext cx="4275341" cy="175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81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6A82-10A6-D1F3-EA2B-F8E24441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sz="2800" b="1" err="1"/>
              <a:t>Contoh</a:t>
            </a:r>
            <a:r>
              <a:rPr lang="en-US" sz="2800" b="1"/>
              <a:t> </a:t>
            </a:r>
            <a:r>
              <a:rPr lang="en-US" sz="2800" b="1" err="1"/>
              <a:t>Perhitungan</a:t>
            </a:r>
            <a:r>
              <a:rPr lang="en-US" sz="2800" b="1"/>
              <a:t> YTM </a:t>
            </a:r>
            <a:br>
              <a:rPr lang="en-US" sz="2800"/>
            </a:b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9407-B627-10E8-A3DC-8C5CAD1D7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b="1"/>
              <a:t>Diketahui:</a:t>
            </a:r>
            <a:endParaRPr lang="en-US" sz="2000"/>
          </a:p>
          <a:p>
            <a:pPr lvl="0"/>
            <a:r>
              <a:rPr lang="en-US" sz="2000"/>
              <a:t>Harga (P) = 950.000</a:t>
            </a:r>
          </a:p>
          <a:p>
            <a:pPr lvl="0"/>
            <a:r>
              <a:rPr lang="en-US" sz="2000"/>
              <a:t>Kupon (C) = 100.000</a:t>
            </a:r>
          </a:p>
          <a:p>
            <a:pPr lvl="0"/>
            <a:r>
              <a:rPr lang="en-US" sz="2000"/>
              <a:t>Nilai pari (F) = 1.000.000</a:t>
            </a:r>
          </a:p>
          <a:p>
            <a:pPr lvl="0"/>
            <a:r>
              <a:rPr lang="en-US" sz="2000"/>
              <a:t>Tenor = 5 tahun</a:t>
            </a:r>
          </a:p>
          <a:p>
            <a:r>
              <a:rPr lang="en-US" sz="2000"/>
              <a:t>Hitung YTM?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ECDCD-6CD5-DF41-1912-000E8252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2625314"/>
            <a:ext cx="6155141" cy="163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90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0D174-B57F-3EDD-D0BE-467CD81A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Yield Curve </a:t>
            </a:r>
            <a:br>
              <a:rPr lang="en-US" sz="3400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811DB-C03E-375B-4D5D-C97A21C53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/>
              <a:t>Yield curve</a:t>
            </a:r>
            <a:r>
              <a:rPr lang="en-US" sz="2000"/>
              <a:t>: grafik hubungan tenor obligasi dengan tingkat yield.</a:t>
            </a:r>
          </a:p>
          <a:p>
            <a:pPr lvl="0"/>
            <a:r>
              <a:rPr lang="en-US" sz="2000"/>
              <a:t>Digunakan untuk memprediksi kondisi makro ekonomi.</a:t>
            </a:r>
          </a:p>
          <a:p>
            <a:r>
              <a:rPr lang="en-US" sz="2000" b="1"/>
              <a:t>Bentuk:</a:t>
            </a:r>
            <a:endParaRPr lang="en-US" sz="2000"/>
          </a:p>
          <a:p>
            <a:pPr lvl="0"/>
            <a:r>
              <a:rPr lang="en-US" sz="2000" b="1"/>
              <a:t>Normal</a:t>
            </a:r>
            <a:r>
              <a:rPr lang="en-US" sz="2000"/>
              <a:t>: yield naik seiring tenor → ekonomi stabil.</a:t>
            </a:r>
          </a:p>
          <a:p>
            <a:pPr lvl="0"/>
            <a:r>
              <a:rPr lang="en-US" sz="2000" b="1"/>
              <a:t>Flat</a:t>
            </a:r>
            <a:r>
              <a:rPr lang="en-US" sz="2000"/>
              <a:t>: yield sama semua tenor → transisi ekonomi.</a:t>
            </a:r>
          </a:p>
          <a:p>
            <a:pPr lvl="0"/>
            <a:r>
              <a:rPr lang="en-US" sz="2000" b="1"/>
              <a:t>Inverted</a:t>
            </a:r>
            <a:r>
              <a:rPr lang="en-US" sz="2000"/>
              <a:t>: yield jangka pendek &gt; jangka panjang → sinyal resesi.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69995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8B0C2-BDD0-6326-3F71-B6F50FBE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Faktor Penentu Harga Saham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6A117-7FD2-FD5C-7B74-7C09A8F33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1. Kinerja Perusahaan</a:t>
            </a:r>
            <a:endParaRPr lang="en-US" sz="2000"/>
          </a:p>
          <a:p>
            <a:pPr lvl="0"/>
            <a:r>
              <a:rPr lang="en-US" sz="2000"/>
              <a:t>EPS, ROE, pertumbuhan laba, efisiensi biaya.</a:t>
            </a:r>
          </a:p>
          <a:p>
            <a:pPr marL="0" indent="0">
              <a:buNone/>
            </a:pPr>
            <a:r>
              <a:rPr lang="en-US" sz="2000" b="1"/>
              <a:t>2. Makroekonomi</a:t>
            </a:r>
            <a:endParaRPr lang="en-US" sz="2000"/>
          </a:p>
          <a:p>
            <a:pPr lvl="0"/>
            <a:r>
              <a:rPr lang="en-US" sz="2000"/>
              <a:t>Inflasi, suku bunga, nilai tukar, kondisi global.</a:t>
            </a:r>
          </a:p>
          <a:p>
            <a:pPr marL="0" indent="0">
              <a:buNone/>
            </a:pPr>
            <a:r>
              <a:rPr lang="en-US" sz="2000" b="1"/>
              <a:t>3. Sentimen Pasar</a:t>
            </a:r>
            <a:endParaRPr lang="en-US" sz="2000"/>
          </a:p>
          <a:p>
            <a:pPr lvl="0"/>
            <a:r>
              <a:rPr lang="en-US" sz="2000"/>
              <a:t>Berita, psikologi pasar, perilaku investor.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68310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5E71B-8251-627F-29EE-AAA00BFB0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Indeks Pasar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512EC8C-9384-F193-C780-F2F941A9E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4122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9711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A44F5-5AA6-78B7-EECB-3FD33CD6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Regulasi Pasar Modal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B3865B1-AD0C-D7EF-BA48-93D55A153E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50760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242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EAFB7-559B-1201-068D-2CD3D7BB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Insider Trading 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1D2B3A3B-C707-6CEE-E2D2-A5817CF694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93594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7631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46F4E-4A6A-E2AF-04D4-D67CDC8A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Likuiditas Pasar </a:t>
            </a:r>
            <a:br>
              <a:rPr lang="en-US" sz="3400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14D11-B514-1AD7-75F4-9AF59FC4F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lvl="0"/>
            <a:r>
              <a:rPr lang="en-US" sz="2000" b="1"/>
              <a:t>Likuiditas</a:t>
            </a:r>
            <a:r>
              <a:rPr lang="en-US" sz="2000"/>
              <a:t>: kemampuan menjual/beli aset dengan cepat tanpa mengubah harga wajar.</a:t>
            </a:r>
          </a:p>
          <a:p>
            <a:pPr lvl="0"/>
            <a:r>
              <a:rPr lang="en-US" sz="2000"/>
              <a:t>Instrumen likuid → spread kecil, volume tinggi.</a:t>
            </a:r>
          </a:p>
          <a:p>
            <a:r>
              <a:rPr lang="en-US" sz="2000" b="1"/>
              <a:t>Bid–Ask Spread:</a:t>
            </a:r>
            <a:endParaRPr lang="en-US" sz="2000"/>
          </a:p>
          <a:p>
            <a:pPr lvl="0"/>
            <a:r>
              <a:rPr lang="en-US" sz="2000" b="1"/>
              <a:t>Bid</a:t>
            </a:r>
            <a:r>
              <a:rPr lang="en-US" sz="2000"/>
              <a:t> = harga beli tertinggi</a:t>
            </a:r>
          </a:p>
          <a:p>
            <a:pPr lvl="0"/>
            <a:r>
              <a:rPr lang="en-US" sz="2000" b="1"/>
              <a:t>Ask</a:t>
            </a:r>
            <a:r>
              <a:rPr lang="en-US" sz="2000"/>
              <a:t> = harga jual terendah</a:t>
            </a:r>
          </a:p>
          <a:p>
            <a:r>
              <a:rPr lang="en-US" sz="2000"/>
              <a:t>Spread sempit → pasar efisien</a:t>
            </a:r>
          </a:p>
        </p:txBody>
      </p:sp>
    </p:spTree>
    <p:extLst>
      <p:ext uri="{BB962C8B-B14F-4D97-AF65-F5344CB8AC3E}">
        <p14:creationId xmlns:p14="http://schemas.microsoft.com/office/powerpoint/2010/main" val="3766795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9F77F-D01D-CEFA-556C-F60EE23C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Volatilitas 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9CA196-23A0-7CC6-FB15-B0043EB30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6817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9473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C229-A8B5-ADE1-837E-C85342C1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Order Types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2128C0-806D-8B52-43D7-9BCEA333E2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197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6DF53-E333-26C0-4212-DDDCDC71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Contoh Limit Order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96AB6D-3C36-B42F-C390-588E37C071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23795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3992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990F7-4D8B-716F-6B51-5CC59B53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 b="1">
                <a:solidFill>
                  <a:srgbClr val="FFFFFF"/>
                </a:solidFill>
              </a:rPr>
              <a:t>Market Microstructure </a:t>
            </a:r>
            <a:br>
              <a:rPr lang="en-US" sz="3400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AA3F68-0867-1DB7-11BF-EC202016C3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90379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4270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84F81-F275-85A7-88B0-D56E3668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Order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18FDA-2602-BD70-71E8-390B4BDF0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4343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Order Book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daftar </a:t>
            </a:r>
            <a:r>
              <a:rPr lang="en-US" sz="1400" dirty="0" err="1"/>
              <a:t>elektronik</a:t>
            </a:r>
            <a:r>
              <a:rPr lang="en-US" sz="1400" dirty="0"/>
              <a:t> yang </a:t>
            </a:r>
            <a:r>
              <a:rPr lang="en-US" sz="1400" dirty="0" err="1"/>
              <a:t>mencatat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i="1" dirty="0"/>
              <a:t>order </a:t>
            </a:r>
            <a:r>
              <a:rPr lang="en-US" sz="1400" i="1" dirty="0" err="1"/>
              <a:t>beli</a:t>
            </a:r>
            <a:r>
              <a:rPr lang="en-US" sz="1400" dirty="0"/>
              <a:t> (bid) dan </a:t>
            </a:r>
            <a:r>
              <a:rPr lang="en-US" sz="1400" i="1" dirty="0"/>
              <a:t>order </a:t>
            </a:r>
            <a:r>
              <a:rPr lang="en-US" sz="1400" i="1" dirty="0" err="1"/>
              <a:t>jual</a:t>
            </a:r>
            <a:r>
              <a:rPr lang="en-US" sz="1400" dirty="0"/>
              <a:t> (ask) yang </a:t>
            </a:r>
            <a:r>
              <a:rPr lang="en-US" sz="1400" dirty="0" err="1"/>
              <a:t>belum</a:t>
            </a:r>
            <a:r>
              <a:rPr lang="en-US" sz="1400" dirty="0"/>
              <a:t> </a:t>
            </a:r>
            <a:r>
              <a:rPr lang="en-US" sz="1400" dirty="0" err="1"/>
              <a:t>tereksekusi</a:t>
            </a:r>
            <a:r>
              <a:rPr lang="en-US" sz="1400" dirty="0"/>
              <a:t> di pasar.</a:t>
            </a:r>
          </a:p>
          <a:p>
            <a:r>
              <a:rPr lang="en-US" sz="1400" dirty="0"/>
              <a:t>Di </a:t>
            </a:r>
            <a:r>
              <a:rPr lang="en-US" sz="1400" dirty="0" err="1"/>
              <a:t>dalam</a:t>
            </a:r>
            <a:r>
              <a:rPr lang="en-US" sz="1400" dirty="0"/>
              <a:t> order book </a:t>
            </a:r>
            <a:r>
              <a:rPr lang="en-US" sz="1400" dirty="0" err="1"/>
              <a:t>terdapat</a:t>
            </a:r>
            <a:r>
              <a:rPr lang="en-US" sz="1400" dirty="0"/>
              <a:t>:</a:t>
            </a:r>
          </a:p>
          <a:p>
            <a:pPr marL="0" indent="0">
              <a:buNone/>
            </a:pPr>
            <a:r>
              <a:rPr lang="en-US" sz="1400" b="1" dirty="0"/>
              <a:t>➤ Bid (</a:t>
            </a:r>
            <a:r>
              <a:rPr lang="en-US" sz="1400" b="1" dirty="0" err="1"/>
              <a:t>permintaan</a:t>
            </a:r>
            <a:r>
              <a:rPr lang="en-US" sz="1400" b="1" dirty="0"/>
              <a:t>)</a:t>
            </a:r>
          </a:p>
          <a:p>
            <a:r>
              <a:rPr lang="en-US" sz="1400" dirty="0"/>
              <a:t>Daftar </a:t>
            </a:r>
            <a:r>
              <a:rPr lang="en-US" sz="1400" dirty="0" err="1"/>
              <a:t>harga</a:t>
            </a:r>
            <a:r>
              <a:rPr lang="en-US" sz="1400" dirty="0"/>
              <a:t> yang </a:t>
            </a:r>
            <a:r>
              <a:rPr lang="en-US" sz="1400" dirty="0" err="1"/>
              <a:t>bersedia</a:t>
            </a:r>
            <a:r>
              <a:rPr lang="en-US" sz="1400" dirty="0"/>
              <a:t> </a:t>
            </a:r>
            <a:r>
              <a:rPr lang="en-US" sz="1400" dirty="0" err="1"/>
              <a:t>dibayar</a:t>
            </a:r>
            <a:r>
              <a:rPr lang="en-US" sz="1400" dirty="0"/>
              <a:t> </a:t>
            </a:r>
            <a:r>
              <a:rPr lang="en-US" sz="1400" dirty="0" err="1"/>
              <a:t>pembeli</a:t>
            </a:r>
            <a:endParaRPr lang="en-US" sz="1400" dirty="0"/>
          </a:p>
          <a:p>
            <a:r>
              <a:rPr lang="en-US" sz="1400" dirty="0" err="1"/>
              <a:t>Urutan</a:t>
            </a:r>
            <a:r>
              <a:rPr lang="en-US" sz="1400" dirty="0"/>
              <a:t>: </a:t>
            </a:r>
            <a:r>
              <a:rPr lang="en-US" sz="1400" dirty="0" err="1"/>
              <a:t>harga</a:t>
            </a:r>
            <a:r>
              <a:rPr lang="en-US" sz="1400" dirty="0"/>
              <a:t> </a:t>
            </a:r>
            <a:r>
              <a:rPr lang="en-US" sz="1400" dirty="0" err="1"/>
              <a:t>tertinggi</a:t>
            </a:r>
            <a:r>
              <a:rPr lang="en-US" sz="1400" dirty="0"/>
              <a:t> di </a:t>
            </a:r>
            <a:r>
              <a:rPr lang="en-US" sz="1400" dirty="0" err="1"/>
              <a:t>atas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➤ Ask (</a:t>
            </a:r>
            <a:r>
              <a:rPr lang="en-US" sz="1400" b="1" dirty="0" err="1"/>
              <a:t>penawaran</a:t>
            </a:r>
            <a:r>
              <a:rPr lang="en-US" sz="1400" b="1" dirty="0"/>
              <a:t>)</a:t>
            </a:r>
          </a:p>
          <a:p>
            <a:r>
              <a:rPr lang="en-US" sz="1400" dirty="0"/>
              <a:t>Daftar </a:t>
            </a:r>
            <a:r>
              <a:rPr lang="en-US" sz="1400" dirty="0" err="1"/>
              <a:t>harga</a:t>
            </a:r>
            <a:r>
              <a:rPr lang="en-US" sz="1400" dirty="0"/>
              <a:t> yang </a:t>
            </a:r>
            <a:r>
              <a:rPr lang="en-US" sz="1400" dirty="0" err="1"/>
              <a:t>diminta</a:t>
            </a:r>
            <a:r>
              <a:rPr lang="en-US" sz="1400" dirty="0"/>
              <a:t> </a:t>
            </a:r>
            <a:r>
              <a:rPr lang="en-US" sz="1400" dirty="0" err="1"/>
              <a:t>penjual</a:t>
            </a:r>
            <a:endParaRPr lang="en-US" sz="1400" dirty="0"/>
          </a:p>
          <a:p>
            <a:r>
              <a:rPr lang="en-US" sz="1400" dirty="0" err="1"/>
              <a:t>Urutan</a:t>
            </a:r>
            <a:r>
              <a:rPr lang="en-US" sz="1400" dirty="0"/>
              <a:t>: </a:t>
            </a:r>
            <a:r>
              <a:rPr lang="en-US" sz="1400" dirty="0" err="1"/>
              <a:t>harga</a:t>
            </a:r>
            <a:r>
              <a:rPr lang="en-US" sz="1400" dirty="0"/>
              <a:t> </a:t>
            </a:r>
            <a:r>
              <a:rPr lang="en-US" sz="1400" dirty="0" err="1"/>
              <a:t>terendah</a:t>
            </a:r>
            <a:r>
              <a:rPr lang="en-US" sz="1400" dirty="0"/>
              <a:t> di </a:t>
            </a:r>
            <a:r>
              <a:rPr lang="en-US" sz="1400" dirty="0" err="1"/>
              <a:t>atas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 err="1"/>
              <a:t>Fungsi</a:t>
            </a:r>
            <a:r>
              <a:rPr lang="en-US" sz="1400" b="1" dirty="0"/>
              <a:t>:</a:t>
            </a:r>
            <a:endParaRPr lang="en-US" sz="1400" dirty="0"/>
          </a:p>
          <a:p>
            <a:r>
              <a:rPr lang="en-US" sz="1400" dirty="0" err="1"/>
              <a:t>Menunjukkan</a:t>
            </a:r>
            <a:r>
              <a:rPr lang="en-US" sz="1400" dirty="0"/>
              <a:t> </a:t>
            </a:r>
            <a:r>
              <a:rPr lang="en-US" sz="1400" dirty="0" err="1"/>
              <a:t>kedalaman</a:t>
            </a:r>
            <a:r>
              <a:rPr lang="en-US" sz="1400" dirty="0"/>
              <a:t> pasar (</a:t>
            </a:r>
            <a:r>
              <a:rPr lang="en-US" sz="1400" i="1" dirty="0"/>
              <a:t>market depth</a:t>
            </a:r>
            <a:r>
              <a:rPr lang="en-US" sz="1400" dirty="0"/>
              <a:t>)</a:t>
            </a:r>
          </a:p>
          <a:p>
            <a:r>
              <a:rPr lang="en-US" sz="1400" dirty="0" err="1"/>
              <a:t>Membantu</a:t>
            </a:r>
            <a:r>
              <a:rPr lang="en-US" sz="1400" dirty="0"/>
              <a:t> price discovery</a:t>
            </a:r>
          </a:p>
          <a:p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referensi</a:t>
            </a:r>
            <a:r>
              <a:rPr lang="en-US" sz="1400" dirty="0"/>
              <a:t> </a:t>
            </a:r>
            <a:r>
              <a:rPr lang="en-US" sz="1400" dirty="0" err="1"/>
              <a:t>likuiditas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4D4AD5-92FE-9CC2-5175-A256C9262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67345"/>
              </p:ext>
            </p:extLst>
          </p:nvPr>
        </p:nvGraphicFramePr>
        <p:xfrm>
          <a:off x="6719367" y="2736173"/>
          <a:ext cx="4788506" cy="2653400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20000"/>
                    <a:lumOff val="80000"/>
                  </a:schemeClr>
                </a:solidFill>
                <a:tableStyleId>{C4B1156A-380E-4F78-BDF5-A606A8083BF9}</a:tableStyleId>
              </a:tblPr>
              <a:tblGrid>
                <a:gridCol w="2394253">
                  <a:extLst>
                    <a:ext uri="{9D8B030D-6E8A-4147-A177-3AD203B41FA5}">
                      <a16:colId xmlns:a16="http://schemas.microsoft.com/office/drawing/2014/main" val="1415364051"/>
                    </a:ext>
                  </a:extLst>
                </a:gridCol>
                <a:gridCol w="2394253">
                  <a:extLst>
                    <a:ext uri="{9D8B030D-6E8A-4147-A177-3AD203B41FA5}">
                      <a16:colId xmlns:a16="http://schemas.microsoft.com/office/drawing/2014/main" val="631529699"/>
                    </a:ext>
                  </a:extLst>
                </a:gridCol>
              </a:tblGrid>
              <a:tr h="66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BID (BUY)</a:t>
                      </a:r>
                    </a:p>
                  </a:txBody>
                  <a:tcPr marL="145259" marR="145259" marT="72629" marB="1452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ASK (SELL)</a:t>
                      </a:r>
                    </a:p>
                  </a:txBody>
                  <a:tcPr marL="145259" marR="145259" marT="72629" marB="1452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330694"/>
                  </a:ext>
                </a:extLst>
              </a:tr>
              <a:tr h="66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1.000 (50 lot)</a:t>
                      </a:r>
                    </a:p>
                  </a:txBody>
                  <a:tcPr marL="145259" marR="145259" marT="72629" marB="1452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1.010 (40 lot)</a:t>
                      </a:r>
                    </a:p>
                  </a:txBody>
                  <a:tcPr marL="145259" marR="145259" marT="72629" marB="1452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5350"/>
                  </a:ext>
                </a:extLst>
              </a:tr>
              <a:tr h="66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990 (40 lot)</a:t>
                      </a:r>
                    </a:p>
                  </a:txBody>
                  <a:tcPr marL="145259" marR="145259" marT="72629" marB="1452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1.020 (60 lot)</a:t>
                      </a:r>
                    </a:p>
                  </a:txBody>
                  <a:tcPr marL="145259" marR="145259" marT="72629" marB="1452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041469"/>
                  </a:ext>
                </a:extLst>
              </a:tr>
              <a:tr h="663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980 (30 lot)</a:t>
                      </a:r>
                    </a:p>
                  </a:txBody>
                  <a:tcPr marL="145259" marR="145259" marT="72629" marB="1452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1.030 (20 lot)</a:t>
                      </a:r>
                    </a:p>
                  </a:txBody>
                  <a:tcPr marL="145259" marR="145259" marT="72629" marB="14525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75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908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7987E-3859-8DBD-455A-AE4A053A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Matching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8E4E-FA7C-0EDF-E74F-5D485FAC5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400" b="1"/>
              <a:t>Matching Engine</a:t>
            </a:r>
            <a:r>
              <a:rPr lang="en-US" sz="1400"/>
              <a:t> adalah sistem inti dalam bursa efek yang mencocokkan order beli dan jual secara otomatis.</a:t>
            </a:r>
          </a:p>
          <a:p>
            <a:r>
              <a:rPr lang="en-US" sz="1400" b="1"/>
              <a:t>Fungsi utama matching engine:</a:t>
            </a:r>
          </a:p>
          <a:p>
            <a:r>
              <a:rPr lang="en-US" sz="1400" b="1"/>
              <a:t>Menemukan kecocokan harga</a:t>
            </a:r>
            <a:r>
              <a:rPr lang="en-US" sz="1400"/>
              <a:t> antara bid dan ask</a:t>
            </a:r>
          </a:p>
          <a:p>
            <a:r>
              <a:rPr lang="en-US" sz="1400" b="1"/>
              <a:t>Menjalankan transaksi</a:t>
            </a:r>
            <a:r>
              <a:rPr lang="en-US" sz="1400"/>
              <a:t> sesuai prioritas:</a:t>
            </a:r>
          </a:p>
          <a:p>
            <a:pPr lvl="1"/>
            <a:r>
              <a:rPr lang="en-US" sz="1400" b="1"/>
              <a:t>Price priority:</a:t>
            </a:r>
            <a:r>
              <a:rPr lang="en-US" sz="1400"/>
              <a:t> harga terbaik dieksekusi lebih dulu</a:t>
            </a:r>
          </a:p>
          <a:p>
            <a:pPr lvl="1"/>
            <a:r>
              <a:rPr lang="en-US" sz="1400" b="1"/>
              <a:t>Time priority:</a:t>
            </a:r>
            <a:r>
              <a:rPr lang="en-US" sz="1400"/>
              <a:t> order yang lebih awal masuk mendapat prioritas</a:t>
            </a:r>
          </a:p>
          <a:p>
            <a:r>
              <a:rPr lang="en-US" sz="1400" b="1"/>
              <a:t>Sifat matching engine:</a:t>
            </a:r>
          </a:p>
          <a:p>
            <a:pPr lvl="1"/>
            <a:r>
              <a:rPr lang="en-US" sz="1400"/>
              <a:t>Real-time</a:t>
            </a:r>
          </a:p>
          <a:p>
            <a:pPr lvl="1"/>
            <a:r>
              <a:rPr lang="en-US" sz="1400"/>
              <a:t>Akurat</a:t>
            </a:r>
          </a:p>
          <a:p>
            <a:pPr lvl="1"/>
            <a:r>
              <a:rPr lang="en-US" sz="1400"/>
              <a:t>Berkecepatan tinggi</a:t>
            </a:r>
          </a:p>
          <a:p>
            <a:pPr lvl="1"/>
            <a:r>
              <a:rPr lang="en-US" sz="1400"/>
              <a:t>Tidak memihak</a:t>
            </a:r>
          </a:p>
          <a:p>
            <a:r>
              <a:rPr lang="en-US" sz="1400" b="1"/>
              <a:t>Contoh eksekusi:</a:t>
            </a:r>
            <a:endParaRPr lang="en-US" sz="1400"/>
          </a:p>
          <a:p>
            <a:r>
              <a:rPr lang="en-US" sz="1400"/>
              <a:t>Ada Buy Limit di 4.800</a:t>
            </a:r>
          </a:p>
          <a:p>
            <a:r>
              <a:rPr lang="en-US" sz="1400"/>
              <a:t>Ada Sell Limit di 4.800</a:t>
            </a:r>
            <a:br>
              <a:rPr lang="en-US" sz="1400"/>
            </a:br>
            <a:r>
              <a:rPr lang="en-US" sz="1400"/>
              <a:t>→ Matching engine langsung mengeksekusi transaksi.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395678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ACDD0-3D0B-C7D7-DB09-E61A91A0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Market Maker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89976-ECA5-6695-E680-11ECB7264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/>
              <a:t>Market Maker</a:t>
            </a:r>
            <a:r>
              <a:rPr lang="en-US" sz="1400"/>
              <a:t> adalah pihak (biasanya perusahaan sekuritas besar) yang </a:t>
            </a:r>
            <a:r>
              <a:rPr lang="en-US" sz="1400" i="1"/>
              <a:t>siap membeli dan menjual sekuritas secara terus-menerus</a:t>
            </a:r>
            <a:r>
              <a:rPr lang="en-US" sz="1400"/>
              <a:t> untuk memastikan pasar tetap likuid.</a:t>
            </a:r>
          </a:p>
          <a:p>
            <a:pPr marL="0" indent="0">
              <a:buNone/>
            </a:pPr>
            <a:r>
              <a:rPr lang="en-US" sz="1400" b="1"/>
              <a:t>Fungsi Market Maker:</a:t>
            </a:r>
          </a:p>
          <a:p>
            <a:r>
              <a:rPr lang="en-US" sz="1400"/>
              <a:t>Menyediakan </a:t>
            </a:r>
            <a:r>
              <a:rPr lang="en-US" sz="1400" b="1"/>
              <a:t>dua sisi harga</a:t>
            </a:r>
            <a:r>
              <a:rPr lang="en-US" sz="1400"/>
              <a:t> (bid dan ask) </a:t>
            </a:r>
            <a:r>
              <a:rPr lang="en-US" sz="1400" i="1"/>
              <a:t>setiap saat</a:t>
            </a:r>
            <a:endParaRPr lang="en-US" sz="1400"/>
          </a:p>
          <a:p>
            <a:r>
              <a:rPr lang="en-US" sz="1400"/>
              <a:t>Menjaga ketersediaan likuiditas</a:t>
            </a:r>
          </a:p>
          <a:p>
            <a:r>
              <a:rPr lang="en-US" sz="1400"/>
              <a:t>Mengurangi volatilitas harga yang ekstrem</a:t>
            </a:r>
          </a:p>
          <a:p>
            <a:r>
              <a:rPr lang="en-US" sz="1400"/>
              <a:t>Membantu kestabilan transaksi</a:t>
            </a:r>
          </a:p>
          <a:p>
            <a:pPr marL="0" indent="0">
              <a:buNone/>
            </a:pPr>
            <a:r>
              <a:rPr lang="en-US" sz="1400" b="1"/>
              <a:t>Cara kerja:</a:t>
            </a:r>
          </a:p>
          <a:p>
            <a:r>
              <a:rPr lang="en-US" sz="1400"/>
              <a:t>Market maker memberikan:</a:t>
            </a:r>
          </a:p>
          <a:p>
            <a:r>
              <a:rPr lang="en-US" sz="1400" b="1"/>
              <a:t>Bid price</a:t>
            </a:r>
            <a:r>
              <a:rPr lang="en-US" sz="1400"/>
              <a:t> → harga beli</a:t>
            </a:r>
          </a:p>
          <a:p>
            <a:r>
              <a:rPr lang="en-US" sz="1400" b="1"/>
              <a:t>Ask price</a:t>
            </a:r>
            <a:r>
              <a:rPr lang="en-US" sz="1400"/>
              <a:t> → harga jual</a:t>
            </a:r>
          </a:p>
          <a:p>
            <a:r>
              <a:rPr lang="en-US" sz="1400"/>
              <a:t>Selisihnya disebut </a:t>
            </a:r>
            <a:r>
              <a:rPr lang="en-US" sz="1400" b="1"/>
              <a:t>bid–ask spread</a:t>
            </a:r>
            <a:r>
              <a:rPr lang="en-US" sz="1400"/>
              <a:t>, yang merupakan </a:t>
            </a:r>
            <a:r>
              <a:rPr lang="en-US" sz="1400" i="1"/>
              <a:t>keuntungan market maker</a:t>
            </a:r>
            <a:r>
              <a:rPr lang="en-US" sz="1400"/>
              <a:t>.</a:t>
            </a:r>
          </a:p>
          <a:p>
            <a:pPr marL="0" indent="0">
              <a:buNone/>
            </a:pPr>
            <a:r>
              <a:rPr lang="en-US" sz="1400" b="1"/>
              <a:t>Contoh:</a:t>
            </a:r>
            <a:endParaRPr lang="en-US" sz="1400"/>
          </a:p>
          <a:p>
            <a:r>
              <a:rPr lang="en-US" sz="1400"/>
              <a:t>Market maker membeli di 1.000</a:t>
            </a:r>
          </a:p>
          <a:p>
            <a:r>
              <a:rPr lang="en-US" sz="1400"/>
              <a:t>Menjual di 1.010</a:t>
            </a:r>
            <a:br>
              <a:rPr lang="en-US" sz="1400"/>
            </a:br>
            <a:r>
              <a:rPr lang="en-US" sz="1400"/>
              <a:t>→ Spread = 10 = keuntungan.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982396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E7CEF-C3A9-8FBA-3A76-A60EDB6B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Liquidity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BCB10-0754-542E-0BB6-DA883B69D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 b="1"/>
              <a:t>Liquidity Provider (LP)</a:t>
            </a:r>
            <a:r>
              <a:rPr lang="en-US" sz="2000"/>
              <a:t> adalah pihak yang menyediakan likuiditas ke pasar dengan menempatkan banyak order beli &amp; jual.</a:t>
            </a:r>
          </a:p>
          <a:p>
            <a:r>
              <a:rPr lang="en-US" sz="2000" b="1"/>
              <a:t>Perbedaan dengan Market Maker:</a:t>
            </a:r>
          </a:p>
          <a:p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06C68C-BB5A-14F9-5732-AB6641C8B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509755"/>
              </p:ext>
            </p:extLst>
          </p:nvPr>
        </p:nvGraphicFramePr>
        <p:xfrm>
          <a:off x="7075967" y="2148013"/>
          <a:ext cx="4170531" cy="2593869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180628">
                  <a:extLst>
                    <a:ext uri="{9D8B030D-6E8A-4147-A177-3AD203B41FA5}">
                      <a16:colId xmlns:a16="http://schemas.microsoft.com/office/drawing/2014/main" val="3547044127"/>
                    </a:ext>
                  </a:extLst>
                </a:gridCol>
                <a:gridCol w="1989903">
                  <a:extLst>
                    <a:ext uri="{9D8B030D-6E8A-4147-A177-3AD203B41FA5}">
                      <a16:colId xmlns:a16="http://schemas.microsoft.com/office/drawing/2014/main" val="602261438"/>
                    </a:ext>
                  </a:extLst>
                </a:gridCol>
              </a:tblGrid>
              <a:tr h="335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Market Maker</a:t>
                      </a:r>
                    </a:p>
                  </a:txBody>
                  <a:tcPr marL="76290" marR="76290" marT="38145" marB="38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Liquidity Provider</a:t>
                      </a:r>
                    </a:p>
                  </a:txBody>
                  <a:tcPr marL="76290" marR="76290" marT="38145" marB="38145" anchor="ctr"/>
                </a:tc>
                <a:extLst>
                  <a:ext uri="{0D108BD9-81ED-4DB2-BD59-A6C34878D82A}">
                    <a16:rowId xmlns:a16="http://schemas.microsoft.com/office/drawing/2014/main" val="3450700934"/>
                  </a:ext>
                </a:extLst>
              </a:tr>
              <a:tr h="564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Ditunjuk resmi oleh bursa</a:t>
                      </a:r>
                    </a:p>
                  </a:txBody>
                  <a:tcPr marL="76290" marR="76290" marT="38145" marB="38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Tidak selalu ditunjuk</a:t>
                      </a:r>
                    </a:p>
                  </a:txBody>
                  <a:tcPr marL="76290" marR="76290" marT="38145" marB="38145" anchor="ctr"/>
                </a:tc>
                <a:extLst>
                  <a:ext uri="{0D108BD9-81ED-4DB2-BD59-A6C34878D82A}">
                    <a16:rowId xmlns:a16="http://schemas.microsoft.com/office/drawing/2014/main" val="2464765337"/>
                  </a:ext>
                </a:extLst>
              </a:tr>
              <a:tr h="564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Wajib aktif menyediakan likuiditas</a:t>
                      </a:r>
                    </a:p>
                  </a:txBody>
                  <a:tcPr marL="76290" marR="76290" marT="38145" marB="38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Sukarela / strategis</a:t>
                      </a:r>
                    </a:p>
                  </a:txBody>
                  <a:tcPr marL="76290" marR="76290" marT="38145" marB="38145" anchor="ctr"/>
                </a:tc>
                <a:extLst>
                  <a:ext uri="{0D108BD9-81ED-4DB2-BD59-A6C34878D82A}">
                    <a16:rowId xmlns:a16="http://schemas.microsoft.com/office/drawing/2014/main" val="3026539598"/>
                  </a:ext>
                </a:extLst>
              </a:tr>
              <a:tr h="564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Spread kecil dan stabil</a:t>
                      </a:r>
                    </a:p>
                  </a:txBody>
                  <a:tcPr marL="76290" marR="76290" marT="38145" marB="38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Spread bisa lebih fleksibel</a:t>
                      </a:r>
                    </a:p>
                  </a:txBody>
                  <a:tcPr marL="76290" marR="76290" marT="38145" marB="38145" anchor="ctr"/>
                </a:tc>
                <a:extLst>
                  <a:ext uri="{0D108BD9-81ED-4DB2-BD59-A6C34878D82A}">
                    <a16:rowId xmlns:a16="http://schemas.microsoft.com/office/drawing/2014/main" val="2418690685"/>
                  </a:ext>
                </a:extLst>
              </a:tr>
              <a:tr h="564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Berperan pada saham tertentu</a:t>
                      </a:r>
                    </a:p>
                  </a:txBody>
                  <a:tcPr marL="76290" marR="76290" marT="38145" marB="38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Bisa menyebar di banyak instrumen</a:t>
                      </a:r>
                    </a:p>
                  </a:txBody>
                  <a:tcPr marL="76290" marR="76290" marT="38145" marB="38145" anchor="ctr"/>
                </a:tc>
                <a:extLst>
                  <a:ext uri="{0D108BD9-81ED-4DB2-BD59-A6C34878D82A}">
                    <a16:rowId xmlns:a16="http://schemas.microsoft.com/office/drawing/2014/main" val="1265312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1872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686F5-21BC-3A93-7C04-C62DE585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D87F-6A41-8D75-7491-F285A4F3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Fungsi LP:</a:t>
            </a:r>
          </a:p>
          <a:p>
            <a:r>
              <a:rPr lang="en-US" sz="2000"/>
              <a:t>Mengurangi kekosongan order di order book</a:t>
            </a:r>
          </a:p>
          <a:p>
            <a:r>
              <a:rPr lang="en-US" sz="2000"/>
              <a:t>Memperdalam pasar (</a:t>
            </a:r>
            <a:r>
              <a:rPr lang="en-US" sz="2000" i="1"/>
              <a:t>market depth</a:t>
            </a:r>
            <a:r>
              <a:rPr lang="en-US" sz="2000"/>
              <a:t>)</a:t>
            </a:r>
          </a:p>
          <a:p>
            <a:r>
              <a:rPr lang="en-US" sz="2000"/>
              <a:t>Membantu eksekusi order investor besar</a:t>
            </a:r>
          </a:p>
          <a:p>
            <a:r>
              <a:rPr lang="en-US" sz="2000"/>
              <a:t>Stabilkan harga saat volatil</a:t>
            </a:r>
          </a:p>
          <a:p>
            <a:pPr marL="0" indent="0">
              <a:buNone/>
            </a:pPr>
            <a:r>
              <a:rPr lang="en-US" sz="2000" b="1"/>
              <a:t>Banyak LP adalah:</a:t>
            </a:r>
          </a:p>
          <a:p>
            <a:r>
              <a:rPr lang="en-US" sz="2000"/>
              <a:t>Bank investasi</a:t>
            </a:r>
          </a:p>
          <a:p>
            <a:r>
              <a:rPr lang="en-US" sz="2000"/>
              <a:t>Institusi keuangan besar</a:t>
            </a:r>
          </a:p>
          <a:p>
            <a:r>
              <a:rPr lang="en-US" sz="2000"/>
              <a:t>HFT firms (quant trading)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70469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5FA26-CB31-6DC6-A477-6027EB2F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53217D-A409-18B1-BDC3-D48D9476D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45509"/>
              </p:ext>
            </p:extLst>
          </p:nvPr>
        </p:nvGraphicFramePr>
        <p:xfrm>
          <a:off x="644056" y="2850661"/>
          <a:ext cx="10927830" cy="322004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30284">
                  <a:extLst>
                    <a:ext uri="{9D8B030D-6E8A-4147-A177-3AD203B41FA5}">
                      <a16:colId xmlns:a16="http://schemas.microsoft.com/office/drawing/2014/main" val="224006396"/>
                    </a:ext>
                  </a:extLst>
                </a:gridCol>
                <a:gridCol w="3659772">
                  <a:extLst>
                    <a:ext uri="{9D8B030D-6E8A-4147-A177-3AD203B41FA5}">
                      <a16:colId xmlns:a16="http://schemas.microsoft.com/office/drawing/2014/main" val="1230964426"/>
                    </a:ext>
                  </a:extLst>
                </a:gridCol>
                <a:gridCol w="3737774">
                  <a:extLst>
                    <a:ext uri="{9D8B030D-6E8A-4147-A177-3AD203B41FA5}">
                      <a16:colId xmlns:a16="http://schemas.microsoft.com/office/drawing/2014/main" val="2638812568"/>
                    </a:ext>
                  </a:extLst>
                </a:gridCol>
              </a:tblGrid>
              <a:tr h="416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Istilah</a:t>
                      </a:r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Fungsi Utama</a:t>
                      </a:r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Peran dalam Pasar</a:t>
                      </a:r>
                    </a:p>
                  </a:txBody>
                  <a:tcPr marL="94707" marR="94707" marT="47354" marB="47354" anchor="ctr"/>
                </a:tc>
                <a:extLst>
                  <a:ext uri="{0D108BD9-81ED-4DB2-BD59-A6C34878D82A}">
                    <a16:rowId xmlns:a16="http://schemas.microsoft.com/office/drawing/2014/main" val="1939694522"/>
                  </a:ext>
                </a:extLst>
              </a:tr>
              <a:tr h="7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Order Book</a:t>
                      </a:r>
                      <a:endParaRPr lang="en-US" sz="1900"/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900"/>
                        <a:t>Menampilkan semua order beli &amp; jual</a:t>
                      </a:r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Menunjukkan likuiditas dan depth</a:t>
                      </a:r>
                    </a:p>
                  </a:txBody>
                  <a:tcPr marL="94707" marR="94707" marT="47354" marB="47354" anchor="ctr"/>
                </a:tc>
                <a:extLst>
                  <a:ext uri="{0D108BD9-81ED-4DB2-BD59-A6C34878D82A}">
                    <a16:rowId xmlns:a16="http://schemas.microsoft.com/office/drawing/2014/main" val="3553429030"/>
                  </a:ext>
                </a:extLst>
              </a:tr>
              <a:tr h="7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Matching Engine</a:t>
                      </a:r>
                      <a:endParaRPr lang="en-US" sz="1900"/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Mencocokkan order secara otomatis</a:t>
                      </a:r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Menjalankan transaksi real-time</a:t>
                      </a:r>
                    </a:p>
                  </a:txBody>
                  <a:tcPr marL="94707" marR="94707" marT="47354" marB="47354" anchor="ctr"/>
                </a:tc>
                <a:extLst>
                  <a:ext uri="{0D108BD9-81ED-4DB2-BD59-A6C34878D82A}">
                    <a16:rowId xmlns:a16="http://schemas.microsoft.com/office/drawing/2014/main" val="526934956"/>
                  </a:ext>
                </a:extLst>
              </a:tr>
              <a:tr h="7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Market Maker</a:t>
                      </a:r>
                      <a:endParaRPr lang="en-US" sz="1900"/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900"/>
                        <a:t>Menyediakan dua sisi harga (bid &amp; ask)</a:t>
                      </a:r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900"/>
                        <a:t>Menjaga likuiditas dan kestabilan harga</a:t>
                      </a:r>
                    </a:p>
                  </a:txBody>
                  <a:tcPr marL="94707" marR="94707" marT="47354" marB="47354" anchor="ctr"/>
                </a:tc>
                <a:extLst>
                  <a:ext uri="{0D108BD9-81ED-4DB2-BD59-A6C34878D82A}">
                    <a16:rowId xmlns:a16="http://schemas.microsoft.com/office/drawing/2014/main" val="51204774"/>
                  </a:ext>
                </a:extLst>
              </a:tr>
              <a:tr h="70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Liquidity Provider</a:t>
                      </a:r>
                      <a:endParaRPr lang="en-US" sz="1900"/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Menyuntikkan order untuk memperdalam pasar</a:t>
                      </a:r>
                    </a:p>
                  </a:txBody>
                  <a:tcPr marL="94707" marR="94707" marT="47354" marB="473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Memperbesar depth dan menurunkan spread</a:t>
                      </a:r>
                    </a:p>
                  </a:txBody>
                  <a:tcPr marL="94707" marR="94707" marT="47354" marB="47354" anchor="ctr"/>
                </a:tc>
                <a:extLst>
                  <a:ext uri="{0D108BD9-81ED-4DB2-BD59-A6C34878D82A}">
                    <a16:rowId xmlns:a16="http://schemas.microsoft.com/office/drawing/2014/main" val="906750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9697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0475C-1B72-B804-B75E-E5A655C5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Teknologi dalam Perdagangan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538E51-AFDE-3CD1-5E65-F3A8E2101D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2265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866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26326-98C6-8E8B-0FF6-98BA0D83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Behavioral Bias 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7411ED-E4DB-356D-AB1C-2D14F4D61A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57999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3053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C820E-BBA3-5CBB-D1F1-3982F42C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700" b="1">
                <a:solidFill>
                  <a:srgbClr val="FFFFFF"/>
                </a:solidFill>
              </a:rPr>
              <a:t>Soal Komprehensif 1</a:t>
            </a:r>
            <a:br>
              <a:rPr lang="en-US" sz="3700">
                <a:solidFill>
                  <a:srgbClr val="FFFFFF"/>
                </a:solidFill>
              </a:rPr>
            </a:b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069F8-D29F-73D1-E98F-1175F6FE8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4758216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/>
              <a:t>Valuasi</a:t>
            </a:r>
            <a:r>
              <a:rPr lang="en-US" b="1" dirty="0"/>
              <a:t> </a:t>
            </a:r>
            <a:r>
              <a:rPr lang="en-US" b="1" dirty="0" err="1"/>
              <a:t>Obligasi</a:t>
            </a:r>
            <a:endParaRPr lang="en-US" dirty="0"/>
          </a:p>
          <a:p>
            <a:r>
              <a:rPr lang="en-US" dirty="0" err="1"/>
              <a:t>Obligasi</a:t>
            </a:r>
            <a:r>
              <a:rPr lang="en-US" dirty="0"/>
              <a:t> 5 </a:t>
            </a:r>
            <a:r>
              <a:rPr lang="en-US" dirty="0" err="1"/>
              <a:t>tahun</a:t>
            </a:r>
            <a:r>
              <a:rPr lang="en-US" dirty="0"/>
              <a:t>, </a:t>
            </a:r>
            <a:r>
              <a:rPr lang="en-US" dirty="0" err="1"/>
              <a:t>kupon</a:t>
            </a:r>
            <a:r>
              <a:rPr lang="en-US" dirty="0"/>
              <a:t> 8%, YTM 10%</a:t>
            </a:r>
          </a:p>
          <a:p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obligasi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95235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BC3623-B4DC-95BE-8722-FBE916926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070" y="457200"/>
            <a:ext cx="1105786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1879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888ADC-9DEB-BE47-7D3E-9B5335D0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 b="1">
                <a:solidFill>
                  <a:srgbClr val="FFFFFF"/>
                </a:solidFill>
              </a:rPr>
              <a:t>Soal Komprehensif 2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2353E9-C9D4-D158-AB37-4A1FD876CD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5721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0940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7D413-BA9D-A8D0-41CD-BB5169759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dirty="0" err="1"/>
              <a:t>Jawaban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komprehensif</a:t>
            </a:r>
            <a:r>
              <a:rPr lang="en-US" dirty="0"/>
              <a:t>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67A678-E0E3-11E1-A137-77A114F3D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1232610"/>
            <a:ext cx="9875259" cy="11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389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2BBE-01BC-0B40-400C-D75D60B6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Soal Komprehensif 3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0D94-78F4-1351-944B-D07865AA2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92396"/>
          </a:xfrm>
        </p:spPr>
        <p:txBody>
          <a:bodyPr/>
          <a:lstStyle/>
          <a:p>
            <a:r>
              <a:rPr lang="en-US"/>
              <a:t>Sebuah investor memiliki portofolio yang terdiri dari </a:t>
            </a:r>
            <a:r>
              <a:rPr lang="en-US" b="1"/>
              <a:t>3 saham</a:t>
            </a:r>
            <a:r>
              <a:rPr lang="en-US"/>
              <a:t>: A, B, dan C.</a:t>
            </a:r>
          </a:p>
          <a:p>
            <a:pPr marL="0" indent="0">
              <a:buNone/>
            </a:pPr>
            <a:r>
              <a:rPr lang="pt-BR" b="1"/>
              <a:t>DATA 1: Return Saham Individu</a:t>
            </a:r>
          </a:p>
          <a:p>
            <a:r>
              <a:rPr lang="pt-BR"/>
              <a:t>Return saham selama 1 tahun: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31EB14-ECF9-5C44-4834-83B853EFB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638657"/>
              </p:ext>
            </p:extLst>
          </p:nvPr>
        </p:nvGraphicFramePr>
        <p:xfrm>
          <a:off x="1094874" y="4296469"/>
          <a:ext cx="10515600" cy="14630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273319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60034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01750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59729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Harga Awal (P₀)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Harga Akhir (P₁)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Dividen (D)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717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228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5.500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672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539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3026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FC378-2A2F-1E8F-D0D8-234CB1BB1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DATA 2: Bobot &amp; Beta Saham dalam Portofolio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Risk free rate 5%</a:t>
            </a:r>
          </a:p>
          <a:p>
            <a:r>
              <a:rPr lang="pt-BR" dirty="0"/>
              <a:t>Market return 12%</a:t>
            </a:r>
          </a:p>
          <a:p>
            <a:pPr marL="0" indent="0">
              <a:buNone/>
            </a:pPr>
            <a:r>
              <a:rPr lang="en-US" dirty="0" err="1"/>
              <a:t>Hitung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Return </a:t>
            </a:r>
            <a:r>
              <a:rPr lang="en-US" b="1" dirty="0" err="1"/>
              <a:t>saham</a:t>
            </a:r>
            <a:r>
              <a:rPr lang="en-US" b="1" dirty="0"/>
              <a:t> A, B dan C</a:t>
            </a:r>
          </a:p>
          <a:p>
            <a:pPr lvl="1"/>
            <a:r>
              <a:rPr lang="en-US" b="1" dirty="0"/>
              <a:t>Expected return </a:t>
            </a:r>
            <a:r>
              <a:rPr lang="en-US" b="1" dirty="0" err="1"/>
              <a:t>Portofolio</a:t>
            </a:r>
            <a:endParaRPr lang="en-US" b="1" dirty="0"/>
          </a:p>
          <a:p>
            <a:pPr lvl="1"/>
            <a:r>
              <a:rPr lang="en-US" b="1" dirty="0"/>
              <a:t>Beta portfolio</a:t>
            </a:r>
          </a:p>
          <a:p>
            <a:pPr lvl="1"/>
            <a:r>
              <a:rPr lang="en-US" b="1" dirty="0"/>
              <a:t>Expected return portfolio </a:t>
            </a:r>
            <a:r>
              <a:rPr lang="en-US" b="1" dirty="0" err="1"/>
              <a:t>menggunakan</a:t>
            </a:r>
            <a:r>
              <a:rPr lang="en-US" b="1" dirty="0"/>
              <a:t> CAPM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957FB3-CADB-C89E-3D18-EFCBEB243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145147"/>
              </p:ext>
            </p:extLst>
          </p:nvPr>
        </p:nvGraphicFramePr>
        <p:xfrm>
          <a:off x="1132114" y="1385972"/>
          <a:ext cx="9916887" cy="14630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305629">
                  <a:extLst>
                    <a:ext uri="{9D8B030D-6E8A-4147-A177-3AD203B41FA5}">
                      <a16:colId xmlns:a16="http://schemas.microsoft.com/office/drawing/2014/main" val="4249227347"/>
                    </a:ext>
                  </a:extLst>
                </a:gridCol>
                <a:gridCol w="3305629">
                  <a:extLst>
                    <a:ext uri="{9D8B030D-6E8A-4147-A177-3AD203B41FA5}">
                      <a16:colId xmlns:a16="http://schemas.microsoft.com/office/drawing/2014/main" val="3964247592"/>
                    </a:ext>
                  </a:extLst>
                </a:gridCol>
                <a:gridCol w="3305629">
                  <a:extLst>
                    <a:ext uri="{9D8B030D-6E8A-4147-A177-3AD203B41FA5}">
                      <a16:colId xmlns:a16="http://schemas.microsoft.com/office/drawing/2014/main" val="3361059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Bobot</a:t>
                      </a:r>
                      <a:r>
                        <a:rPr lang="en-US" dirty="0"/>
                        <a:t> (Wᵢ)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Beta (</a:t>
                      </a:r>
                      <a:r>
                        <a:rPr lang="el-GR"/>
                        <a:t>β</a:t>
                      </a:r>
                      <a:r>
                        <a:rPr lang="en-US"/>
                        <a:t>ᵢ)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1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852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0,90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65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0,75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432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862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13DD3-DF7E-91C7-8182-FC4D04CD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Jawaban soal komprehensif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DD1CE2-359D-F246-8E88-C5B7FCCCD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342565"/>
            <a:ext cx="7225748" cy="417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73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89E9CA-A050-911A-C997-CBAF28A92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477" y="1933270"/>
            <a:ext cx="9951041" cy="298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119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25265D-98A9-1C6B-5FFC-7EB6ECB0B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477" y="2057659"/>
            <a:ext cx="9951041" cy="273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897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2F3A078-F613-8632-0730-4EA98BD95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477" y="1423280"/>
            <a:ext cx="9951041" cy="400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56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2543</Words>
  <Application>Microsoft Office PowerPoint</Application>
  <PresentationFormat>Widescreen</PresentationFormat>
  <Paragraphs>448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Cambria Math</vt:lpstr>
      <vt:lpstr>Office Theme</vt:lpstr>
      <vt:lpstr>Bab 19 Pasar Modal</vt:lpstr>
      <vt:lpstr>Pasar Modal</vt:lpstr>
      <vt:lpstr>Fungsi Utama Pasar Modal </vt:lpstr>
      <vt:lpstr>Money Market vs Capital Market </vt:lpstr>
      <vt:lpstr>Instrumen Pasar Modal </vt:lpstr>
      <vt:lpstr>Pasar Perdana (Primary Market) </vt:lpstr>
      <vt:lpstr>Pasar Sekunder (Secondary Market) </vt:lpstr>
      <vt:lpstr>Mekanisme Price Discovery </vt:lpstr>
      <vt:lpstr>Proses IPO </vt:lpstr>
      <vt:lpstr>Underwriting</vt:lpstr>
      <vt:lpstr>Efisiensi Pasar (EMH) </vt:lpstr>
      <vt:lpstr>Risiko Sistematis &amp; Tidak Sistematis  </vt:lpstr>
      <vt:lpstr>Return Saham  </vt:lpstr>
      <vt:lpstr>Contoh Return Saham </vt:lpstr>
      <vt:lpstr>Expected Return Portofolio (E(Rₚ))</vt:lpstr>
      <vt:lpstr>PowerPoint Presentation</vt:lpstr>
      <vt:lpstr>Latihan soal:</vt:lpstr>
      <vt:lpstr>Beta (β)  </vt:lpstr>
      <vt:lpstr>CAPM  </vt:lpstr>
      <vt:lpstr>Contoh Soal CAPM</vt:lpstr>
      <vt:lpstr>CAPM Portofolio dan Beta Portofolio</vt:lpstr>
      <vt:lpstr>Soal CAPM Portofolio</vt:lpstr>
      <vt:lpstr>Jawaban</vt:lpstr>
      <vt:lpstr>Risiko: Varians &amp; SD  </vt:lpstr>
      <vt:lpstr>Contoh Perhitungan Risiko  </vt:lpstr>
      <vt:lpstr>Obligasi &amp; Harga Dasar  </vt:lpstr>
      <vt:lpstr>Yield to Maturity (YTM)  </vt:lpstr>
      <vt:lpstr>YTM-Rumus pendekatan: </vt:lpstr>
      <vt:lpstr>Contoh Perhitungan YTM  </vt:lpstr>
      <vt:lpstr>Yield Curve  </vt:lpstr>
      <vt:lpstr>Faktor Penentu Harga Saham </vt:lpstr>
      <vt:lpstr>Indeks Pasar </vt:lpstr>
      <vt:lpstr>Regulasi Pasar Modal </vt:lpstr>
      <vt:lpstr>Insider Trading  </vt:lpstr>
      <vt:lpstr>Likuiditas Pasar  </vt:lpstr>
      <vt:lpstr>Volatilitas  </vt:lpstr>
      <vt:lpstr>Order Types  </vt:lpstr>
      <vt:lpstr>Contoh Limit Order </vt:lpstr>
      <vt:lpstr>Market Microstructure  </vt:lpstr>
      <vt:lpstr>Order Book</vt:lpstr>
      <vt:lpstr>Matching Engine</vt:lpstr>
      <vt:lpstr>Market Maker </vt:lpstr>
      <vt:lpstr>Liquidity Provider</vt:lpstr>
      <vt:lpstr>PowerPoint Presentation</vt:lpstr>
      <vt:lpstr>PowerPoint Presentation</vt:lpstr>
      <vt:lpstr>Teknologi dalam Perdagangan </vt:lpstr>
      <vt:lpstr>Behavioral Bias  </vt:lpstr>
      <vt:lpstr>Soal Komprehensif 1 </vt:lpstr>
      <vt:lpstr>PowerPoint Presentation</vt:lpstr>
      <vt:lpstr>Soal Komprehensif 2</vt:lpstr>
      <vt:lpstr>Jawaban soal komprehensif 2</vt:lpstr>
      <vt:lpstr>Soal Komprehensif 3</vt:lpstr>
      <vt:lpstr>PowerPoint Presentation</vt:lpstr>
      <vt:lpstr>Jawaban soal komprehensif 3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Astiwi Indriani</dc:creator>
  <cp:lastModifiedBy>Astiwi Indriani</cp:lastModifiedBy>
  <cp:revision>5</cp:revision>
  <dcterms:created xsi:type="dcterms:W3CDTF">2025-11-16T17:32:53Z</dcterms:created>
  <dcterms:modified xsi:type="dcterms:W3CDTF">2025-11-20T07:30:21Z</dcterms:modified>
</cp:coreProperties>
</file>